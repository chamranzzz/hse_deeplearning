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1675"/>
  <p:notesSz cx="6858000" cy="12191675"/>
  <p:embeddedFontLst>
    <p:embeddedFont>
      <p:font typeface="Robo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A3EE2A9-A7BA-486E-AFEB-B2AEC9837C07}">
  <a:tblStyle styleId="{8A3EE2A9-A7BA-486E-AFEB-B2AEC9837C0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Roboto-bold.fntdata"/><Relationship Id="rId10" Type="http://schemas.openxmlformats.org/officeDocument/2006/relationships/slide" Target="slides/slide5.xml"/><Relationship Id="rId21" Type="http://schemas.openxmlformats.org/officeDocument/2006/relationships/font" Target="fonts/Roboto-regular.fntdata"/><Relationship Id="rId13" Type="http://schemas.openxmlformats.org/officeDocument/2006/relationships/slide" Target="slides/slide8.xml"/><Relationship Id="rId24" Type="http://schemas.openxmlformats.org/officeDocument/2006/relationships/font" Target="fonts/Robot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Вступление. Напомнить формат: сегодня — теория backprop + PyTorch-инструменты; на семинаре уже практиковали ручной градиентный спуск на PyTorch, сегодня — как это устроено внутри, на сетях из многих слоёв, и как это делать 'по-настоящему' с nn.Module и optim.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Быстро пройтись по плану, 1-1.5 минуты.</a:t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768901cf9af0f337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768901cf9af0f337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h768901cf9af0f337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h768901cf9af0f337_1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h768901cf9af0f337_1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h768901cf9af0f337_1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768901cf9af0f337_1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h768901cf9af0f337_1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h768901cf9af0f337_1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35e016dd7dc3f2a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h35e016dd7dc3f2a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h35e016dd7dc3f2a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35e016dd7dc3f2a6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h35e016dd7dc3f2a6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h35e016dd7dc3f2a6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реалистичную многослойную сеть и явно указать на дальний от выхода вес — как понять его влияние на loss? Мотивационный вопрос ко всей лекции.</a:t>
            </a:r>
            <a:endParaRPr/>
          </a:p>
        </p:txBody>
      </p:sp>
      <p:sp>
        <p:nvSpPr>
          <p:cNvPr id="133" name="Google Shape;13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h35e016dd7dc3f2a6_0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h35e016dd7dc3f2a6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реалистичную многослойную сеть и явно указать на дальний от выхода вес — как понять его влияние на loss? Мотивационный вопрос ко всей лекции.</a:t>
            </a:r>
            <a:endParaRPr/>
          </a:p>
        </p:txBody>
      </p:sp>
      <p:sp>
        <p:nvSpPr>
          <p:cNvPr id="190" name="Google Shape;190;h35e016dd7dc3f2a6_0_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h35e016dd7dc3f2a6_0_1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h35e016dd7dc3f2a6_0_1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реалистичную многослойную сеть и явно указать на дальний от выхода вес — как понять его влияние на loss? Мотивационный вопрос ко всей лекции.</a:t>
            </a:r>
            <a:endParaRPr/>
          </a:p>
        </p:txBody>
      </p:sp>
      <p:sp>
        <p:nvSpPr>
          <p:cNvPr id="242" name="Google Shape;242;h35e016dd7dc3f2a6_0_1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h35e016dd7dc3f2a6_0_2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h35e016dd7dc3f2a6_0_2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реалистичную многослойную сеть и явно указать на дальний от выхода вес — как понять его влияние на loss? Мотивационный вопрос ко всей лекции.</a:t>
            </a:r>
            <a:endParaRPr/>
          </a:p>
        </p:txBody>
      </p:sp>
      <p:sp>
        <p:nvSpPr>
          <p:cNvPr id="258" name="Google Shape;258;h35e016dd7dc3f2a6_0_2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h35e016dd7dc3f2a6_0_2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h35e016dd7dc3f2a6_0_2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реалистичную многослойную сеть и явно указать на дальний от выхода вес — как понять его влияние на loss? Мотивационный вопрос ко всей лекции.</a:t>
            </a:r>
            <a:endParaRPr/>
          </a:p>
        </p:txBody>
      </p:sp>
      <p:sp>
        <p:nvSpPr>
          <p:cNvPr id="273" name="Google Shape;273;h35e016dd7dc3f2a6_0_2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h35e016dd7dc3f2a6_0_2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h35e016dd7dc3f2a6_0_2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реалистичную многослойную сеть и явно указать на дальний от выхода вес — как понять его влияние на loss? Мотивационный вопрос ко всей лекции.</a:t>
            </a:r>
            <a:endParaRPr/>
          </a:p>
        </p:txBody>
      </p:sp>
      <p:sp>
        <p:nvSpPr>
          <p:cNvPr id="287" name="Google Shape;287;h35e016dd7dc3f2a6_0_2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h35e016dd7dc3f2a6_0_2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h35e016dd7dc3f2a6_0_2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реалистичную многослойную сеть и явно указать на дальний от выхода вес — как понять его влияние на loss? Мотивационный вопрос ко всей лекции.</a:t>
            </a:r>
            <a:endParaRPr/>
          </a:p>
        </p:txBody>
      </p:sp>
      <p:sp>
        <p:nvSpPr>
          <p:cNvPr id="299" name="Google Shape;299;h35e016dd7dc3f2a6_0_2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h35e016dd7dc3f2a6_0_3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h35e016dd7dc3f2a6_0_3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реалистичную многослойную сеть и явно указать на дальний от выхода вес — как понять его влияние на loss? Мотивационный вопрос ко всей лекции.</a:t>
            </a:r>
            <a:endParaRPr/>
          </a:p>
        </p:txBody>
      </p:sp>
      <p:sp>
        <p:nvSpPr>
          <p:cNvPr id="354" name="Google Shape;354;h35e016dd7dc3f2a6_0_3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21.png"/><Relationship Id="rId6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4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9601200" y="1920240"/>
            <a:ext cx="1188720" cy="502920"/>
          </a:xfrm>
          <a:prstGeom prst="straightConnector1">
            <a:avLst/>
          </a:prstGeom>
          <a:noFill/>
          <a:ln cap="flat" cmpd="sng" w="15875">
            <a:solidFill>
              <a:srgbClr val="2A3B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" name="Google Shape;17;p3"/>
          <p:cNvCxnSpPr/>
          <p:nvPr/>
        </p:nvCxnSpPr>
        <p:spPr>
          <a:xfrm>
            <a:off x="9601200" y="1920240"/>
            <a:ext cx="1188720" cy="1463040"/>
          </a:xfrm>
          <a:prstGeom prst="straightConnector1">
            <a:avLst/>
          </a:prstGeom>
          <a:noFill/>
          <a:ln cap="flat" cmpd="sng" w="15875">
            <a:solidFill>
              <a:srgbClr val="2A3B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 flipH="1" rot="10800000">
            <a:off x="9601200" y="2423160"/>
            <a:ext cx="1188720" cy="457200"/>
          </a:xfrm>
          <a:prstGeom prst="straightConnector1">
            <a:avLst/>
          </a:prstGeom>
          <a:noFill/>
          <a:ln cap="flat" cmpd="sng" w="15875">
            <a:solidFill>
              <a:srgbClr val="2A3B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3"/>
          <p:cNvCxnSpPr/>
          <p:nvPr/>
        </p:nvCxnSpPr>
        <p:spPr>
          <a:xfrm>
            <a:off x="9601200" y="2880360"/>
            <a:ext cx="1188720" cy="502920"/>
          </a:xfrm>
          <a:prstGeom prst="straightConnector1">
            <a:avLst/>
          </a:prstGeom>
          <a:noFill/>
          <a:ln cap="flat" cmpd="sng" w="15875">
            <a:solidFill>
              <a:srgbClr val="2A3B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p3"/>
          <p:cNvCxnSpPr/>
          <p:nvPr/>
        </p:nvCxnSpPr>
        <p:spPr>
          <a:xfrm flipH="1" rot="10800000">
            <a:off x="9601200" y="2423160"/>
            <a:ext cx="1188720" cy="1417320"/>
          </a:xfrm>
          <a:prstGeom prst="straightConnector1">
            <a:avLst/>
          </a:prstGeom>
          <a:noFill/>
          <a:ln cap="flat" cmpd="sng" w="15875">
            <a:solidFill>
              <a:srgbClr val="2A3B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p3"/>
          <p:cNvCxnSpPr/>
          <p:nvPr/>
        </p:nvCxnSpPr>
        <p:spPr>
          <a:xfrm flipH="1" rot="10800000">
            <a:off x="9601200" y="3383280"/>
            <a:ext cx="1188720" cy="457200"/>
          </a:xfrm>
          <a:prstGeom prst="straightConnector1">
            <a:avLst/>
          </a:prstGeom>
          <a:noFill/>
          <a:ln cap="flat" cmpd="sng" w="15875">
            <a:solidFill>
              <a:srgbClr val="2A3B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3"/>
          <p:cNvCxnSpPr/>
          <p:nvPr/>
        </p:nvCxnSpPr>
        <p:spPr>
          <a:xfrm>
            <a:off x="10789920" y="2423160"/>
            <a:ext cx="731520" cy="502920"/>
          </a:xfrm>
          <a:prstGeom prst="straightConnector1">
            <a:avLst/>
          </a:prstGeom>
          <a:noFill/>
          <a:ln cap="flat" cmpd="sng" w="15875">
            <a:solidFill>
              <a:srgbClr val="2A3B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3"/>
          <p:cNvCxnSpPr/>
          <p:nvPr/>
        </p:nvCxnSpPr>
        <p:spPr>
          <a:xfrm flipH="1" rot="10800000">
            <a:off x="10789920" y="2926080"/>
            <a:ext cx="731520" cy="457200"/>
          </a:xfrm>
          <a:prstGeom prst="straightConnector1">
            <a:avLst/>
          </a:prstGeom>
          <a:noFill/>
          <a:ln cap="flat" cmpd="sng" w="15875">
            <a:solidFill>
              <a:srgbClr val="2A3B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3"/>
          <p:cNvSpPr/>
          <p:nvPr/>
        </p:nvSpPr>
        <p:spPr>
          <a:xfrm>
            <a:off x="9430488" y="1783065"/>
            <a:ext cx="274200" cy="274200"/>
          </a:xfrm>
          <a:prstGeom prst="ellipse">
            <a:avLst/>
          </a:prstGeom>
          <a:solidFill>
            <a:srgbClr val="24306B"/>
          </a:solidFill>
          <a:ln cap="flat" cmpd="sng" w="15875">
            <a:solidFill>
              <a:srgbClr val="3A4B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9430550" y="2766060"/>
            <a:ext cx="274200" cy="274200"/>
          </a:xfrm>
          <a:prstGeom prst="ellipse">
            <a:avLst/>
          </a:prstGeom>
          <a:solidFill>
            <a:srgbClr val="24306B"/>
          </a:solidFill>
          <a:ln cap="flat" cmpd="sng" w="15875">
            <a:solidFill>
              <a:srgbClr val="3A4B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9430438" y="3749030"/>
            <a:ext cx="274200" cy="274200"/>
          </a:xfrm>
          <a:prstGeom prst="ellipse">
            <a:avLst/>
          </a:prstGeom>
          <a:solidFill>
            <a:srgbClr val="24306B"/>
          </a:solidFill>
          <a:ln cap="flat" cmpd="sng" w="15875">
            <a:solidFill>
              <a:srgbClr val="3A4B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10789920" y="2337835"/>
            <a:ext cx="274200" cy="274200"/>
          </a:xfrm>
          <a:prstGeom prst="ellipse">
            <a:avLst/>
          </a:prstGeom>
          <a:solidFill>
            <a:srgbClr val="24306B"/>
          </a:solidFill>
          <a:ln cap="flat" cmpd="sng" w="15875">
            <a:solidFill>
              <a:srgbClr val="3A4B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10728645" y="3244630"/>
            <a:ext cx="274200" cy="274200"/>
          </a:xfrm>
          <a:prstGeom prst="ellipse">
            <a:avLst/>
          </a:prstGeom>
          <a:solidFill>
            <a:srgbClr val="24306B"/>
          </a:solidFill>
          <a:ln cap="flat" cmpd="sng" w="15875">
            <a:solidFill>
              <a:srgbClr val="3A4B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11521440" y="2926080"/>
            <a:ext cx="274320" cy="274320"/>
          </a:xfrm>
          <a:prstGeom prst="ellipse">
            <a:avLst/>
          </a:prstGeom>
          <a:solidFill>
            <a:srgbClr val="24306B"/>
          </a:solidFill>
          <a:ln cap="flat" cmpd="sng" w="15875">
            <a:solidFill>
              <a:srgbClr val="3A4B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 txBox="1"/>
          <p:nvPr/>
        </p:nvSpPr>
        <p:spPr>
          <a:xfrm>
            <a:off x="548640" y="137160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КУРС «НЕЙРОННЫЕ СЕТИ»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 txBox="1"/>
          <p:nvPr/>
        </p:nvSpPr>
        <p:spPr>
          <a:xfrm>
            <a:off x="548649" y="1920250"/>
            <a:ext cx="87411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Тема 2. </a:t>
            </a:r>
            <a:r>
              <a:rPr b="1" lang="en-US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Оптимизаторы и 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" name="Google Shape;32;p3"/>
          <p:cNvCxnSpPr/>
          <p:nvPr/>
        </p:nvCxnSpPr>
        <p:spPr>
          <a:xfrm>
            <a:off x="548640" y="4800600"/>
            <a:ext cx="2011680" cy="0"/>
          </a:xfrm>
          <a:prstGeom prst="straightConnector1">
            <a:avLst/>
          </a:prstGeom>
          <a:noFill/>
          <a:ln cap="flat" cmpd="sng" w="31750">
            <a:solidFill>
              <a:srgbClr val="F2A9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3"/>
          <p:cNvSpPr txBox="1"/>
          <p:nvPr/>
        </p:nvSpPr>
        <p:spPr>
          <a:xfrm>
            <a:off x="548640" y="55321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Лекция </a:t>
            </a:r>
            <a:r>
              <a:rPr lang="en-US" sz="1300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13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 · Модуль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 txBox="1"/>
          <p:nvPr/>
        </p:nvSpPr>
        <p:spPr>
          <a:xfrm>
            <a:off x="11002975" y="6382512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1/25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 txBox="1"/>
          <p:nvPr/>
        </p:nvSpPr>
        <p:spPr>
          <a:xfrm>
            <a:off x="548640" y="292608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ПЛАН ЛЕКЦИИ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 txBox="1"/>
          <p:nvPr/>
        </p:nvSpPr>
        <p:spPr>
          <a:xfrm>
            <a:off x="548640" y="621792"/>
            <a:ext cx="11094415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О чём сегодня говорим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 txBox="1"/>
          <p:nvPr/>
        </p:nvSpPr>
        <p:spPr>
          <a:xfrm>
            <a:off x="11002975" y="6382512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2/25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 txBox="1"/>
          <p:nvPr/>
        </p:nvSpPr>
        <p:spPr>
          <a:xfrm>
            <a:off x="548640" y="638251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2 · Backprop и PyTorch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48640" y="1783080"/>
            <a:ext cx="548640" cy="548640"/>
          </a:xfrm>
          <a:prstGeom prst="ellipse">
            <a:avLst/>
          </a:prstGeom>
          <a:solidFill>
            <a:srgbClr val="1E2761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 txBox="1"/>
          <p:nvPr/>
        </p:nvSpPr>
        <p:spPr>
          <a:xfrm>
            <a:off x="548640" y="1783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 txBox="1"/>
          <p:nvPr/>
        </p:nvSpPr>
        <p:spPr>
          <a:xfrm>
            <a:off x="1298448" y="1746504"/>
            <a:ext cx="449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Правило цепочки и вычислительный граф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 txBox="1"/>
          <p:nvPr/>
        </p:nvSpPr>
        <p:spPr>
          <a:xfrm>
            <a:off x="1298448" y="2240280"/>
            <a:ext cx="44956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математическая база backprop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370168" y="1783080"/>
            <a:ext cx="548640" cy="548640"/>
          </a:xfrm>
          <a:prstGeom prst="ellipse">
            <a:avLst/>
          </a:prstGeom>
          <a:solidFill>
            <a:srgbClr val="1E2761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 txBox="1"/>
          <p:nvPr/>
        </p:nvSpPr>
        <p:spPr>
          <a:xfrm>
            <a:off x="6370168" y="1783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7119976" y="1746504"/>
            <a:ext cx="449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Прямой и обратный проход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 txBox="1"/>
          <p:nvPr/>
        </p:nvSpPr>
        <p:spPr>
          <a:xfrm>
            <a:off x="7119976" y="2240280"/>
            <a:ext cx="44956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считаем вручную, сверяем с PyTorch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548640" y="3081528"/>
            <a:ext cx="548640" cy="548640"/>
          </a:xfrm>
          <a:prstGeom prst="ellipse">
            <a:avLst/>
          </a:prstGeom>
          <a:solidFill>
            <a:srgbClr val="1E2761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/>
        </p:nvSpPr>
        <p:spPr>
          <a:xfrm>
            <a:off x="548640" y="30815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1298448" y="3044952"/>
            <a:ext cx="449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От ручных циклов к nn.Module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1298448" y="3538728"/>
            <a:ext cx="44956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Linear, Sequential, ReLU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6370168" y="3081528"/>
            <a:ext cx="548640" cy="548640"/>
          </a:xfrm>
          <a:prstGeom prst="ellipse">
            <a:avLst/>
          </a:prstGeom>
          <a:solidFill>
            <a:srgbClr val="1E2761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 txBox="1"/>
          <p:nvPr/>
        </p:nvSpPr>
        <p:spPr>
          <a:xfrm>
            <a:off x="6370168" y="30815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7119976" y="3044952"/>
            <a:ext cx="449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Многоклассовая классификация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7119976" y="3538728"/>
            <a:ext cx="44956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softmax и cross-entropy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548640" y="4379976"/>
            <a:ext cx="548640" cy="548640"/>
          </a:xfrm>
          <a:prstGeom prst="ellipse">
            <a:avLst/>
          </a:prstGeom>
          <a:solidFill>
            <a:srgbClr val="1E2761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 txBox="1"/>
          <p:nvPr/>
        </p:nvSpPr>
        <p:spPr>
          <a:xfrm>
            <a:off x="548640" y="437997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1298448" y="4343400"/>
            <a:ext cx="449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torch.optim и мини-батчи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1298448" y="4837176"/>
            <a:ext cx="44956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DataLoader, эпохи, батчи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6370168" y="4379976"/>
            <a:ext cx="548640" cy="548640"/>
          </a:xfrm>
          <a:prstGeom prst="ellipse">
            <a:avLst/>
          </a:prstGeom>
          <a:solidFill>
            <a:srgbClr val="1E2761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 txBox="1"/>
          <p:nvPr/>
        </p:nvSpPr>
        <p:spPr>
          <a:xfrm>
            <a:off x="6370168" y="437997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7119976" y="4343400"/>
            <a:ext cx="449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MNIST: собираем и обучаем сеть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 txBox="1"/>
          <p:nvPr/>
        </p:nvSpPr>
        <p:spPr>
          <a:xfrm>
            <a:off x="7119976" y="4837176"/>
            <a:ext cx="44956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полный цикл целиком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/>
          <p:cNvSpPr txBox="1"/>
          <p:nvPr/>
        </p:nvSpPr>
        <p:spPr>
          <a:xfrm>
            <a:off x="548640" y="292608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Минусы обычного SGD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548640" y="621792"/>
            <a:ext cx="110943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Издержки псевдоградиента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Google Shape;75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0475" y="3417062"/>
            <a:ext cx="4231175" cy="2385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675" y="3382600"/>
            <a:ext cx="5799025" cy="24544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5"/>
          <p:cNvSpPr txBox="1"/>
          <p:nvPr/>
        </p:nvSpPr>
        <p:spPr>
          <a:xfrm>
            <a:off x="621675" y="1610500"/>
            <a:ext cx="5255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Псевдаградиенту характерны “скачки” - численная нестабильность связанная с тем, что градиент высчитывается каждый раз заново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7233650" y="1610500"/>
            <a:ext cx="4068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В обычном спуске могут случаться застревания в локальной точке минимума (оптимума)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 txBox="1"/>
          <p:nvPr/>
        </p:nvSpPr>
        <p:spPr>
          <a:xfrm>
            <a:off x="548640" y="292608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Как бороться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 txBox="1"/>
          <p:nvPr/>
        </p:nvSpPr>
        <p:spPr>
          <a:xfrm>
            <a:off x="548640" y="621792"/>
            <a:ext cx="110943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Метод импульсов (momentum) и импульс Нестерова (NAG - Nesterov’s accelerated gradient)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 txBox="1"/>
          <p:nvPr/>
        </p:nvSpPr>
        <p:spPr>
          <a:xfrm>
            <a:off x="548650" y="1885225"/>
            <a:ext cx="525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Усредняем градиент по шагам, и добавляем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постепенное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затухание предыдущих значений: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7" name="Google Shape;8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2773550"/>
            <a:ext cx="3548600" cy="6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50" y="3406625"/>
            <a:ext cx="1884725" cy="52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32550" y="2325575"/>
            <a:ext cx="2936251" cy="171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1050" y="5023275"/>
            <a:ext cx="2838931" cy="52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27375" y="4877238"/>
            <a:ext cx="3574700" cy="1518813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6"/>
          <p:cNvSpPr txBox="1"/>
          <p:nvPr/>
        </p:nvSpPr>
        <p:spPr>
          <a:xfrm>
            <a:off x="291050" y="4323463"/>
            <a:ext cx="525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В импульсе Нестерова сразу смещаемся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 txBox="1"/>
          <p:nvPr/>
        </p:nvSpPr>
        <p:spPr>
          <a:xfrm>
            <a:off x="548640" y="292608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Как бороться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 txBox="1"/>
          <p:nvPr/>
        </p:nvSpPr>
        <p:spPr>
          <a:xfrm>
            <a:off x="548640" y="621792"/>
            <a:ext cx="110943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RMSProp и Adam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 txBox="1"/>
          <p:nvPr/>
        </p:nvSpPr>
        <p:spPr>
          <a:xfrm>
            <a:off x="548650" y="1885225"/>
            <a:ext cx="525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Усредняем градиент по шагам, и добавляем постепенное затухание предыдущих значений: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1" name="Google Shape;10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675" y="2743950"/>
            <a:ext cx="3089950" cy="15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5000" y="5064100"/>
            <a:ext cx="3847224" cy="145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75625" y="2935925"/>
            <a:ext cx="3469290" cy="86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82650" y="5164322"/>
            <a:ext cx="2236700" cy="93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 txBox="1"/>
          <p:nvPr/>
        </p:nvSpPr>
        <p:spPr>
          <a:xfrm>
            <a:off x="548640" y="292608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Выборка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 txBox="1"/>
          <p:nvPr/>
        </p:nvSpPr>
        <p:spPr>
          <a:xfrm>
            <a:off x="548640" y="621792"/>
            <a:ext cx="110943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Разделение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325" y="1552567"/>
            <a:ext cx="3086100" cy="3752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3" name="Google Shape;113;p8"/>
          <p:cNvCxnSpPr/>
          <p:nvPr/>
        </p:nvCxnSpPr>
        <p:spPr>
          <a:xfrm>
            <a:off x="1441075" y="3779400"/>
            <a:ext cx="0" cy="2026500"/>
          </a:xfrm>
          <a:prstGeom prst="straightConnector1">
            <a:avLst/>
          </a:prstGeom>
          <a:noFill/>
          <a:ln cap="flat" cmpd="sng" w="38100">
            <a:solidFill>
              <a:srgbClr val="B2B8C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" name="Google Shape;114;p8"/>
          <p:cNvCxnSpPr/>
          <p:nvPr/>
        </p:nvCxnSpPr>
        <p:spPr>
          <a:xfrm>
            <a:off x="1456775" y="5779025"/>
            <a:ext cx="584400" cy="0"/>
          </a:xfrm>
          <a:prstGeom prst="straightConnector1">
            <a:avLst/>
          </a:prstGeom>
          <a:noFill/>
          <a:ln cap="flat" cmpd="sng" w="38100">
            <a:solidFill>
              <a:srgbClr val="B2B8C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" name="Google Shape;115;p8"/>
          <p:cNvSpPr txBox="1"/>
          <p:nvPr/>
        </p:nvSpPr>
        <p:spPr>
          <a:xfrm>
            <a:off x="2056875" y="5532150"/>
            <a:ext cx="1785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format.json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8"/>
          <p:cNvSpPr txBox="1"/>
          <p:nvPr/>
        </p:nvSpPr>
        <p:spPr>
          <a:xfrm>
            <a:off x="5160075" y="943300"/>
            <a:ext cx="1785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format.json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8"/>
          <p:cNvSpPr txBox="1"/>
          <p:nvPr/>
        </p:nvSpPr>
        <p:spPr>
          <a:xfrm>
            <a:off x="5160075" y="1891800"/>
            <a:ext cx="2325900" cy="21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{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	“class_1”: 1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	</a:t>
            </a:r>
            <a:r>
              <a:rPr lang="en-US" sz="1800">
                <a:solidFill>
                  <a:schemeClr val="dk1"/>
                </a:solidFill>
              </a:rPr>
              <a:t>“class_2”: 2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	“class_3”: 3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	“class_4”: 4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	…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}</a:t>
            </a:r>
            <a:endParaRPr sz="1800"/>
          </a:p>
        </p:txBody>
      </p:sp>
      <p:sp>
        <p:nvSpPr>
          <p:cNvPr id="118" name="Google Shape;118;p8"/>
          <p:cNvSpPr txBox="1"/>
          <p:nvPr/>
        </p:nvSpPr>
        <p:spPr>
          <a:xfrm>
            <a:off x="8244875" y="943300"/>
            <a:ext cx="1785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format.json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8298375" y="1891800"/>
            <a:ext cx="2649900" cy="21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{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	“png_1”: [113, 131]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	</a:t>
            </a:r>
            <a:r>
              <a:rPr lang="en-US" sz="1800">
                <a:solidFill>
                  <a:schemeClr val="dk1"/>
                </a:solidFill>
              </a:rPr>
              <a:t>“png_2”: </a:t>
            </a:r>
            <a:r>
              <a:rPr lang="en-US" sz="1800">
                <a:solidFill>
                  <a:schemeClr val="dk1"/>
                </a:solidFill>
              </a:rPr>
              <a:t>[123, 186]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	…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}</a:t>
            </a:r>
            <a:endParaRPr sz="1800"/>
          </a:p>
        </p:txBody>
      </p:sp>
      <p:sp>
        <p:nvSpPr>
          <p:cNvPr id="120" name="Google Shape;120;p8"/>
          <p:cNvSpPr txBox="1"/>
          <p:nvPr/>
        </p:nvSpPr>
        <p:spPr>
          <a:xfrm>
            <a:off x="5160075" y="4441300"/>
            <a:ext cx="6143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format.json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соотносит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изображение с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меткой класса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(классификация), либо с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координатами местоположения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искомого объекта (регрессия)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"/>
          <p:cNvSpPr txBox="1"/>
          <p:nvPr/>
        </p:nvSpPr>
        <p:spPr>
          <a:xfrm>
            <a:off x="548640" y="292608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Выборка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 txBox="1"/>
          <p:nvPr/>
        </p:nvSpPr>
        <p:spPr>
          <a:xfrm>
            <a:off x="548640" y="621792"/>
            <a:ext cx="110943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Баланс выборок и репрезентативность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2075" y="1626750"/>
            <a:ext cx="7653402" cy="38267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9"/>
          <p:cNvSpPr txBox="1"/>
          <p:nvPr/>
        </p:nvSpPr>
        <p:spPr>
          <a:xfrm>
            <a:off x="428100" y="1883600"/>
            <a:ext cx="35745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Если у одного из классов значительно превалирует количество образов, то модель может начать всегда выдавать метку этого класса и в среднем мало ошибаться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Образы в обучающей выборке должны быть как можно более разнообразны, чтобы модель имела высокие обобщающие способности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/>
          <p:nvPr/>
        </p:nvSpPr>
        <p:spPr>
          <a:xfrm>
            <a:off x="548640" y="292608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ПОСТАНОВКА ЗАДАЧИ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0"/>
          <p:cNvSpPr txBox="1"/>
          <p:nvPr/>
        </p:nvSpPr>
        <p:spPr>
          <a:xfrm>
            <a:off x="548640" y="621792"/>
            <a:ext cx="110943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Структура нейронной сети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 txBox="1"/>
          <p:nvPr/>
        </p:nvSpPr>
        <p:spPr>
          <a:xfrm>
            <a:off x="11002975" y="6382512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4/25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0"/>
          <p:cNvSpPr txBox="1"/>
          <p:nvPr/>
        </p:nvSpPr>
        <p:spPr>
          <a:xfrm>
            <a:off x="548640" y="638251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2 · Backprop и PyTorch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Google Shape;139;p10"/>
          <p:cNvCxnSpPr/>
          <p:nvPr/>
        </p:nvCxnSpPr>
        <p:spPr>
          <a:xfrm flipH="1" rot="10800000">
            <a:off x="1691640" y="1988820"/>
            <a:ext cx="1965960" cy="36576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" name="Google Shape;140;p10"/>
          <p:cNvCxnSpPr/>
          <p:nvPr/>
        </p:nvCxnSpPr>
        <p:spPr>
          <a:xfrm>
            <a:off x="1691640" y="2354580"/>
            <a:ext cx="1965960" cy="54864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" name="Google Shape;141;p10"/>
          <p:cNvCxnSpPr>
            <a:endCxn id="142" idx="2"/>
          </p:cNvCxnSpPr>
          <p:nvPr/>
        </p:nvCxnSpPr>
        <p:spPr>
          <a:xfrm>
            <a:off x="1691738" y="2354698"/>
            <a:ext cx="1965900" cy="16458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" name="Google Shape;143;p10"/>
          <p:cNvCxnSpPr/>
          <p:nvPr/>
        </p:nvCxnSpPr>
        <p:spPr>
          <a:xfrm flipH="1" rot="10800000">
            <a:off x="1691640" y="1988820"/>
            <a:ext cx="1965960" cy="128016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4" name="Google Shape;144;p10"/>
          <p:cNvCxnSpPr/>
          <p:nvPr/>
        </p:nvCxnSpPr>
        <p:spPr>
          <a:xfrm flipH="1" rot="10800000">
            <a:off x="1691640" y="2903220"/>
            <a:ext cx="1965960" cy="36576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" name="Google Shape;145;p10"/>
          <p:cNvCxnSpPr>
            <a:endCxn id="142" idx="2"/>
          </p:cNvCxnSpPr>
          <p:nvPr/>
        </p:nvCxnSpPr>
        <p:spPr>
          <a:xfrm>
            <a:off x="1691738" y="3269098"/>
            <a:ext cx="1965900" cy="731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" name="Google Shape;146;p10"/>
          <p:cNvCxnSpPr/>
          <p:nvPr/>
        </p:nvCxnSpPr>
        <p:spPr>
          <a:xfrm flipH="1" rot="10800000">
            <a:off x="1691640" y="1988820"/>
            <a:ext cx="1965960" cy="219456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" name="Google Shape;147;p10"/>
          <p:cNvCxnSpPr/>
          <p:nvPr/>
        </p:nvCxnSpPr>
        <p:spPr>
          <a:xfrm flipH="1" rot="10800000">
            <a:off x="1691640" y="2903220"/>
            <a:ext cx="1965960" cy="128016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" name="Google Shape;148;p10"/>
          <p:cNvCxnSpPr>
            <a:endCxn id="142" idx="2"/>
          </p:cNvCxnSpPr>
          <p:nvPr/>
        </p:nvCxnSpPr>
        <p:spPr>
          <a:xfrm flipH="1" rot="10800000">
            <a:off x="1691738" y="4000498"/>
            <a:ext cx="1965900" cy="1830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" name="Google Shape;149;p10"/>
          <p:cNvCxnSpPr/>
          <p:nvPr/>
        </p:nvCxnSpPr>
        <p:spPr>
          <a:xfrm>
            <a:off x="4160520" y="1988820"/>
            <a:ext cx="1965960" cy="36576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10"/>
          <p:cNvCxnSpPr/>
          <p:nvPr/>
        </p:nvCxnSpPr>
        <p:spPr>
          <a:xfrm>
            <a:off x="4160520" y="1988820"/>
            <a:ext cx="1965960" cy="128016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p10"/>
          <p:cNvCxnSpPr/>
          <p:nvPr/>
        </p:nvCxnSpPr>
        <p:spPr>
          <a:xfrm>
            <a:off x="4160520" y="1988820"/>
            <a:ext cx="1965960" cy="219456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10"/>
          <p:cNvCxnSpPr/>
          <p:nvPr/>
        </p:nvCxnSpPr>
        <p:spPr>
          <a:xfrm flipH="1" rot="10800000">
            <a:off x="4160520" y="2354580"/>
            <a:ext cx="1965960" cy="54864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10"/>
          <p:cNvCxnSpPr/>
          <p:nvPr/>
        </p:nvCxnSpPr>
        <p:spPr>
          <a:xfrm>
            <a:off x="4160520" y="2903220"/>
            <a:ext cx="1965960" cy="36576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" name="Google Shape;154;p10"/>
          <p:cNvCxnSpPr/>
          <p:nvPr/>
        </p:nvCxnSpPr>
        <p:spPr>
          <a:xfrm>
            <a:off x="4160520" y="2903220"/>
            <a:ext cx="1965960" cy="128016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" name="Google Shape;155;p10"/>
          <p:cNvCxnSpPr>
            <a:stCxn id="142" idx="6"/>
          </p:cNvCxnSpPr>
          <p:nvPr/>
        </p:nvCxnSpPr>
        <p:spPr>
          <a:xfrm flipH="1" rot="10800000">
            <a:off x="4160438" y="2354698"/>
            <a:ext cx="1965900" cy="16458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" name="Google Shape;156;p10"/>
          <p:cNvCxnSpPr>
            <a:stCxn id="142" idx="6"/>
          </p:cNvCxnSpPr>
          <p:nvPr/>
        </p:nvCxnSpPr>
        <p:spPr>
          <a:xfrm flipH="1" rot="10800000">
            <a:off x="4160438" y="3269098"/>
            <a:ext cx="1965900" cy="731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" name="Google Shape;157;p10"/>
          <p:cNvCxnSpPr>
            <a:stCxn id="142" idx="6"/>
          </p:cNvCxnSpPr>
          <p:nvPr/>
        </p:nvCxnSpPr>
        <p:spPr>
          <a:xfrm>
            <a:off x="4160438" y="4000498"/>
            <a:ext cx="1965900" cy="1830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10"/>
          <p:cNvSpPr/>
          <p:nvPr/>
        </p:nvSpPr>
        <p:spPr>
          <a:xfrm>
            <a:off x="941600" y="1903625"/>
            <a:ext cx="750000" cy="702300"/>
          </a:xfrm>
          <a:prstGeom prst="ellipse">
            <a:avLst/>
          </a:prstGeom>
          <a:solidFill>
            <a:srgbClr val="EEF3FD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x</a:t>
            </a:r>
            <a:r>
              <a:rPr b="1" baseline="-25000" lang="en-US" sz="2000"/>
              <a:t>1</a:t>
            </a:r>
            <a:endParaRPr b="1" baseline="-25000" sz="2000"/>
          </a:p>
        </p:txBody>
      </p:sp>
      <p:sp>
        <p:nvSpPr>
          <p:cNvPr id="159" name="Google Shape;159;p10"/>
          <p:cNvSpPr/>
          <p:nvPr/>
        </p:nvSpPr>
        <p:spPr>
          <a:xfrm>
            <a:off x="941800" y="2818025"/>
            <a:ext cx="750000" cy="702300"/>
          </a:xfrm>
          <a:prstGeom prst="ellipse">
            <a:avLst/>
          </a:prstGeom>
          <a:solidFill>
            <a:srgbClr val="EEF3FD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1" baseline="-25000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995300" y="3931925"/>
            <a:ext cx="696300" cy="702300"/>
          </a:xfrm>
          <a:prstGeom prst="ellipse">
            <a:avLst/>
          </a:prstGeom>
          <a:solidFill>
            <a:srgbClr val="EEF3FD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x</a:t>
            </a:r>
            <a:r>
              <a:rPr b="1" baseline="-25000" lang="en-US" sz="1500">
                <a:solidFill>
                  <a:schemeClr val="dk1"/>
                </a:solidFill>
              </a:rPr>
              <a:t>784</a:t>
            </a:r>
            <a:endParaRPr b="1" sz="1500"/>
          </a:p>
        </p:txBody>
      </p:sp>
      <p:sp>
        <p:nvSpPr>
          <p:cNvPr id="161" name="Google Shape;161;p10"/>
          <p:cNvSpPr/>
          <p:nvPr/>
        </p:nvSpPr>
        <p:spPr>
          <a:xfrm>
            <a:off x="3657600" y="1737360"/>
            <a:ext cx="502920" cy="50292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162" name="Google Shape;162;p10"/>
          <p:cNvSpPr/>
          <p:nvPr/>
        </p:nvSpPr>
        <p:spPr>
          <a:xfrm>
            <a:off x="3657600" y="2651760"/>
            <a:ext cx="502920" cy="50292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42" name="Google Shape;142;p10"/>
          <p:cNvSpPr/>
          <p:nvPr/>
        </p:nvSpPr>
        <p:spPr>
          <a:xfrm>
            <a:off x="3657638" y="3749098"/>
            <a:ext cx="502800" cy="5028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32</a:t>
            </a:r>
            <a:endParaRPr b="1" sz="1200"/>
          </a:p>
        </p:txBody>
      </p:sp>
      <p:sp>
        <p:nvSpPr>
          <p:cNvPr id="163" name="Google Shape;163;p10"/>
          <p:cNvSpPr/>
          <p:nvPr/>
        </p:nvSpPr>
        <p:spPr>
          <a:xfrm>
            <a:off x="6126480" y="2103120"/>
            <a:ext cx="502920" cy="50292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/>
              <a:t>1</a:t>
            </a:r>
            <a:endParaRPr b="1" sz="1500"/>
          </a:p>
        </p:txBody>
      </p:sp>
      <p:sp>
        <p:nvSpPr>
          <p:cNvPr id="164" name="Google Shape;164;p10"/>
          <p:cNvSpPr/>
          <p:nvPr/>
        </p:nvSpPr>
        <p:spPr>
          <a:xfrm>
            <a:off x="6126480" y="3017520"/>
            <a:ext cx="502920" cy="50292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/>
              <a:t>2</a:t>
            </a:r>
            <a:endParaRPr b="1" sz="1500"/>
          </a:p>
        </p:txBody>
      </p:sp>
      <p:sp>
        <p:nvSpPr>
          <p:cNvPr id="165" name="Google Shape;165;p10"/>
          <p:cNvSpPr/>
          <p:nvPr/>
        </p:nvSpPr>
        <p:spPr>
          <a:xfrm>
            <a:off x="6126474" y="3931925"/>
            <a:ext cx="537600" cy="5028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10</a:t>
            </a:r>
            <a:endParaRPr b="1" sz="1300"/>
          </a:p>
        </p:txBody>
      </p:sp>
      <p:sp>
        <p:nvSpPr>
          <p:cNvPr id="166" name="Google Shape;166;p10"/>
          <p:cNvSpPr txBox="1"/>
          <p:nvPr/>
        </p:nvSpPr>
        <p:spPr>
          <a:xfrm>
            <a:off x="6345936" y="5038344"/>
            <a:ext cx="4986223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b="0" i="1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Дя доо нейрона мы находили ∂L/∂w формулой напряую. Для сети из многих слоёв формулу «в лоб» для каждого веса не выпишешь — нужен систематический способ. Это и есть backpropagation.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7" name="Google Shape;167;p10"/>
          <p:cNvGraphicFramePr/>
          <p:nvPr/>
        </p:nvGraphicFramePr>
        <p:xfrm>
          <a:off x="9183238" y="135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{8A3EE2A9-A7BA-486E-AFEB-B2AEC9837C07}</a:tableStyleId>
              </a:tblPr>
              <a:tblGrid>
                <a:gridCol w="537225"/>
                <a:gridCol w="537225"/>
                <a:gridCol w="537225"/>
                <a:gridCol w="537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68" name="Google Shape;168;p10"/>
          <p:cNvCxnSpPr>
            <a:stCxn id="163" idx="6"/>
          </p:cNvCxnSpPr>
          <p:nvPr/>
        </p:nvCxnSpPr>
        <p:spPr>
          <a:xfrm>
            <a:off x="6629400" y="2354580"/>
            <a:ext cx="487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" name="Google Shape;169;p10"/>
          <p:cNvCxnSpPr/>
          <p:nvPr/>
        </p:nvCxnSpPr>
        <p:spPr>
          <a:xfrm>
            <a:off x="6629400" y="3268980"/>
            <a:ext cx="487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" name="Google Shape;170;p10"/>
          <p:cNvCxnSpPr/>
          <p:nvPr/>
        </p:nvCxnSpPr>
        <p:spPr>
          <a:xfrm>
            <a:off x="6629400" y="4183393"/>
            <a:ext cx="487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1" name="Google Shape;171;p10"/>
          <p:cNvSpPr txBox="1"/>
          <p:nvPr/>
        </p:nvSpPr>
        <p:spPr>
          <a:xfrm>
            <a:off x="6913650" y="1856975"/>
            <a:ext cx="4875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lang="en-US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 baseline="-2500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10"/>
          <p:cNvSpPr txBox="1"/>
          <p:nvPr/>
        </p:nvSpPr>
        <p:spPr>
          <a:xfrm>
            <a:off x="6913650" y="2764913"/>
            <a:ext cx="4875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lang="en-US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1" baseline="-2500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10"/>
          <p:cNvSpPr txBox="1"/>
          <p:nvPr/>
        </p:nvSpPr>
        <p:spPr>
          <a:xfrm>
            <a:off x="6913650" y="3672875"/>
            <a:ext cx="4875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lang="en-US" sz="20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b="1" baseline="-2500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10"/>
          <p:cNvSpPr txBox="1"/>
          <p:nvPr/>
        </p:nvSpPr>
        <p:spPr>
          <a:xfrm>
            <a:off x="6176675" y="3462150"/>
            <a:ext cx="4875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b="1" baseline="-2500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10"/>
          <p:cNvSpPr txBox="1"/>
          <p:nvPr/>
        </p:nvSpPr>
        <p:spPr>
          <a:xfrm>
            <a:off x="3665313" y="3199075"/>
            <a:ext cx="4875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b="1" baseline="-2500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10"/>
          <p:cNvSpPr txBox="1"/>
          <p:nvPr/>
        </p:nvSpPr>
        <p:spPr>
          <a:xfrm>
            <a:off x="1196425" y="3405000"/>
            <a:ext cx="4875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b="1" baseline="-2500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10"/>
          <p:cNvSpPr txBox="1"/>
          <p:nvPr/>
        </p:nvSpPr>
        <p:spPr>
          <a:xfrm>
            <a:off x="1099700" y="5045813"/>
            <a:ext cx="4875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b="1" baseline="-2500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10"/>
          <p:cNvSpPr txBox="1"/>
          <p:nvPr/>
        </p:nvSpPr>
        <p:spPr>
          <a:xfrm>
            <a:off x="3611763" y="4687438"/>
            <a:ext cx="4875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b="1" baseline="-2500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9" name="Google Shape;179;p10"/>
          <p:cNvCxnSpPr>
            <a:stCxn id="177" idx="3"/>
            <a:endCxn id="161" idx="2"/>
          </p:cNvCxnSpPr>
          <p:nvPr/>
        </p:nvCxnSpPr>
        <p:spPr>
          <a:xfrm flipH="1" rot="10800000">
            <a:off x="1587200" y="1988813"/>
            <a:ext cx="2070300" cy="31953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10"/>
          <p:cNvCxnSpPr>
            <a:stCxn id="177" idx="3"/>
            <a:endCxn id="162" idx="2"/>
          </p:cNvCxnSpPr>
          <p:nvPr/>
        </p:nvCxnSpPr>
        <p:spPr>
          <a:xfrm flipH="1" rot="10800000">
            <a:off x="1587200" y="2903213"/>
            <a:ext cx="2070300" cy="22809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" name="Google Shape;181;p10"/>
          <p:cNvCxnSpPr>
            <a:stCxn id="177" idx="3"/>
            <a:endCxn id="142" idx="2"/>
          </p:cNvCxnSpPr>
          <p:nvPr/>
        </p:nvCxnSpPr>
        <p:spPr>
          <a:xfrm flipH="1" rot="10800000">
            <a:off x="1587200" y="4000613"/>
            <a:ext cx="2070300" cy="11835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2" name="Google Shape;182;p10"/>
          <p:cNvCxnSpPr>
            <a:stCxn id="178" idx="3"/>
            <a:endCxn id="163" idx="2"/>
          </p:cNvCxnSpPr>
          <p:nvPr/>
        </p:nvCxnSpPr>
        <p:spPr>
          <a:xfrm flipH="1" rot="10800000">
            <a:off x="4099263" y="2354638"/>
            <a:ext cx="2027100" cy="24711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" name="Google Shape;183;p10"/>
          <p:cNvCxnSpPr>
            <a:stCxn id="178" idx="3"/>
            <a:endCxn id="164" idx="2"/>
          </p:cNvCxnSpPr>
          <p:nvPr/>
        </p:nvCxnSpPr>
        <p:spPr>
          <a:xfrm flipH="1" rot="10800000">
            <a:off x="4099263" y="3269038"/>
            <a:ext cx="2027100" cy="15567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" name="Google Shape;184;p10"/>
          <p:cNvCxnSpPr>
            <a:stCxn id="178" idx="3"/>
            <a:endCxn id="165" idx="2"/>
          </p:cNvCxnSpPr>
          <p:nvPr/>
        </p:nvCxnSpPr>
        <p:spPr>
          <a:xfrm flipH="1" rot="10800000">
            <a:off x="4099263" y="4183438"/>
            <a:ext cx="2027100" cy="6423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10"/>
          <p:cNvSpPr/>
          <p:nvPr/>
        </p:nvSpPr>
        <p:spPr>
          <a:xfrm rot="-5406042">
            <a:off x="10123599" y="4472500"/>
            <a:ext cx="170700" cy="22461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 txBox="1"/>
          <p:nvPr/>
        </p:nvSpPr>
        <p:spPr>
          <a:xfrm>
            <a:off x="9800287" y="5893400"/>
            <a:ext cx="19659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batch</a:t>
            </a:r>
            <a:endParaRPr b="1" baseline="-2500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"/>
          <p:cNvSpPr txBox="1"/>
          <p:nvPr/>
        </p:nvSpPr>
        <p:spPr>
          <a:xfrm>
            <a:off x="548640" y="292608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ПОСТАНОВКА ЗАДАЧИ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 txBox="1"/>
          <p:nvPr/>
        </p:nvSpPr>
        <p:spPr>
          <a:xfrm>
            <a:off x="548640" y="621792"/>
            <a:ext cx="110943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Структура нейронной сети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 txBox="1"/>
          <p:nvPr/>
        </p:nvSpPr>
        <p:spPr>
          <a:xfrm>
            <a:off x="11002975" y="6382512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4/25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 txBox="1"/>
          <p:nvPr/>
        </p:nvSpPr>
        <p:spPr>
          <a:xfrm>
            <a:off x="548640" y="6382512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2 · Backprop и PyTorch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710980" y="1780970"/>
            <a:ext cx="502800" cy="5028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/>
              <a:t>1</a:t>
            </a:r>
            <a:endParaRPr b="1" sz="1500"/>
          </a:p>
        </p:txBody>
      </p:sp>
      <p:sp>
        <p:nvSpPr>
          <p:cNvPr id="197" name="Google Shape;197;p11"/>
          <p:cNvSpPr/>
          <p:nvPr/>
        </p:nvSpPr>
        <p:spPr>
          <a:xfrm>
            <a:off x="693580" y="2505020"/>
            <a:ext cx="502800" cy="5028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/>
              <a:t>1</a:t>
            </a:r>
            <a:endParaRPr b="1" sz="1500"/>
          </a:p>
        </p:txBody>
      </p:sp>
      <p:sp>
        <p:nvSpPr>
          <p:cNvPr id="198" name="Google Shape;198;p11"/>
          <p:cNvSpPr/>
          <p:nvPr/>
        </p:nvSpPr>
        <p:spPr>
          <a:xfrm>
            <a:off x="676174" y="4700013"/>
            <a:ext cx="537600" cy="5028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1</a:t>
            </a:r>
            <a:endParaRPr b="1" sz="1300"/>
          </a:p>
        </p:txBody>
      </p:sp>
      <p:cxnSp>
        <p:nvCxnSpPr>
          <p:cNvPr id="199" name="Google Shape;199;p11"/>
          <p:cNvCxnSpPr>
            <a:stCxn id="196" idx="6"/>
          </p:cNvCxnSpPr>
          <p:nvPr/>
        </p:nvCxnSpPr>
        <p:spPr>
          <a:xfrm>
            <a:off x="1213780" y="2032370"/>
            <a:ext cx="659100" cy="3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" name="Google Shape;200;p11"/>
          <p:cNvCxnSpPr/>
          <p:nvPr/>
        </p:nvCxnSpPr>
        <p:spPr>
          <a:xfrm>
            <a:off x="1216413" y="2772418"/>
            <a:ext cx="487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" name="Google Shape;201;p11"/>
          <p:cNvCxnSpPr>
            <a:stCxn id="198" idx="6"/>
            <a:endCxn id="202" idx="1"/>
          </p:cNvCxnSpPr>
          <p:nvPr/>
        </p:nvCxnSpPr>
        <p:spPr>
          <a:xfrm>
            <a:off x="1213774" y="4951413"/>
            <a:ext cx="666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3" name="Google Shape;203;p11"/>
          <p:cNvSpPr txBox="1"/>
          <p:nvPr/>
        </p:nvSpPr>
        <p:spPr>
          <a:xfrm>
            <a:off x="1468738" y="1556650"/>
            <a:ext cx="4875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lang="en-US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 baseline="-2500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11"/>
          <p:cNvSpPr txBox="1"/>
          <p:nvPr/>
        </p:nvSpPr>
        <p:spPr>
          <a:xfrm>
            <a:off x="1500663" y="2268350"/>
            <a:ext cx="4875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lang="en-US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1" baseline="-2500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11"/>
          <p:cNvSpPr txBox="1"/>
          <p:nvPr/>
        </p:nvSpPr>
        <p:spPr>
          <a:xfrm>
            <a:off x="1421938" y="4484350"/>
            <a:ext cx="4875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lang="en-US" sz="20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b="1" baseline="-2500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11"/>
          <p:cNvSpPr txBox="1"/>
          <p:nvPr/>
        </p:nvSpPr>
        <p:spPr>
          <a:xfrm>
            <a:off x="743688" y="4264263"/>
            <a:ext cx="4875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b="1" baseline="-2500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3027200" y="1657838"/>
            <a:ext cx="620700" cy="36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693580" y="3144920"/>
            <a:ext cx="502800" cy="5028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/>
              <a:t>1</a:t>
            </a:r>
            <a:endParaRPr b="1" sz="1500"/>
          </a:p>
        </p:txBody>
      </p:sp>
      <p:cxnSp>
        <p:nvCxnSpPr>
          <p:cNvPr id="209" name="Google Shape;209;p11"/>
          <p:cNvCxnSpPr/>
          <p:nvPr/>
        </p:nvCxnSpPr>
        <p:spPr>
          <a:xfrm flipH="1" rot="10800000">
            <a:off x="1185678" y="3384020"/>
            <a:ext cx="537300" cy="1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0" name="Google Shape;210;p11"/>
          <p:cNvSpPr txBox="1"/>
          <p:nvPr/>
        </p:nvSpPr>
        <p:spPr>
          <a:xfrm>
            <a:off x="1500663" y="2828275"/>
            <a:ext cx="4875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lang="en-US" sz="2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1" baseline="-2500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693580" y="3933870"/>
            <a:ext cx="502800" cy="5028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/>
              <a:t>1</a:t>
            </a:r>
            <a:endParaRPr b="1" sz="1500"/>
          </a:p>
        </p:txBody>
      </p:sp>
      <p:cxnSp>
        <p:nvCxnSpPr>
          <p:cNvPr id="212" name="Google Shape;212;p11"/>
          <p:cNvCxnSpPr/>
          <p:nvPr/>
        </p:nvCxnSpPr>
        <p:spPr>
          <a:xfrm>
            <a:off x="1216413" y="4201268"/>
            <a:ext cx="635100" cy="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3" name="Google Shape;213;p11"/>
          <p:cNvSpPr txBox="1"/>
          <p:nvPr/>
        </p:nvSpPr>
        <p:spPr>
          <a:xfrm>
            <a:off x="1500663" y="3697200"/>
            <a:ext cx="4875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lang="en-US" sz="2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1" baseline="-2500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11"/>
          <p:cNvSpPr txBox="1"/>
          <p:nvPr/>
        </p:nvSpPr>
        <p:spPr>
          <a:xfrm rot="-5400000">
            <a:off x="2584550" y="3100488"/>
            <a:ext cx="1506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SoftMax</a:t>
            </a:r>
            <a:endParaRPr sz="2500"/>
          </a:p>
        </p:txBody>
      </p:sp>
      <p:cxnSp>
        <p:nvCxnSpPr>
          <p:cNvPr id="215" name="Google Shape;215;p11"/>
          <p:cNvCxnSpPr/>
          <p:nvPr/>
        </p:nvCxnSpPr>
        <p:spPr>
          <a:xfrm flipH="1" rot="10800000">
            <a:off x="3647905" y="2021570"/>
            <a:ext cx="834900" cy="9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" name="Google Shape;216;p11"/>
          <p:cNvCxnSpPr/>
          <p:nvPr/>
        </p:nvCxnSpPr>
        <p:spPr>
          <a:xfrm flipH="1" rot="10800000">
            <a:off x="3647905" y="2748770"/>
            <a:ext cx="834900" cy="9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" name="Google Shape;217;p11"/>
          <p:cNvCxnSpPr/>
          <p:nvPr/>
        </p:nvCxnSpPr>
        <p:spPr>
          <a:xfrm flipH="1" rot="10800000">
            <a:off x="3647905" y="3380545"/>
            <a:ext cx="834900" cy="9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8" name="Google Shape;218;p11"/>
          <p:cNvCxnSpPr/>
          <p:nvPr/>
        </p:nvCxnSpPr>
        <p:spPr>
          <a:xfrm flipH="1" rot="10800000">
            <a:off x="3622255" y="4180133"/>
            <a:ext cx="834900" cy="9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" name="Google Shape;219;p11"/>
          <p:cNvCxnSpPr/>
          <p:nvPr/>
        </p:nvCxnSpPr>
        <p:spPr>
          <a:xfrm>
            <a:off x="3642275" y="4961813"/>
            <a:ext cx="832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0" name="Google Shape;220;p11"/>
          <p:cNvSpPr/>
          <p:nvPr/>
        </p:nvSpPr>
        <p:spPr>
          <a:xfrm>
            <a:off x="1891150" y="1890763"/>
            <a:ext cx="659100" cy="32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-0.1521</a:t>
            </a:r>
            <a:endParaRPr sz="1100"/>
          </a:p>
        </p:txBody>
      </p:sp>
      <p:sp>
        <p:nvSpPr>
          <p:cNvPr id="221" name="Google Shape;221;p11"/>
          <p:cNvSpPr/>
          <p:nvPr/>
        </p:nvSpPr>
        <p:spPr>
          <a:xfrm>
            <a:off x="1909450" y="2605188"/>
            <a:ext cx="659100" cy="32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0.7612</a:t>
            </a:r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1909450" y="3241000"/>
            <a:ext cx="659100" cy="32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0.4214</a:t>
            </a:r>
            <a:endParaRPr/>
          </a:p>
        </p:txBody>
      </p:sp>
      <p:sp>
        <p:nvSpPr>
          <p:cNvPr id="223" name="Google Shape;223;p11"/>
          <p:cNvSpPr/>
          <p:nvPr/>
        </p:nvSpPr>
        <p:spPr>
          <a:xfrm>
            <a:off x="1880488" y="3973813"/>
            <a:ext cx="659100" cy="32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-0.0592</a:t>
            </a:r>
            <a:endParaRPr/>
          </a:p>
        </p:txBody>
      </p:sp>
      <p:sp>
        <p:nvSpPr>
          <p:cNvPr id="202" name="Google Shape;202;p11"/>
          <p:cNvSpPr/>
          <p:nvPr/>
        </p:nvSpPr>
        <p:spPr>
          <a:xfrm>
            <a:off x="1880438" y="4791350"/>
            <a:ext cx="659100" cy="32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-0.1306</a:t>
            </a:r>
            <a:endParaRPr/>
          </a:p>
        </p:txBody>
      </p:sp>
      <p:cxnSp>
        <p:nvCxnSpPr>
          <p:cNvPr id="224" name="Google Shape;224;p11"/>
          <p:cNvCxnSpPr>
            <a:stCxn id="220" idx="3"/>
          </p:cNvCxnSpPr>
          <p:nvPr/>
        </p:nvCxnSpPr>
        <p:spPr>
          <a:xfrm flipH="1" rot="10800000">
            <a:off x="2550250" y="2049913"/>
            <a:ext cx="475500" cy="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" name="Google Shape;225;p11"/>
          <p:cNvCxnSpPr/>
          <p:nvPr/>
        </p:nvCxnSpPr>
        <p:spPr>
          <a:xfrm flipH="1" rot="10800000">
            <a:off x="2550250" y="2771963"/>
            <a:ext cx="475500" cy="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" name="Google Shape;226;p11"/>
          <p:cNvCxnSpPr/>
          <p:nvPr/>
        </p:nvCxnSpPr>
        <p:spPr>
          <a:xfrm flipH="1" rot="10800000">
            <a:off x="2550250" y="3395863"/>
            <a:ext cx="475500" cy="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" name="Google Shape;227;p11"/>
          <p:cNvCxnSpPr/>
          <p:nvPr/>
        </p:nvCxnSpPr>
        <p:spPr>
          <a:xfrm flipH="1" rot="10800000">
            <a:off x="2550250" y="4133413"/>
            <a:ext cx="475500" cy="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8" name="Google Shape;228;p11"/>
          <p:cNvCxnSpPr/>
          <p:nvPr/>
        </p:nvCxnSpPr>
        <p:spPr>
          <a:xfrm flipH="1" rot="10800000">
            <a:off x="2539550" y="4950950"/>
            <a:ext cx="475500" cy="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9" name="Google Shape;229;p11"/>
          <p:cNvSpPr/>
          <p:nvPr/>
        </p:nvSpPr>
        <p:spPr>
          <a:xfrm>
            <a:off x="4493500" y="1890763"/>
            <a:ext cx="659100" cy="32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0.0892</a:t>
            </a:r>
            <a:endParaRPr sz="1100"/>
          </a:p>
        </p:txBody>
      </p:sp>
      <p:sp>
        <p:nvSpPr>
          <p:cNvPr id="230" name="Google Shape;230;p11"/>
          <p:cNvSpPr/>
          <p:nvPr/>
        </p:nvSpPr>
        <p:spPr>
          <a:xfrm>
            <a:off x="4511800" y="2605188"/>
            <a:ext cx="659100" cy="32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0.1182</a:t>
            </a:r>
            <a:endParaRPr/>
          </a:p>
        </p:txBody>
      </p:sp>
      <p:sp>
        <p:nvSpPr>
          <p:cNvPr id="231" name="Google Shape;231;p11"/>
          <p:cNvSpPr/>
          <p:nvPr/>
        </p:nvSpPr>
        <p:spPr>
          <a:xfrm>
            <a:off x="4511800" y="3241000"/>
            <a:ext cx="659100" cy="32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0.1024</a:t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4482838" y="3973813"/>
            <a:ext cx="659100" cy="32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0.0945</a:t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4482788" y="4791350"/>
            <a:ext cx="659100" cy="32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0.0910</a:t>
            </a:r>
            <a:endParaRPr/>
          </a:p>
        </p:txBody>
      </p:sp>
      <p:sp>
        <p:nvSpPr>
          <p:cNvPr id="234" name="Google Shape;234;p11"/>
          <p:cNvSpPr txBox="1"/>
          <p:nvPr/>
        </p:nvSpPr>
        <p:spPr>
          <a:xfrm>
            <a:off x="1976938" y="4244275"/>
            <a:ext cx="4875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b="1" baseline="-2500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11"/>
          <p:cNvSpPr txBox="1"/>
          <p:nvPr/>
        </p:nvSpPr>
        <p:spPr>
          <a:xfrm>
            <a:off x="4568588" y="4264263"/>
            <a:ext cx="4875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b="1" baseline="-2500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5371175" y="1736113"/>
            <a:ext cx="208200" cy="3466800"/>
          </a:xfrm>
          <a:prstGeom prst="rightBrace">
            <a:avLst>
              <a:gd fmla="val 50000" name="adj1"/>
              <a:gd fmla="val 50102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 txBox="1"/>
          <p:nvPr/>
        </p:nvSpPr>
        <p:spPr>
          <a:xfrm>
            <a:off x="5687301" y="3246888"/>
            <a:ext cx="16050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+"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= 1.0</a:t>
            </a:r>
            <a:endParaRPr b="1" baseline="-2500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11"/>
          <p:cNvSpPr txBox="1"/>
          <p:nvPr/>
        </p:nvSpPr>
        <p:spPr>
          <a:xfrm>
            <a:off x="7191900" y="1736125"/>
            <a:ext cx="4387800" cy="11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loss_function = nn.CrossEntropyLoss()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loss = lss_function(predict, y_train)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"/>
          <p:cNvSpPr txBox="1"/>
          <p:nvPr/>
        </p:nvSpPr>
        <p:spPr>
          <a:xfrm>
            <a:off x="548640" y="292608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Переобучение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 txBox="1"/>
          <p:nvPr/>
        </p:nvSpPr>
        <p:spPr>
          <a:xfrm>
            <a:off x="548640" y="621792"/>
            <a:ext cx="110943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Слишком много нейронов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 txBox="1"/>
          <p:nvPr/>
        </p:nvSpPr>
        <p:spPr>
          <a:xfrm>
            <a:off x="11002975" y="6382512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4/25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 txBox="1"/>
          <p:nvPr/>
        </p:nvSpPr>
        <p:spPr>
          <a:xfrm>
            <a:off x="548640" y="6382512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2 · Backprop и PyTorch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 txBox="1"/>
          <p:nvPr/>
        </p:nvSpPr>
        <p:spPr>
          <a:xfrm>
            <a:off x="1468738" y="1556650"/>
            <a:ext cx="4875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-2500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9" name="Google Shape;249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450" y="3332500"/>
            <a:ext cx="3499326" cy="233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3287" y="3407425"/>
            <a:ext cx="3328409" cy="2336949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2"/>
          <p:cNvSpPr txBox="1"/>
          <p:nvPr/>
        </p:nvSpPr>
        <p:spPr>
          <a:xfrm>
            <a:off x="1305650" y="2731600"/>
            <a:ext cx="161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Один нейрон</a:t>
            </a:r>
            <a:endParaRPr/>
          </a:p>
        </p:txBody>
      </p:sp>
      <p:sp>
        <p:nvSpPr>
          <p:cNvPr id="252" name="Google Shape;252;p12"/>
          <p:cNvSpPr txBox="1"/>
          <p:nvPr/>
        </p:nvSpPr>
        <p:spPr>
          <a:xfrm>
            <a:off x="5287788" y="2776975"/>
            <a:ext cx="161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Два нейрона</a:t>
            </a:r>
            <a:endParaRPr/>
          </a:p>
        </p:txBody>
      </p:sp>
      <p:sp>
        <p:nvSpPr>
          <p:cNvPr id="253" name="Google Shape;253;p12"/>
          <p:cNvSpPr txBox="1"/>
          <p:nvPr/>
        </p:nvSpPr>
        <p:spPr>
          <a:xfrm>
            <a:off x="9269950" y="2731600"/>
            <a:ext cx="161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Много нейронов</a:t>
            </a:r>
            <a:endParaRPr/>
          </a:p>
        </p:txBody>
      </p:sp>
      <p:pic>
        <p:nvPicPr>
          <p:cNvPr id="254" name="Google Shape;254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61974" y="3387962"/>
            <a:ext cx="3197475" cy="222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"/>
          <p:cNvSpPr txBox="1"/>
          <p:nvPr/>
        </p:nvSpPr>
        <p:spPr>
          <a:xfrm>
            <a:off x="548640" y="292608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Переобучение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 txBox="1"/>
          <p:nvPr/>
        </p:nvSpPr>
        <p:spPr>
          <a:xfrm>
            <a:off x="548640" y="621792"/>
            <a:ext cx="110943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Выборка валидации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 txBox="1"/>
          <p:nvPr/>
        </p:nvSpPr>
        <p:spPr>
          <a:xfrm>
            <a:off x="11002975" y="6382512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4/25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 txBox="1"/>
          <p:nvPr/>
        </p:nvSpPr>
        <p:spPr>
          <a:xfrm>
            <a:off x="548640" y="6382512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2 · Backprop и PyTorch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 txBox="1"/>
          <p:nvPr/>
        </p:nvSpPr>
        <p:spPr>
          <a:xfrm>
            <a:off x="1468738" y="1556650"/>
            <a:ext cx="4875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-2500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5" name="Google Shape;26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2199" y="3354926"/>
            <a:ext cx="3606350" cy="257292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3"/>
          <p:cNvSpPr/>
          <p:nvPr/>
        </p:nvSpPr>
        <p:spPr>
          <a:xfrm>
            <a:off x="524400" y="1765875"/>
            <a:ext cx="2761200" cy="1466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Обучающая выборка</a:t>
            </a:r>
            <a:endParaRPr sz="2300"/>
          </a:p>
        </p:txBody>
      </p:sp>
      <p:sp>
        <p:nvSpPr>
          <p:cNvPr id="267" name="Google Shape;267;p13"/>
          <p:cNvSpPr/>
          <p:nvPr/>
        </p:nvSpPr>
        <p:spPr>
          <a:xfrm>
            <a:off x="3384475" y="1765875"/>
            <a:ext cx="2761200" cy="1466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Выборка валидации</a:t>
            </a:r>
            <a:endParaRPr sz="2300"/>
          </a:p>
        </p:txBody>
      </p:sp>
      <p:sp>
        <p:nvSpPr>
          <p:cNvPr id="268" name="Google Shape;268;p13"/>
          <p:cNvSpPr/>
          <p:nvPr/>
        </p:nvSpPr>
        <p:spPr>
          <a:xfrm>
            <a:off x="623275" y="4243225"/>
            <a:ext cx="3818100" cy="1466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Тестовая выборка</a:t>
            </a:r>
            <a:endParaRPr sz="2300"/>
          </a:p>
        </p:txBody>
      </p:sp>
      <p:sp>
        <p:nvSpPr>
          <p:cNvPr id="269" name="Google Shape;269;p13"/>
          <p:cNvSpPr txBox="1"/>
          <p:nvPr/>
        </p:nvSpPr>
        <p:spPr>
          <a:xfrm>
            <a:off x="6752050" y="1323025"/>
            <a:ext cx="4890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Критерии останова: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/>
              <a:t>Расхождение показателя качества для обучающей выборки и выборки валидации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/>
              <a:t>от итерации к итерации показатель качества Q практически не меняется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/>
              <a:t>Малое изменение весовых коэффициентов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/>
              <a:t>Достижение максимального количества итерации</a:t>
            </a:r>
            <a:endParaRPr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4"/>
          <p:cNvSpPr txBox="1"/>
          <p:nvPr/>
        </p:nvSpPr>
        <p:spPr>
          <a:xfrm>
            <a:off x="548640" y="292608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Переобучение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4"/>
          <p:cNvSpPr txBox="1"/>
          <p:nvPr/>
        </p:nvSpPr>
        <p:spPr>
          <a:xfrm>
            <a:off x="548640" y="621792"/>
            <a:ext cx="110943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Регулизатор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4"/>
          <p:cNvSpPr txBox="1"/>
          <p:nvPr/>
        </p:nvSpPr>
        <p:spPr>
          <a:xfrm>
            <a:off x="11002975" y="6382512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4/25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4"/>
          <p:cNvSpPr txBox="1"/>
          <p:nvPr/>
        </p:nvSpPr>
        <p:spPr>
          <a:xfrm>
            <a:off x="548640" y="6382512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2 · Backprop и PyTorch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4"/>
          <p:cNvSpPr txBox="1"/>
          <p:nvPr/>
        </p:nvSpPr>
        <p:spPr>
          <a:xfrm>
            <a:off x="1468738" y="1556650"/>
            <a:ext cx="4875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-2500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4"/>
          <p:cNvSpPr txBox="1"/>
          <p:nvPr/>
        </p:nvSpPr>
        <p:spPr>
          <a:xfrm>
            <a:off x="620725" y="1833250"/>
            <a:ext cx="4955100" cy="9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Без L2-регуляризации: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optim.Adam(params=model.parameters(), lr=0.01)</a:t>
            </a:r>
            <a:endParaRPr sz="1600"/>
          </a:p>
        </p:txBody>
      </p:sp>
      <p:sp>
        <p:nvSpPr>
          <p:cNvPr id="281" name="Google Shape;281;p14"/>
          <p:cNvSpPr txBox="1"/>
          <p:nvPr/>
        </p:nvSpPr>
        <p:spPr>
          <a:xfrm>
            <a:off x="6294025" y="1556650"/>
            <a:ext cx="4955100" cy="9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c</a:t>
            </a:r>
            <a:r>
              <a:rPr lang="en-US" sz="1600"/>
              <a:t> L2-регуляризацией: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optim.Adam(params=model.parameters(), lr=0.01, weight_decay=0.001)</a:t>
            </a:r>
            <a:endParaRPr sz="1600"/>
          </a:p>
        </p:txBody>
      </p:sp>
      <p:pic>
        <p:nvPicPr>
          <p:cNvPr id="282" name="Google Shape;28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725" y="2636000"/>
            <a:ext cx="4697337" cy="362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4025" y="2542550"/>
            <a:ext cx="5122351" cy="3807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/>
        </p:nvSpPr>
        <p:spPr>
          <a:xfrm>
            <a:off x="548640" y="292608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Переобучение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5"/>
          <p:cNvSpPr txBox="1"/>
          <p:nvPr/>
        </p:nvSpPr>
        <p:spPr>
          <a:xfrm>
            <a:off x="548640" y="621792"/>
            <a:ext cx="110943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Dropout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 txBox="1"/>
          <p:nvPr/>
        </p:nvSpPr>
        <p:spPr>
          <a:xfrm>
            <a:off x="11002975" y="6382512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4/25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 txBox="1"/>
          <p:nvPr/>
        </p:nvSpPr>
        <p:spPr>
          <a:xfrm>
            <a:off x="548640" y="6382512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2 · Backprop и PyTorch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 txBox="1"/>
          <p:nvPr/>
        </p:nvSpPr>
        <p:spPr>
          <a:xfrm>
            <a:off x="1468738" y="1556650"/>
            <a:ext cx="4875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-2500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" name="Google Shape;294;p15"/>
          <p:cNvSpPr txBox="1"/>
          <p:nvPr/>
        </p:nvSpPr>
        <p:spPr>
          <a:xfrm>
            <a:off x="620725" y="1833250"/>
            <a:ext cx="4955100" cy="9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295" name="Google Shape;29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725" y="1804475"/>
            <a:ext cx="7589969" cy="3249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"/>
          <p:cNvSpPr txBox="1"/>
          <p:nvPr/>
        </p:nvSpPr>
        <p:spPr>
          <a:xfrm>
            <a:off x="548640" y="292608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Переобучение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 txBox="1"/>
          <p:nvPr/>
        </p:nvSpPr>
        <p:spPr>
          <a:xfrm>
            <a:off x="548640" y="621792"/>
            <a:ext cx="110943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Dropout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6"/>
          <p:cNvSpPr txBox="1"/>
          <p:nvPr/>
        </p:nvSpPr>
        <p:spPr>
          <a:xfrm>
            <a:off x="11002975" y="6382512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4/25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 txBox="1"/>
          <p:nvPr/>
        </p:nvSpPr>
        <p:spPr>
          <a:xfrm>
            <a:off x="548640" y="6382512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2 · Backprop и PyTorch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 txBox="1"/>
          <p:nvPr/>
        </p:nvSpPr>
        <p:spPr>
          <a:xfrm>
            <a:off x="1468738" y="1556650"/>
            <a:ext cx="4875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-2500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" name="Google Shape;306;p16"/>
          <p:cNvSpPr txBox="1"/>
          <p:nvPr/>
        </p:nvSpPr>
        <p:spPr>
          <a:xfrm>
            <a:off x="620725" y="1833250"/>
            <a:ext cx="4955100" cy="9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cxnSp>
        <p:nvCxnSpPr>
          <p:cNvPr id="307" name="Google Shape;307;p16"/>
          <p:cNvCxnSpPr/>
          <p:nvPr/>
        </p:nvCxnSpPr>
        <p:spPr>
          <a:xfrm flipH="1" rot="10800000">
            <a:off x="1188640" y="1913955"/>
            <a:ext cx="1965900" cy="3657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8" name="Google Shape;308;p16"/>
          <p:cNvCxnSpPr/>
          <p:nvPr/>
        </p:nvCxnSpPr>
        <p:spPr>
          <a:xfrm>
            <a:off x="1188640" y="2279655"/>
            <a:ext cx="1965900" cy="5487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9" name="Google Shape;309;p16"/>
          <p:cNvCxnSpPr>
            <a:endCxn id="310" idx="2"/>
          </p:cNvCxnSpPr>
          <p:nvPr/>
        </p:nvCxnSpPr>
        <p:spPr>
          <a:xfrm>
            <a:off x="1188738" y="2279773"/>
            <a:ext cx="1965900" cy="16458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p16"/>
          <p:cNvCxnSpPr/>
          <p:nvPr/>
        </p:nvCxnSpPr>
        <p:spPr>
          <a:xfrm flipH="1" rot="10800000">
            <a:off x="1188640" y="1913955"/>
            <a:ext cx="1965900" cy="12801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" name="Google Shape;312;p16"/>
          <p:cNvCxnSpPr/>
          <p:nvPr/>
        </p:nvCxnSpPr>
        <p:spPr>
          <a:xfrm flipH="1" rot="10800000">
            <a:off x="1188640" y="2828355"/>
            <a:ext cx="1965900" cy="3657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3" name="Google Shape;313;p16"/>
          <p:cNvCxnSpPr>
            <a:endCxn id="310" idx="2"/>
          </p:cNvCxnSpPr>
          <p:nvPr/>
        </p:nvCxnSpPr>
        <p:spPr>
          <a:xfrm>
            <a:off x="1188738" y="3194173"/>
            <a:ext cx="1965900" cy="731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" name="Google Shape;314;p16"/>
          <p:cNvCxnSpPr/>
          <p:nvPr/>
        </p:nvCxnSpPr>
        <p:spPr>
          <a:xfrm flipH="1" rot="10800000">
            <a:off x="1188640" y="1913955"/>
            <a:ext cx="1965900" cy="21945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5" name="Google Shape;315;p16"/>
          <p:cNvCxnSpPr/>
          <p:nvPr/>
        </p:nvCxnSpPr>
        <p:spPr>
          <a:xfrm flipH="1" rot="10800000">
            <a:off x="1188640" y="2828355"/>
            <a:ext cx="1965900" cy="12801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6" name="Google Shape;316;p16"/>
          <p:cNvCxnSpPr>
            <a:endCxn id="310" idx="2"/>
          </p:cNvCxnSpPr>
          <p:nvPr/>
        </p:nvCxnSpPr>
        <p:spPr>
          <a:xfrm flipH="1" rot="10800000">
            <a:off x="1188738" y="3925573"/>
            <a:ext cx="1965900" cy="1830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7" name="Google Shape;317;p16"/>
          <p:cNvCxnSpPr/>
          <p:nvPr/>
        </p:nvCxnSpPr>
        <p:spPr>
          <a:xfrm>
            <a:off x="3657520" y="1913895"/>
            <a:ext cx="1965900" cy="3657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8" name="Google Shape;318;p16"/>
          <p:cNvCxnSpPr/>
          <p:nvPr/>
        </p:nvCxnSpPr>
        <p:spPr>
          <a:xfrm>
            <a:off x="3657520" y="1913895"/>
            <a:ext cx="1965900" cy="12801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9" name="Google Shape;319;p16"/>
          <p:cNvCxnSpPr/>
          <p:nvPr/>
        </p:nvCxnSpPr>
        <p:spPr>
          <a:xfrm>
            <a:off x="3657520" y="1913895"/>
            <a:ext cx="1965900" cy="21945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0" name="Google Shape;320;p16"/>
          <p:cNvCxnSpPr/>
          <p:nvPr/>
        </p:nvCxnSpPr>
        <p:spPr>
          <a:xfrm flipH="1" rot="10800000">
            <a:off x="3657520" y="2279595"/>
            <a:ext cx="1965900" cy="5487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p16"/>
          <p:cNvCxnSpPr/>
          <p:nvPr/>
        </p:nvCxnSpPr>
        <p:spPr>
          <a:xfrm>
            <a:off x="3657520" y="2828295"/>
            <a:ext cx="1965900" cy="3657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2" name="Google Shape;322;p16"/>
          <p:cNvCxnSpPr/>
          <p:nvPr/>
        </p:nvCxnSpPr>
        <p:spPr>
          <a:xfrm>
            <a:off x="3657520" y="2828295"/>
            <a:ext cx="1965900" cy="12801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3" name="Google Shape;323;p16"/>
          <p:cNvCxnSpPr>
            <a:stCxn id="310" idx="6"/>
          </p:cNvCxnSpPr>
          <p:nvPr/>
        </p:nvCxnSpPr>
        <p:spPr>
          <a:xfrm flipH="1" rot="10800000">
            <a:off x="3657438" y="2279773"/>
            <a:ext cx="1965900" cy="16458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4" name="Google Shape;324;p16"/>
          <p:cNvCxnSpPr>
            <a:stCxn id="310" idx="6"/>
          </p:cNvCxnSpPr>
          <p:nvPr/>
        </p:nvCxnSpPr>
        <p:spPr>
          <a:xfrm flipH="1" rot="10800000">
            <a:off x="3657438" y="3194173"/>
            <a:ext cx="1965900" cy="731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5" name="Google Shape;325;p16"/>
          <p:cNvCxnSpPr>
            <a:stCxn id="310" idx="6"/>
          </p:cNvCxnSpPr>
          <p:nvPr/>
        </p:nvCxnSpPr>
        <p:spPr>
          <a:xfrm>
            <a:off x="3657438" y="3925573"/>
            <a:ext cx="1965900" cy="1830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6" name="Google Shape;326;p16"/>
          <p:cNvSpPr/>
          <p:nvPr/>
        </p:nvSpPr>
        <p:spPr>
          <a:xfrm>
            <a:off x="438600" y="1828700"/>
            <a:ext cx="750000" cy="702300"/>
          </a:xfrm>
          <a:prstGeom prst="ellipse">
            <a:avLst/>
          </a:prstGeom>
          <a:solidFill>
            <a:srgbClr val="EEF3FD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x</a:t>
            </a:r>
            <a:r>
              <a:rPr b="1" baseline="-25000" lang="en-US" sz="2000"/>
              <a:t>1</a:t>
            </a:r>
            <a:endParaRPr b="1" baseline="-25000" sz="2000"/>
          </a:p>
        </p:txBody>
      </p:sp>
      <p:sp>
        <p:nvSpPr>
          <p:cNvPr id="327" name="Google Shape;327;p16"/>
          <p:cNvSpPr/>
          <p:nvPr/>
        </p:nvSpPr>
        <p:spPr>
          <a:xfrm>
            <a:off x="438800" y="2743100"/>
            <a:ext cx="750000" cy="702300"/>
          </a:xfrm>
          <a:prstGeom prst="ellipse">
            <a:avLst/>
          </a:prstGeom>
          <a:solidFill>
            <a:srgbClr val="EEF3FD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1" baseline="-25000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8" name="Google Shape;328;p16"/>
          <p:cNvSpPr/>
          <p:nvPr/>
        </p:nvSpPr>
        <p:spPr>
          <a:xfrm>
            <a:off x="492300" y="3857000"/>
            <a:ext cx="696300" cy="702300"/>
          </a:xfrm>
          <a:prstGeom prst="ellipse">
            <a:avLst/>
          </a:prstGeom>
          <a:solidFill>
            <a:srgbClr val="EEF3FD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x</a:t>
            </a:r>
            <a:r>
              <a:rPr b="1" baseline="-25000" lang="en-US" sz="1500">
                <a:solidFill>
                  <a:schemeClr val="dk1"/>
                </a:solidFill>
              </a:rPr>
              <a:t>784</a:t>
            </a:r>
            <a:endParaRPr b="1" sz="1500"/>
          </a:p>
        </p:txBody>
      </p:sp>
      <p:sp>
        <p:nvSpPr>
          <p:cNvPr id="329" name="Google Shape;329;p16"/>
          <p:cNvSpPr/>
          <p:nvPr/>
        </p:nvSpPr>
        <p:spPr>
          <a:xfrm>
            <a:off x="3154600" y="1662435"/>
            <a:ext cx="502800" cy="502800"/>
          </a:xfrm>
          <a:prstGeom prst="ellipse">
            <a:avLst/>
          </a:prstGeom>
          <a:solidFill>
            <a:srgbClr val="FF0000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330" name="Google Shape;330;p16"/>
          <p:cNvSpPr/>
          <p:nvPr/>
        </p:nvSpPr>
        <p:spPr>
          <a:xfrm>
            <a:off x="3154600" y="2576835"/>
            <a:ext cx="502800" cy="502800"/>
          </a:xfrm>
          <a:prstGeom prst="ellipse">
            <a:avLst/>
          </a:prstGeom>
          <a:solidFill>
            <a:srgbClr val="00FF00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310" name="Google Shape;310;p16"/>
          <p:cNvSpPr/>
          <p:nvPr/>
        </p:nvSpPr>
        <p:spPr>
          <a:xfrm>
            <a:off x="3154638" y="3674173"/>
            <a:ext cx="502800" cy="502800"/>
          </a:xfrm>
          <a:prstGeom prst="ellipse">
            <a:avLst/>
          </a:prstGeom>
          <a:solidFill>
            <a:srgbClr val="FF0000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32</a:t>
            </a:r>
            <a:endParaRPr b="1" sz="1200"/>
          </a:p>
        </p:txBody>
      </p:sp>
      <p:sp>
        <p:nvSpPr>
          <p:cNvPr id="331" name="Google Shape;331;p16"/>
          <p:cNvSpPr/>
          <p:nvPr/>
        </p:nvSpPr>
        <p:spPr>
          <a:xfrm>
            <a:off x="5623480" y="2028195"/>
            <a:ext cx="502800" cy="502800"/>
          </a:xfrm>
          <a:prstGeom prst="ellipse">
            <a:avLst/>
          </a:prstGeom>
          <a:solidFill>
            <a:srgbClr val="00FF00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/>
              <a:t>1</a:t>
            </a:r>
            <a:endParaRPr b="1" sz="1500"/>
          </a:p>
        </p:txBody>
      </p:sp>
      <p:sp>
        <p:nvSpPr>
          <p:cNvPr id="332" name="Google Shape;332;p16"/>
          <p:cNvSpPr/>
          <p:nvPr/>
        </p:nvSpPr>
        <p:spPr>
          <a:xfrm>
            <a:off x="5623480" y="2942595"/>
            <a:ext cx="502800" cy="502800"/>
          </a:xfrm>
          <a:prstGeom prst="ellipse">
            <a:avLst/>
          </a:prstGeom>
          <a:solidFill>
            <a:srgbClr val="FF0000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/>
              <a:t>2</a:t>
            </a:r>
            <a:endParaRPr b="1" sz="1500"/>
          </a:p>
        </p:txBody>
      </p:sp>
      <p:sp>
        <p:nvSpPr>
          <p:cNvPr id="333" name="Google Shape;333;p16"/>
          <p:cNvSpPr/>
          <p:nvPr/>
        </p:nvSpPr>
        <p:spPr>
          <a:xfrm>
            <a:off x="5623474" y="3857000"/>
            <a:ext cx="537600" cy="502800"/>
          </a:xfrm>
          <a:prstGeom prst="ellipse">
            <a:avLst/>
          </a:prstGeom>
          <a:solidFill>
            <a:srgbClr val="00FF00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10</a:t>
            </a:r>
            <a:endParaRPr b="1" sz="1300"/>
          </a:p>
        </p:txBody>
      </p:sp>
      <p:sp>
        <p:nvSpPr>
          <p:cNvPr id="334" name="Google Shape;334;p16"/>
          <p:cNvSpPr txBox="1"/>
          <p:nvPr/>
        </p:nvSpPr>
        <p:spPr>
          <a:xfrm>
            <a:off x="5842936" y="4963419"/>
            <a:ext cx="49863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b="0" i="1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Дя доо нейрона мы находили ∂L/∂ формулой напряую. Для сети из многих слоёв формулу «в лоб» для каждого веса не выпишешь — нужен систематический способ. Это и есть backpropagation.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5" name="Google Shape;335;p16"/>
          <p:cNvCxnSpPr>
            <a:stCxn id="331" idx="6"/>
          </p:cNvCxnSpPr>
          <p:nvPr/>
        </p:nvCxnSpPr>
        <p:spPr>
          <a:xfrm>
            <a:off x="6126280" y="2279595"/>
            <a:ext cx="487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" name="Google Shape;336;p16"/>
          <p:cNvCxnSpPr/>
          <p:nvPr/>
        </p:nvCxnSpPr>
        <p:spPr>
          <a:xfrm>
            <a:off x="6126400" y="3194055"/>
            <a:ext cx="487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7" name="Google Shape;337;p16"/>
          <p:cNvCxnSpPr/>
          <p:nvPr/>
        </p:nvCxnSpPr>
        <p:spPr>
          <a:xfrm>
            <a:off x="6126400" y="4108468"/>
            <a:ext cx="487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8" name="Google Shape;338;p16"/>
          <p:cNvSpPr txBox="1"/>
          <p:nvPr/>
        </p:nvSpPr>
        <p:spPr>
          <a:xfrm>
            <a:off x="6410650" y="1782050"/>
            <a:ext cx="4875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lang="en-US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 baseline="-2500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9" name="Google Shape;339;p16"/>
          <p:cNvSpPr txBox="1"/>
          <p:nvPr/>
        </p:nvSpPr>
        <p:spPr>
          <a:xfrm>
            <a:off x="6410650" y="2689988"/>
            <a:ext cx="4875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lang="en-US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1" baseline="-2500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Google Shape;340;p16"/>
          <p:cNvSpPr txBox="1"/>
          <p:nvPr/>
        </p:nvSpPr>
        <p:spPr>
          <a:xfrm>
            <a:off x="6410650" y="3597950"/>
            <a:ext cx="4875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lang="en-US" sz="20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b="1" baseline="-2500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16"/>
          <p:cNvSpPr txBox="1"/>
          <p:nvPr/>
        </p:nvSpPr>
        <p:spPr>
          <a:xfrm>
            <a:off x="3162313" y="3124150"/>
            <a:ext cx="4875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b="1" baseline="-2500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2" name="Google Shape;342;p16"/>
          <p:cNvSpPr txBox="1"/>
          <p:nvPr/>
        </p:nvSpPr>
        <p:spPr>
          <a:xfrm>
            <a:off x="693425" y="3330075"/>
            <a:ext cx="4875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b="1" baseline="-2500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p16"/>
          <p:cNvSpPr txBox="1"/>
          <p:nvPr/>
        </p:nvSpPr>
        <p:spPr>
          <a:xfrm>
            <a:off x="596700" y="4970888"/>
            <a:ext cx="4875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b="1" baseline="-2500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" name="Google Shape;344;p16"/>
          <p:cNvSpPr txBox="1"/>
          <p:nvPr/>
        </p:nvSpPr>
        <p:spPr>
          <a:xfrm>
            <a:off x="3108763" y="4612513"/>
            <a:ext cx="4875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b="1" baseline="-2500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45" name="Google Shape;345;p16"/>
          <p:cNvCxnSpPr>
            <a:stCxn id="343" idx="3"/>
            <a:endCxn id="329" idx="2"/>
          </p:cNvCxnSpPr>
          <p:nvPr/>
        </p:nvCxnSpPr>
        <p:spPr>
          <a:xfrm flipH="1" rot="10800000">
            <a:off x="1084200" y="1913888"/>
            <a:ext cx="2070300" cy="31953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6" name="Google Shape;346;p16"/>
          <p:cNvCxnSpPr>
            <a:stCxn id="343" idx="3"/>
            <a:endCxn id="330" idx="2"/>
          </p:cNvCxnSpPr>
          <p:nvPr/>
        </p:nvCxnSpPr>
        <p:spPr>
          <a:xfrm flipH="1" rot="10800000">
            <a:off x="1084200" y="2828288"/>
            <a:ext cx="2070300" cy="22809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7" name="Google Shape;347;p16"/>
          <p:cNvCxnSpPr>
            <a:stCxn id="343" idx="3"/>
            <a:endCxn id="310" idx="2"/>
          </p:cNvCxnSpPr>
          <p:nvPr/>
        </p:nvCxnSpPr>
        <p:spPr>
          <a:xfrm flipH="1" rot="10800000">
            <a:off x="1084200" y="3925688"/>
            <a:ext cx="2070300" cy="11835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8" name="Google Shape;348;p16"/>
          <p:cNvCxnSpPr>
            <a:stCxn id="344" idx="3"/>
            <a:endCxn id="331" idx="2"/>
          </p:cNvCxnSpPr>
          <p:nvPr/>
        </p:nvCxnSpPr>
        <p:spPr>
          <a:xfrm flipH="1" rot="10800000">
            <a:off x="3596263" y="2279713"/>
            <a:ext cx="2027100" cy="24711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9" name="Google Shape;349;p16"/>
          <p:cNvCxnSpPr>
            <a:stCxn id="344" idx="3"/>
            <a:endCxn id="332" idx="2"/>
          </p:cNvCxnSpPr>
          <p:nvPr/>
        </p:nvCxnSpPr>
        <p:spPr>
          <a:xfrm flipH="1" rot="10800000">
            <a:off x="3596263" y="3194113"/>
            <a:ext cx="2027100" cy="15567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0" name="Google Shape;350;p16"/>
          <p:cNvCxnSpPr>
            <a:stCxn id="344" idx="3"/>
            <a:endCxn id="333" idx="2"/>
          </p:cNvCxnSpPr>
          <p:nvPr/>
        </p:nvCxnSpPr>
        <p:spPr>
          <a:xfrm flipH="1" rot="10800000">
            <a:off x="3596263" y="4108513"/>
            <a:ext cx="2027100" cy="6423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7"/>
          <p:cNvSpPr txBox="1"/>
          <p:nvPr/>
        </p:nvSpPr>
        <p:spPr>
          <a:xfrm>
            <a:off x="548640" y="292608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Переобучение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7"/>
          <p:cNvSpPr txBox="1"/>
          <p:nvPr/>
        </p:nvSpPr>
        <p:spPr>
          <a:xfrm>
            <a:off x="548640" y="621792"/>
            <a:ext cx="110943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Batch Normalization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7"/>
          <p:cNvSpPr txBox="1"/>
          <p:nvPr/>
        </p:nvSpPr>
        <p:spPr>
          <a:xfrm>
            <a:off x="11002975" y="6382512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4/25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7"/>
          <p:cNvSpPr txBox="1"/>
          <p:nvPr/>
        </p:nvSpPr>
        <p:spPr>
          <a:xfrm>
            <a:off x="548640" y="6382512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2 · Backprop и PyTorch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7"/>
          <p:cNvSpPr txBox="1"/>
          <p:nvPr/>
        </p:nvSpPr>
        <p:spPr>
          <a:xfrm>
            <a:off x="1468738" y="1556650"/>
            <a:ext cx="4875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-2500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" name="Google Shape;361;p17"/>
          <p:cNvSpPr txBox="1"/>
          <p:nvPr/>
        </p:nvSpPr>
        <p:spPr>
          <a:xfrm>
            <a:off x="5842936" y="4963419"/>
            <a:ext cx="49863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b="0" i="1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Дя доо нейрона мы находили ∂L/∂ формулой напряую. Для сети из многих слоёв формулу «в лоб» для каждого веса не выпишешь — нужен систематический способ. Это и есть backpropagation.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2" name="Google Shape;36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0875" y="2679975"/>
            <a:ext cx="3689700" cy="307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67025" y="2590817"/>
            <a:ext cx="3962191" cy="3168027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7"/>
          <p:cNvSpPr txBox="1"/>
          <p:nvPr/>
        </p:nvSpPr>
        <p:spPr>
          <a:xfrm>
            <a:off x="1626725" y="1771188"/>
            <a:ext cx="4955100" cy="6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w = [0.5, 0.5, 1.0]</a:t>
            </a:r>
            <a:endParaRPr sz="1600"/>
          </a:p>
        </p:txBody>
      </p:sp>
      <p:sp>
        <p:nvSpPr>
          <p:cNvPr id="365" name="Google Shape;365;p17"/>
          <p:cNvSpPr txBox="1"/>
          <p:nvPr/>
        </p:nvSpPr>
        <p:spPr>
          <a:xfrm>
            <a:off x="7483425" y="1726613"/>
            <a:ext cx="4955100" cy="6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w = [-0.5, 0.25, 1.0]</a:t>
            </a:r>
            <a:endParaRPr sz="1600"/>
          </a:p>
        </p:txBody>
      </p:sp>
      <p:sp>
        <p:nvSpPr>
          <p:cNvPr id="366" name="Google Shape;366;p17"/>
          <p:cNvSpPr txBox="1"/>
          <p:nvPr/>
        </p:nvSpPr>
        <p:spPr>
          <a:xfrm>
            <a:off x="3448675" y="1267650"/>
            <a:ext cx="4955100" cy="6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Relu может резко обнулять значения, что приводит и резкому изменению распределения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