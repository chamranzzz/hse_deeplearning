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38"/>
  </p:notesMasterIdLst>
  <p:sldIdLst>
    <p:sldId id="256" r:id="rId2"/>
    <p:sldId id="29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6858000" cy="12192000"/>
  <p:embeddedFontLst>
    <p:embeddedFont>
      <p:font typeface="Calibri" panose="020F0502020204030204" pitchFamily="34" charset="0"/>
      <p:regular r:id="rId39"/>
      <p:bold r:id="rId40"/>
      <p:italic r:id="rId41"/>
      <p:boldItalic r:id="rId42"/>
    </p:embeddedFont>
    <p:embeddedFont>
      <p:font typeface="Cambria" panose="02040503050406030204" pitchFamily="18" charset="0"/>
      <p:regular r:id="rId43"/>
      <p:bold r:id="rId44"/>
      <p:italic r:id="rId45"/>
      <p:boldItalic r:id="rId46"/>
    </p:embeddedFont>
    <p:embeddedFont>
      <p:font typeface="Consolas" panose="020B0609020204030204" pitchFamily="49" charset="0"/>
      <p:regular r:id="rId47"/>
      <p:bold r:id="rId48"/>
      <p:italic r:id="rId49"/>
      <p:boldItalic r:id="rId50"/>
    </p:embeddedFont>
    <p:embeddedFont>
      <p:font typeface="Golos Text" panose="020B0604020202020204" charset="0"/>
      <p:regular r:id="rId51"/>
      <p:bold r:id="rId52"/>
    </p:embeddedFont>
    <p:embeddedFont>
      <p:font typeface="JetBrains Mono" panose="020B0604020202020204" charset="0"/>
      <p:regular r:id="rId53"/>
      <p:bold r:id="rId54"/>
      <p:italic r:id="rId55"/>
      <p:boldItalic r:id="rId56"/>
    </p:embeddedFont>
    <p:embeddedFont>
      <p:font typeface="Montserrat" panose="020B0604020202020204" charset="-52"/>
      <p:regular r:id="rId57"/>
      <p:bold r:id="rId58"/>
      <p:italic r:id="rId59"/>
      <p:boldItalic r:id="rId60"/>
    </p:embeddedFont>
    <p:embeddedFont>
      <p:font typeface="PT Serif" panose="020B0604020202020204" charset="-52"/>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89D54E-76E5-4D9E-A9EF-E7053C295400}">
  <a:tblStyle styleId="{2689D54E-76E5-4D9E-A9EF-E7053C2954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6309EA5-3D61-4596-AA48-24314E58F0C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font" Target="fonts/font25.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2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font" Target="fonts/font26.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
        <p:cNvGrpSpPr/>
        <p:nvPr/>
      </p:nvGrpSpPr>
      <p:grpSpPr>
        <a:xfrm>
          <a:off x="0" y="0"/>
          <a:ext cx="0" cy="0"/>
          <a:chOff x="0" y="0"/>
          <a:chExt cx="0" cy="0"/>
        </a:xfrm>
      </p:grpSpPr>
      <p:sp>
        <p:nvSpPr>
          <p:cNvPr id="15" name="Google Shape;1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 name="Google Shape;1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Вступление. Напомнить формат: сегодня — теория backprop + PyTorch-инструменты; на семинаре уже практиковали ручной градиентный спуск на PyTorch, сегодня — как это устроено внутри, на сетях из многих слоёв, и как это делать 'по-настоящему' с nn.Module и optim.</a:t>
            </a:r>
            <a:endParaRPr/>
          </a:p>
        </p:txBody>
      </p:sp>
      <p:sp>
        <p:nvSpPr>
          <p:cNvPr id="17" name="Google Shape;1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Центральная идея слайда: задача «оцифровки» реальности = извлечение измеримых признаков → вектор. Это то самое x, которое мы использовали в формулах на предыдущих и следующих слайдах — явно навести мостик.</a:t>
            </a:r>
            <a:endParaRPr/>
          </a:p>
        </p:txBody>
      </p:sp>
      <p:sp>
        <p:nvSpPr>
          <p:cNvPr id="117" name="Google Shape;1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h768901cf9af0f33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 name="Google Shape;40;h768901cf9af0f33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h768901cf9af0f33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h38a7142474f27964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h38a7142474f27964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h38a7142474f27964_0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h38a7142474f27964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h38a7142474f27964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h38a7142474f27964_0_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h38a7142474f27964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h38a7142474f27964_0_1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h38a7142474f27964_0_1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h38a7142474f27964_0_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h38a7142474f27964_0_1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h38a7142474f27964_0_1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h38a7142474f27964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h38a7142474f27964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h38a7142474f27964_0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h38a7142474f27964_0_1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h38a7142474f27964_0_1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h38a7142474f27964_0_1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h38a7142474f27964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h38a7142474f27964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h38a7142474f27964_0_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h38a7142474f27964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h38a7142474f27964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h38a7142474f27964_0_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h4cf7a8a6b4c5e8d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h4cf7a8a6b4c5e8da_0_0: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Главная мысль слайда: токенизация — это не одна операция, а конвейер. Именно так устроена библиотека Hugging Face tokenizers: у неё есть компоненты normalizers, pre_tokenizers, models и post_processors. 1. Нормализация. Приводим текст к каноническому виду: Unicode-нормализация NFKC (лигатура «ﬁ» становится «fi», «полноширинные» цифры — обычными), иногда нижний регистр (BERT-uncased), удаление лишних пробелов, иногда замена «ё» на «е». Каждое такое решение — потеря информации: после lowercase «Мир» (журнал) и «мир» неразличимы. 2. Претокенизация. Грубая нарезка на «слова» по пробелам и пунктуации, обычно регулярным выражением. Она нужна, чтобы алгоритм на следующем шаге не склеивал куски через границы слов (иначе появятся токены вроде «ет, п»). 3. Модель токенизации. Здесь работает BPE, WordPiece или Unigram: частые слова остаются целиком («привет»), редкие режутся на подслова («эмб · ед · динги»). Это и есть обучаемая часть токенизатора: словарь и правила разбиения выучиваются на корпусе. 4. Постобработка. Добавляются служебные токены: начало и конец последовательности, у BERT — [CLS] и [SEP]. 5. Индексы. Каждый токен заменяется номером в словаре; дальше номер превращается в строку матрицы эмбеддингов размера V × d. Это ровно тот one-hot, который вы уже разбирали, только реализованный как выбор строки (подробно — в блоке 03). Вопрос аудитории: «Что произойдёт, если обучить модель с одним токенизатором, а на инференсе подать текст, токенизированный другим?» Ответ: номера будут указывать на чужие строки матрицы, модель получит бессмыслицу. Токенизатор — неотъемлемая часть модели, их всегда распространяют вместе.</a:t>
            </a:r>
            <a:endParaRPr/>
          </a:p>
        </p:txBody>
      </p:sp>
      <p:sp>
        <p:nvSpPr>
          <p:cNvPr id="208" name="Google Shape;208;h4cf7a8a6b4c5e8da_0_0: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h4cf7a8a6b4c5e8da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h4cf7a8a6b4c5e8da_0_8: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Три проблемы словаря из целых слов. 1. Незнакомые слова (OOV, out-of-vocabulary). Словарь строится один раз на обучающем корпусе. Всё, чего в нём не было, — новые термины, фамилии, сленг, опечатки («превет»), — превращается в единый токен &lt;UNK&gt;. Хуже того, два совершенно разных незнакомых слова становятся для модели одинаковыми. Пример для аудитории: фамилии студентов в группе — сколько из них окажется в словаре новостной модели? 2. Длинный хвост. Закон Ципфа: частота слова примерно обратно пропорциональна его рангу в частотном списке. Несколько сотен самых частых слов покрывают большую часть любого текста, а примерно половина различных слов корпуса (hapax legomena) встречается ровно один раз. Значит, если взять в словарь все слова, большинство строк матрицы эмбеддингов будут обучены по одному-двум примерам, то есть почти никак. Если обрезать словарь по частоте — растёт доля &lt;UNK&gt;. 3. Морфология. В русском у существительного 12 грамматических «ячеек» (6 падежей × 2 числа), у «стола» это 10 различных форм. У глагола с причастиями и деепричастиями — больше сотни форм. Словарь из словоформ раздувается в разы, а модель должна отдельно выучить, что «столами» и «столом» — про одно и то же, при том что редкие формы встречаются редко. Вопрос аудитории: «Как бы вы решали проблему форм слова до нейросетей?» — подводит к следующему слайду про стемминг и лемматизацию.</a:t>
            </a:r>
            <a:endParaRPr/>
          </a:p>
        </p:txBody>
      </p:sp>
      <p:sp>
        <p:nvSpPr>
          <p:cNvPr id="217" name="Google Shape;217;h4cf7a8a6b4c5e8da_0_8: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h4cf7a8a6b4c5e8da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h4cf7a8a6b4c5e8da_0_27: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Классический ответ на проблему словоформ — свести их к одной нормальной форме. Стемминг — правиловое отсечение окончаний и суффиксов (Snowball/Porter для русского есть, например, в nltk). Быстро, без словаря, но грубо: супплетивные формы («шёл» — «идти», «люди» — «человек») не связываются, а разные слова иногда склеиваются в одну основу. Лемматизация — приведение к словарной форме с помощью морфологического анализатора: pymorphy3 (словарь OpenCorpora) или mystem от Яндекса. Точнее, но медленнее и спотыкается на омонимии: «стали» — это форма глагола «стать» или существительного «сталь»? Без контекста не решить. Где это до сих пор полезно: TF-IDF плюс линейная модель на небольших данных, полнотекстовый поиск, подсчёт статистик по корпусу. Для мешка слов лемматизация часто заметно улучшает качество, потому что сокращает словарь и объединяет редкие формы. Цена — на слайде. Для русского падеж кодирует, кто субъект, а кто объект: «Собака укусила человека» и «Собаку укусил человек» после лемматизации дают одинаковый набор лемм. Мы выбросили информацию, которая нужна для понимания смысла. Мостик к дальнейшему. Subword-токенизация, о которой дальше, решает задачу иначе: вместо того чтобы выбрасывать окончания, она делает их отдельными токенами («укусил» + «а»). Словарь остаётся компактным, а грамматика остаётся во входе — модель может научиться ею пользоваться.</a:t>
            </a:r>
            <a:endParaRPr/>
          </a:p>
        </p:txBody>
      </p:sp>
      <p:sp>
        <p:nvSpPr>
          <p:cNvPr id="234" name="Google Shape;234;h4cf7a8a6b4c5e8da_0_27: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h4cf7a8a6b4c5e8da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h4cf7a8a6b4c5e8da_0_50: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Главный компромисс токенизации: размер словаря против длины последовательности. Символы. Словарь крошечный (для русского с латиницей, цифрами и пунктуацией — пара сотен символов), незнакомых токенов не бывает вообще. Но последовательности получаются в 4–6 раз длиннее, чем в словах, а отдельный символ почти ничего не значит: модели приходится самой «собирать» слова из букв. Для RNN, которые будут на следующей лекции, это значит очень длинные зависимости; для трансформеров — квадратичный рост стоимости внимания. Слова. Короткие последовательности, каждый токен осмыслен, но словарь огромен, а проблемы прошлого слайда никуда не деваются. Подслова. Словарь фиксированного размера (обычно десятки тысяч), частые слова — один токен, редкие собираются из 2–4 кусков, незнакомых токенов почти не бывает (а в byte-level вариантах — не бывает совсем). Это то, что используют практически все современные языковые модели. Полезная цифра про стоимость словаря: матрица эмбеддингов GPT-2 small — это 50 257 × 768 ≈ 38,6 млн параметров из примерно 124 млн, почти треть модели. Размер словаря — это не бесплатный параметр. Вопрос аудитории: «Почему бы не взять словарь из миллиона подслов?» Ответ: матрица эмбеддингов (и выходной слой языковой модели) станет огромной, а большинство редких токенов будут плохо обучены — снова проблема длинного хвоста.</a:t>
            </a:r>
            <a:endParaRPr/>
          </a:p>
        </p:txBody>
      </p:sp>
      <p:sp>
        <p:nvSpPr>
          <p:cNvPr id="258" name="Google Shape;258;h4cf7a8a6b4c5e8da_0_50: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h4cf7a8a6b4c5e8da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h4cf7a8a6b4c5e8da_0_58: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BPE — самый популярный алгоритм subword-токенизации: его используют GPT-2, GPT-3, GPT-4, RoBERTa, Llama. Идея очень простая и снизу вверх: начинаем с символов и жадно склеиваем то, что чаще всего стоит рядом. 1. Корпус представляем как частотный словарь слов (после претокенизации), каждое слово — последовательность символов. 2. Считаем частоты всех пар соседних токенов, взвешивая частотой слова. 3. Самую частую пару склеиваем в новый токен во всём корпусе и записываем правило слияния (merge). 4. Повторяем. Число слияний — гиперпараметр: размер итогового словаря = базовые символы + число слияний. История. Алгоритм придумал Филип Гейдж в 1994 году как метод сжатия данных: заменять самую частую пару байтов неиспользуемым байтом. В 2016 году Зеннрих, Хэддоу и Бёрч («Neural Machine Translation of Rare Words with Subword Units») применили ту же идею к словам, чтобы нейросетевой перевод справлялся с редкими словами и составными словами в немецком. Технические детали, которые стоит упомянуть: • Границы слов. В оригинальной статье к концу слова добавляли маркер &lt;/w&gt;; в GPT-2 пробел приклеивается к началу следующего слова (в словаре его видно как «Ġ»); в SentencePiece пробел заменяется символом «▁». Иначе токен «ст» в начале слова и в середине был бы неразличим. • Результат обучения — именно упорядоченный список слияний (плюс словарь). Порядок важен: при токенизации нового текста слияния применяются в том порядке, в котором выучены. • Наивная реализация пересчитывает все пары на каждом шаге; быстрые реализации обновляют счётчики инкрементально. Переход: «Давайте проведём три шага BPE руками на доске».</a:t>
            </a:r>
            <a:endParaRPr/>
          </a:p>
        </p:txBody>
      </p:sp>
      <p:sp>
        <p:nvSpPr>
          <p:cNvPr id="267" name="Google Shape;267;h4cf7a8a6b4c5e8da_0_58: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h4cf7a8a6b4c5e8da_0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h4cf7a8a6b4c5e8da_0_78: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Этот пример удобно провести на доске вместе со студентами. Все числа проверены кодом из семинара. Шаг 0. Каждое слово — последовательность символов, частоты слов: кот 5, коты 3, котик 2, рот 4, роты 2. Шаг 1. Считаем пары, умножая на частоту слова. Пара (о, т) есть во всех пяти словах: 5 + 3 + 2 + 4 + 2 = 16. (к, о) — в «кот», «коты», «котик»: 10. (р, о) — 6. (т, ы) — 3 + 2 = 5. (т, и) и (и, к) — по 2. Побеждает (о, т): появляется токен «от». Студенты часто ожидают, что первым склеится «кот» целиком, — хороший момент обратить внимание: BPE смотрит только на пары и только на частоты. Шаг 2. Пересчитываем пары уже с новым токеном: (к, от) = 10, (р, от) = 6, (от, ы) = 5, (от, и) = 2. Сливаем «к» + «от» → «кот». Шаг 3. (р, от) = 6 — максимум, получаем «рот». Шаг 4. (кот, ы) = 3 больше, чем (кот, и), (и, к) и (рот, ы) — по 2. Получаем токен «коты». Итоговый словарь после четырёх слияний: базовые символы к, о, т, ы, и, р плюс от, кот, рот, коты. Список слияний (о+т, к+от, р+от, кот+ы) — это и есть обученный токенизатор. Вопрос аудитории: «Какое слияние будет пятым?» Ответ: три пары с частотой 2 — (кот, и), (и, к), (рот, ы). Ничья, и результат зависит от реализации (например, какая пара встретилась первой). Хороший повод сказать, что у реальных токенизаторов такие детали реализации тоже влияют на итоговый словарь.</a:t>
            </a:r>
            <a:endParaRPr/>
          </a:p>
        </p:txBody>
      </p:sp>
      <p:sp>
        <p:nvSpPr>
          <p:cNvPr id="288" name="Google Shape;288;h4cf7a8a6b4c5e8da_0_78: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h4cf7a8a6b4c5e8da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h4cf7a8a6b4c5e8da_0_92: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Как токенизатор применяет выученные правила к новому тексту. Слово разбивается на символы, затем правила слияния применяются строго в порядке обучения: сначала все «о+т», потом все «к+от» и так далее. котов: к·о·т·о·в → (о+т) к·от·о·в → (к+от) кот·о·в. Других применимых правил нет. Знакомая основа «кот» стала одним токеном, окончание «ов» ушло символами. Модель видит связь с «кот», хотя слова «котов» в корпусе не было. ротик: р·о·т·и·к → р·от·и·к → рот·и·к. Слова не было в корпусе, но токенизатор не выдаёт &lt;UNK&gt; — он собирает слово из того, что знает. Это главное преимущество subword-подхода. коты: к·о·т·ы → к·от·ы → кот·ы → коты. Частое слово выучено целиком. торт: т·о·р·т. Здесь нет соседних «о» и «т», поэтому ни одно правило не сработало и слово распалось на символы. Это нормальная ситуация для редких слов при маленьком словаре: последовательность становится длиннее, но информация не теряется. Важная оговорка. В реальном токенизаторе десятки тысяч слияний, и «торт» почти наверняка был бы одним токеном. Пример показывает механизм, а не реальное поведение. Вопрос аудитории: «Почему „котов“ не стал „к·о·т·о·в“?» — проверка, что студенты поняли порядок применения правил. И второй: «Что будет с последовательностями, если увеличить число слияний?» Ответ: токены станут длиннее, последовательности — короче, словарь — больше.</a:t>
            </a:r>
            <a:endParaRPr/>
          </a:p>
        </p:txBody>
      </p:sp>
      <p:sp>
        <p:nvSpPr>
          <p:cNvPr id="303" name="Google Shape;303;h4cf7a8a6b4c5e8da_0_92: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h4cf7a8a6b4c5e8da_0_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h4cf7a8a6b4c5e8da_0_122: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Три алгоритма отличаются тем, как строят словарь и как режут новое слово. BPE (Sennrich et al., 2016). Снизу вверх, сливает самую частую пару. Новое слово режется применением слияний в порядке обучения. Используется в GPT-2/3/4, RoBERTa, Llama 3 (в byte-level варианте, см. следующий слайд), а Llama 1 и 2 использовали BPE через SentencePiece. WordPiece (Schuster &amp; Nakajima, 2012; придумали для японского и корейского голосового поиска в Google, позже взяли в BERT). Тоже снизу вверх, но выбирает не самую частую пару, а ту, что сильнее всего повышает правдоподобие корпуса. В формулировке курса Hugging Face score = freq(ab) / (freq(a) · freq(b)): пара предпочитается, если её части редко встречаются по отдельности. Частая пара из частых токенов («и» + «в») может проиграть более «специфической» паре. Продолжение слова помечается префиксом «##»: «эмбеддинги» → «эм», «##бед», «##динги». Новое слово режется жадно: ищем самый длинный префикс из словаря, отрезаем, повторяем. Unigram LM (Kudo, 2018). Сверху вниз: стартуем с большого словаря (все частые подстроки), каждому токену сопоставлена вероятность, разбиение слова — это последовательность токенов с максимальным произведением вероятностей (ищется алгоритмом Витерби). Итеративно (EM) удаляем токены, без которых правдоподобие корпуса падает меньше всего. Плюс: можно сэмплировать разные разбиения одного слова — subword regularization, своего рода аугментация для устойчивости модели. SentencePiece (Kudo &amp; Richardson, 2018) — библиотека от Google, которая реализует BPE и Unigram прямо на сыром тексте, без внешней претокенизации: пробел считается обычным символом и кодируется «▁». Поэтому она одинаково работает для языков без пробелов (японский, китайский, тайский). Токенизатор полностью обратим: из токенов можно точно восстановить исходный текст. Вопрос аудитории: «Что общего у всех трёх?» Ответ: все строят словарь фиксированного размера по статистике корпуса, и все дают частым словам один токен, а редким — несколько.</a:t>
            </a:r>
            <a:endParaRPr/>
          </a:p>
        </p:txBody>
      </p:sp>
      <p:sp>
        <p:nvSpPr>
          <p:cNvPr id="334" name="Google Shape;334;h4cf7a8a6b4c5e8da_0_122: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h4cf7a8a6b4c5e8da_0_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h4cf7a8a6b4c5e8da_0_130: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Byte-level BPE (появился в GPT-2, Radford et al., 2019). Вместо символов Юникода базовым алфавитом служат 256 возможных значений байта. Любой текст в UTF-8 — это последовательность байтов, поэтому любую строку можно токенизировать без &lt;UNK&gt;: в худшем случае она распадётся на отдельные байты. Это красиво решает проблему редких символов: эмодзи, иероглифов, математических знаков. Цена для русского. В UTF-8 латинская буква занимает 1 байт, кириллическая — 2 (например, «Ж» = U+0416 = байты D0 96), эмодзи — 4. Если в корпусе, на котором учили токенизатор, мало русского текста, слияний для кириллических байтов будет мало, и русское слово распадётся на много токенов. Это и есть «налог на язык» со следующего слайда. Забавная деталь для демонстрации. Чтобы байты было удобно хранить в словаре как строки, GPT-2 отображает каждый байт в печатный символ. Пробел становится «Ġ», поэтому « hello» в словаре выглядит как «Ġhello». А «Привет» внутри словаря GPT-2 выглядит как «ÐŁÑĢÐ¸Ð²ÐµÑĤ» — студенты, заглянувшие в vocab.json, часто думают, что файл сломан. Ещё одна деталь: перед BPE текст режется регулярным выражением по классам символов (буквы, цифры, пунктуация, пробелы), чтобы слияния не склеивали, например, слово с точкой. Таблица размеров словарей: BERT-base — 30 522 токена (WordPiece), GPT-2 — 50 257, Llama 3 — 128 256, у GPT-4o токенизатор o200k_base примерно на 200 тысяч токенов. Тренд: словари растут, потому что модели многоязычные и большие словари лучше сжимают текст на разных языках.</a:t>
            </a:r>
            <a:endParaRPr/>
          </a:p>
        </p:txBody>
      </p:sp>
      <p:sp>
        <p:nvSpPr>
          <p:cNvPr id="343" name="Google Shape;343;h4cf7a8a6b4c5e8da_0_130: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h4cf7a8a6b4c5e8da_0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h4cf7a8a6b4c5e8da_0_144: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Тот же самый смысл на разных языках стоит разное число токенов. Petrov et al. (NeurIPS 2023, «Language Model Tokenizers Introduce Unfairness Between Languages») сравнили токенизацию параллельных текстов и нашли, что длина одного и того же текста в токенах может различаться до 15 раз для некоторых пар языков. Даже у моделей, работающих на символах или байтах, разница превышает 4 раза для некоторых пар. Почему это важно на практике: • Деньги. API языковых моделей тарифицирует токены, значит один и тот же запрос на русском может стоить дороже, чем на английском. • Контекст. Окно модели измеряется в токенах: если текст «раздувается», в контекст влезает меньше смысла. • Скорость. Генерация идёт по одному токену за шаг, больше токенов — дольше ответ. • Качество. Слова, разбитые на много мелких кусков, модели обрабатывать труднее. Как провести демонстрацию (3–5 минут). Вставьте пару фраз в веб-инструмент для сравнения токенизаторов (tiktokenizer или Space «tokenizer-comparison» на Hugging Face) либо запустите код: import tiktoken enc = tiktoken.get_encoding("o200k_base") # или "gpt2", "cl100k_base" len(enc.encode("Кошка спит на тёплом подоконнике")) Для токенизаторов с Hugging Face: AutoTokenizer.from_pretrained(имя_модели), затем len(tok.tokenize(text)). Чтобы отношение было устойчивым, лучше взять параллельный абзац (например, одну статью Википедии на двух языках), а не одну фразу. Метрика, которую стоит ввести: fertility — среднее число токенов на слово. Перед измерением попросите студентов предсказать результат. Обычно они угадывают, что русский «дороже», но удивляются масштабу у старых токенизаторов. Токенизаторы с большими многоязычными словарями обычно сокращают разрыв — пусть студенты проверят это сами, а не верят на слово. Таблица на слайде специально пустая: заполните её на лекции.</a:t>
            </a:r>
            <a:endParaRPr/>
          </a:p>
        </p:txBody>
      </p:sp>
      <p:sp>
        <p:nvSpPr>
          <p:cNvPr id="358" name="Google Shape;358;h4cf7a8a6b4c5e8da_0_144: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h4cf7a8a6b4c5e8da_0_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h4cf7a8a6b4c5e8da_0_160: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Четыре наблюдения, которые обычно вызывают живой интерес, потому что студенты сталкивались с ними в чат-ботах. 1. Подсчёт букв. Классический вопрос «сколько букв r в слове strawberry» долго ставил модели в тупик. Причина в токенизации: модель получает на вход несколько токенов (например, «str», «aw», «berry» — точное разбиение зависит от токенизатора), и состав токена из букв для неё — не наблюдаемый факт, а знание, которое нужно было выучить косвенно. Демонстрация: показать разбиение слова в tiktokenizer. 2. Числа. У токенизатора cl100k_base (GPT-4) цифры при претокенизации группируются по три слева направо, поэтому «1234567» превращается в «123», «456», «7». Для одной и той же арифметической операции модель видит совершенно разные «слова» в зависимости от длины числа. В Llama 1 и 2 числа сознательно разбивали на отдельные цифры, чтобы модели было проще учиться арифметике. Вопрос аудитории: «Как бы вы токенизировали числа для модели, которая должна хорошо складывать?» 3. Пробелы. В BPE в стиле GPT пробел приклеивается к началу следующего слова: « hello» и «hello» — разные токены с разными эмбеддингами. Поэтому промпт, заканчивающийся пробелом, «ломает» привычное разбиение: модель видит отдельный токен пробела там, где обычно пробел был частью слова. 4. Glitch-токены. В 2023 году исследователи (Rumbelow и Watkins) нашли в словаре GPT-2/GPT-3 токены вроде « SolidGoldMagikarp» — это ник активного пользователя Reddit, который часто встречался в корпусе для обучения токенизатора, но почти не встречался в данных для обучения самой модели. В результате строка эмбеддинга этого токена почти не обновлялась, и модель реагировала на него непредсказуемо: не могла повторить слово, подменяла его другим. Это прямое следствие разреженного градиента эмбеддингов, о котором будет блок 03: строки, токены которых не встречаются в батчах, не учатся. Общий вывод: многие «странности» языковых моделей — не про «интеллект», а про то, на какие куски был порезан текст.</a:t>
            </a:r>
            <a:endParaRPr/>
          </a:p>
        </p:txBody>
      </p:sp>
      <p:sp>
        <p:nvSpPr>
          <p:cNvPr id="375" name="Google Shape;375;h4cf7a8a6b4c5e8da_0_160: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h4cf7a8a6b4c5e8da_0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h4cf7a8a6b4c5e8da_0_185: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Дистрибутивная гипотеза: слова, которые встречаются в похожих контекстах, имеют похожий смысл. Её формулировали Зеллиг Харрис (1954) и Джон Фёрс (1957, знаменитая фраза на слайде). Именно на ней стоит и word2vec, и всё, что на этом слайде. Построение. Идём окном по корпусу (здесь ±2 слова) и для каждого слова считаем, сколько раз рядом с ним встретилось каждое другое слово. Получается матрица «слово × контекст» размера V × V. Строка матрицы и есть вектор слова. На игрушечном корпусе из пяти предложений строки «кот» и «кошка» совпадают: оба пьют молоко и ловят мышь, поэтому косинус равен 1. У «студента» общий с «котом» только контекст «пьёт»: скалярное произведение 1, нормы 2 и √2, косинус 1 / (2√2) ≈ 0,35. Числа можно пересчитать с аудиторией. Сравнение с TF-IDF, который студенты уже знают. В TF-IDF матрица «термин × документ»: строки — слова, столбцы — документы, и обычно её используют для векторов документов (столбцов). Здесь столбцы — не документы, а соседние слова, и нас интересуют строки. Обе конструкции — подсчёт частот, разница в том, что считается «контекстом»: весь документ или окно из нескольких слов. Маленькое окно даёт сходство «по функции» (кот ~ кошка), большое — тематическое (кот ~ ветеринар). Проблемы сырой матрицы, которые решают следующие слайды: 1. Частые слова («и», «в», «на») встречаются рядом со всем подряд и доминируют в счётчиках → нужен PMI. 2. Матрица огромная (V × V, для словаря в 100 тыс. — 10 млрд ячеек) и почти вся из нулей → нужно сжатие до плотных векторов (SVD).</a:t>
            </a:r>
            <a:endParaRPr/>
          </a:p>
        </p:txBody>
      </p:sp>
      <p:sp>
        <p:nvSpPr>
          <p:cNvPr id="394" name="Google Shape;394;h4cf7a8a6b4c5e8da_0_185: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h4cf7a8a6b4c5e8da_0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 name="Google Shape;414;h4cf7a8a6b4c5e8da_0_207: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Pointwise mutual information — поточечная взаимная информация. Числитель — как часто слово w и контекст c реально встречаются вместе, знаменатель — как часто они встречались бы вместе, будь они независимы. Логарифм отношения: 0 — независимы, положительное значение — притягиваются, отрицательное — избегают друг друга. Основание логарифма не принципиально (обычно 2 или e). Оценка по счётчикам: P(w, c) = #(w, c) / N, P(w) = #(w) / N, P(c) = #(c) / N, где N — общее число пар (слово, контекст), #(w) и #(c) — суммы по строке и по столбцу матрицы. Пример, который можно посчитать на доске (числа условные). Пусть N = 1 000 000 пар, #(кот) = 1000, #(молоко) = 2000, #(кот, молоко) = 50. Тогда P(кот, молоко) = 5·10⁻⁵, а P(кот)·P(молоко) = 10⁻³ · 2·10⁻³ = 2·10⁻⁶. Отношение 25: «кот» и «молоко» встречаются вместе в 25 раз чаще случайного, PMI = log₂ 25 ≈ 4,6. Для пары «кот» + «и» отношение будет близко к 1, и PMI около нуля, хотя сырой счётчик у неё может быть огромным. Почему PPMI. Отрицательные значения PMI ненадёжны: чтобы уверенно сказать, что два слова «избегают» друг друга, нужен гигантский корпус. Для невстречавшихся пар PMI вообще равен минус бесконечности. Поэтому на практике отрицательные значения обнуляют: PPMI = max(0, PMI). Известный недостаток. PMI завышен для редких слов: если редкое слово встретилось один раз рядом с другим редким словом, отношение получится огромным. Типичное лекарство — сгладить распределение контекстов, возводя частоты в степень α = 0,75 перед нормировкой (Levy, Goldberg, Dagan, 2015). Это ровно тот же приём, что и в negative sampling у word2vec, где негативные слова сэмплируются пропорционально частоте в степени 3/4. Хороший крючок для слайда про связь word2vec и PMI.</a:t>
            </a:r>
            <a:endParaRPr/>
          </a:p>
        </p:txBody>
      </p:sp>
      <p:sp>
        <p:nvSpPr>
          <p:cNvPr id="415" name="Google Shape;415;h4cf7a8a6b4c5e8da_0_207: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h4cf7a8a6b4c5e8da_0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h4cf7a8a6b4c5e8da_0_268: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Ключевой теоретический результат блока, его стоит вывести на доске — это 5 минут и очень красиво. Целевая функция SGNS для одной пары (слово w, контекст c): log σ(w·c) + k · E[log σ(−w·c_N)], где негативные контексты c_N сэмплируются из распределения частот контекстов. Просуммируем по корпусу и соберём все слагаемые, где участвует конкретная пара (w, c): ℓ(w, c) = #(w, c) · log σ(x) + k · (#(w) · #(c) / |D|) · log σ(−x), где x = w·c, |D| — общее число пар. Будем считать x свободным параметром (так можно, если размерность векторов достаточно велика) и приравняем производную к нулю: #(w, c) · σ(−x) = k · #(w) · #(c) / |D| · σ(x). Так как σ(x) / σ(−x) = eˣ, получаем eˣ = #(w, c) · |D| / (k · #(w) · #(c)), то есть x = log [ #(w, c) · |D| / (#(w) · #(c)) ] − log k = PMI(w, c) − log k. Вывод: word2vec неявно строит матрицу W·Cᵀ, приближающую сдвинутую матрицу PMI. Подсчётные методы с SVD делают то же самое явно. Разница — в том, как именно приближать (взвешивание ошибок, низкий ранг, стохастическая оптимизация), а не в «предсказании против подсчёта». Оговорки, чтобы не переобобщать: точное равенство — в оптимуме при достаточной размерности; на практике размерность 100–300, и SGNS — это взвешенная низкоранговая факторизация. А если негативы сэмплируются по частоте в степени 3/4, получается PMI со сглаженным распределением контекстов. Практическое следствие (Levy, Goldberg, Dagan, 2015, «Improving Distributional Similarity with Lessons Learned from Word Embeddings»): многие «хитрости» word2vec — сглаживание распределения контекстов, сабсэмплинг частых слов, динамическое окно, сложение векторов слова и контекста — можно перенести в подсчётные методы, и тогда разница в качестве между алгоритмами во многом исчезает. Гиперпараметры важнее выбора алгоритма. Вопрос аудитории: «Что тогда даёт обучение нейросетью, если можно посчитать матрицу и сделать SVD?» Ответ: масштабируемость (не нужно хранить V × V), онлайн-обучение и, главное, возможность встроить эмбеддинги в большую модель и учить их под задачу.</a:t>
            </a:r>
            <a:endParaRPr/>
          </a:p>
        </p:txBody>
      </p:sp>
      <p:sp>
        <p:nvSpPr>
          <p:cNvPr id="438" name="Google Shape;438;h4cf7a8a6b4c5e8da_0_268: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h4cf7a8a6b4c5e8da_0_2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h4cf7a8a6b4c5e8da_0_283: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fastText (Bojanowski, Grave, Joulin, Mikolov, 2017, «Enriching Word Vectors with Subword Information») — это word2vec (skip-gram с negative sampling), в котором вектор слова собирается из векторов его символьных n-грамм. Как устроено. К слову добавляются маркеры начала и конца: «&lt;столом&gt;». Берутся все n-граммы длины от 3 до 6 плюс само слово целиком как отдельная единица. Вектор слова — сумма векторов этих единиц. Дальше обучение идёт как в обычном skip-gram, только градиент распределяется по векторам n-грамм. Пример на слайде. У «столом» и «столами» общие 3-граммы «&lt;ст», «сто», «тол» (и, конечно, общие 4-, 5-, 6-граммы вроде «&lt;стол»). Поэтому даже если «столами» в корпусе не было, его вектор окажется близок к вектору «столом». Маркеры границ важны: «тол» внутри слова и «&lt;тол» в начале слова («толпа») — разные n-граммы. Почему это хорошо для русского: формы одного слова делят основу и получают похожие векторы; редкие формы «подтягиваются» за счёт частых; опечатки («стлом») и новые слова получают осмысленный вектор, а не &lt;UNK&gt;. Память. Различных n-грамм очень много, поэтому их не хранят в словаре, а хешируют в фиксированное число «корзин» (по умолчанию 2 млн). Коллизии случаются, но на качество влияют слабо. Связь с блоком 01. Это та же идея, что в subword-токенизации, только на уровне эмбеддингов: вместо того чтобы делить слово на куски до модели, модель сама складывает вектор из кусков. Практика: готовые векторы fastText для 157 языков (включая русский, файл cc.ru.300.bin, обучены на Common Crawl и Википедии) грузятся через пакет fasttext или gensim. Не путать с классификатором fastText (Joulin et al., 2017, «Bag of Tricks»), который усредняет эмбеддинги слов и n-грамм и подаёт их в линейный слой — отличный бейзлайн для классификации текстов.</a:t>
            </a:r>
            <a:endParaRPr/>
          </a:p>
        </p:txBody>
      </p:sp>
      <p:sp>
        <p:nvSpPr>
          <p:cNvPr id="454" name="Google Shape;454;h4cf7a8a6b4c5e8da_0_283: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h4cf7a8a6b4c5e8da_0_3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h4cf7a8a6b4c5e8da_0_317: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Связываем эмбеддинги с тем, что студенты уже знают. Математически эмбеддинг-слой — это полносвязный слой без смещения, на вход которому подали one-hot вектор. Умножение строки-one-hot с единицей на позиции i на матрицу E размера V × d просто выбирает i-ю строку матрицы. Поэтому nn.Embedding(V, d) эквивалентен nn.Linear(V, d, bias=False) с весом W = Eᵀ, применённому к one-hot. Зачем тогда отдельный слой. Ради эффективности: вместо того чтобы хранить огромные разреженные one-hot векторы и умножать на них матрицу, PyTorch сразу берёт нужные строки по индексам. Цифры на слайде: батч из 32 последовательностей по 128 токенов при словаре 50 000 — это 32 · 128 · 50 000 чисел float32, то есть 819,2 млн байт ≈ 819 МБ только на вход. Те же данные как индексы int64 — 32 · 128 · 8 байт = 32 КБ. Разница в 25 000 раз, и умножения на нули тоже не нужны. Код на слайде можно запустить на лекции: последняя строка проверяет, что выбор строк и умножение one-hot на матрицу дают одно и то же. Формы тензоров: на вход — LongTensor индексов формы (батч, длина), на выход — (батч, длина, d). Строки матрицы по умолчанию инициализируются из N(0, 1). Матрица хранится в emb.weight и обучается как любой другой параметр. Вопрос аудитории: «Если это просто Linear, то какой у него градиент?» — подводка к следующему слайду и к формуле из домашки.</a:t>
            </a:r>
            <a:endParaRPr/>
          </a:p>
        </p:txBody>
      </p:sp>
      <p:sp>
        <p:nvSpPr>
          <p:cNvPr id="482" name="Google Shape;482;h4cf7a8a6b4c5e8da_0_317: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h4cf7a8a6b4c5e8da_0_4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h4cf7a8a6b4c5e8da_0_403: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Практический вопрос: откуда взять эмбеддинги для своей задачи. 1. С нуля. nn.Embedding(V, d) со случайной инициализацией, учится вместе со всей моделью. Хорошо, когда размеченных данных много (сотни тысяч примеров) или словарь специфичен и готовые векторы его не покрывают: исходный код, медицинские тексты, логи. Минус: на маленьком датасете редкие слова почти не обучатся. 2. Готовые и замороженные. Берём матрицу из word2vec / fastText / GloVe, обученных на большом корпусе, и не обновляем её: nn.Embedding.from_pretrained(W, freeze=True). Это перенос знаний: модель сразу «знает», что «отличный» и «превосходный» похожи, даже если в обучающей выборке встретилось только одно из них. Особенно полезно при малом объёме данных. Минус: векторы не подстроены под задачу (например, для анализа тональности «хороший» и «плохой» слишком близки, см. блок 04). 3. Готовые с дообучением. Стартуем с готовых и разрешаем градиенту их менять (freeze=False), часто с меньшим learning rate для слоя эмбеддингов, чем для остальной сети. Компромисс: используем знания из корпуса и адаптируемся под задачу. Риск: на маленьких данных модель «уводит» векторы слов из обучающей выборки, а векторы слов, которых в выборке не было, остаются прежними — и пространство «рассогласуется». Практическая деталь: словарь задачи и словарь готовых векторов не совпадают. Для слов, которых нет в готовых векторах, строки инициализируют случайно (с той же дисперсией, что у готовых) или нулями. fastText здесь удобнее, потому что умеет строить векторы для любых слов из n-грамм. Тизер на будущее (weight tying, Press &amp; Wolf, 2017). В языковой модели входной слой отображает токен в вектор, а выходной слой — вектор в распределение по словарю. Обе матрицы имеют размер V × d, и их можно сделать одной и той же матрицей: экономия параметров и часто лучшее качество. Так сделано, например, в GPT-2. Мостик к семинару: на семинаре сравним все три режима на задаче классификации.</a:t>
            </a:r>
            <a:endParaRPr/>
          </a:p>
        </p:txBody>
      </p:sp>
      <p:sp>
        <p:nvSpPr>
          <p:cNvPr id="535" name="Google Shape;535;h4cf7a8a6b4c5e8da_0_403: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h4cf7a8a6b4c5e8da_0_4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h4cf7a8a6b4c5e8da_0_433: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Два способа оценки. Внутренняя (intrinsic). Берём датасет пар слов с оценками сходства от людей и считаем корреляцию Спирмена между косинусами векторов и человеческими оценками. Классика: WordSim-353 и SimLex-999. Важная тонкость: SimLex-999 специально различает сходство (similarity) и связанность (relatedness). «Кофе» и «чашка» связаны, но не похожи; «кофе» и «чай» похожи. Эмбеддинги с большим окном хорошо ловят связанность и плохо — сходство. Для русского есть датасеты соревнования RUSSE (2015) по семантической близости. Второй вид внутренней оценки — аналогии (следующий слайд). Внешняя (extrinsic). Подставляем эмбеддинги в реальную модель (классификатор тональности, распознавание именованных сущностей, поиск) и меряем метрику этой задачи. Это и есть то, что нас интересует, но эксперимент дорогой, и результат зависит от модели поверх эмбеддингов. Главный вывод. Внутренние и внешние оценки часто плохо согласуются: эмбеддинги, лучшие на бенчмарках сходства, не обязательно лучшие в задаче (см., например, Chiu, Korhonen, Pyysalo, 2016, «Intrinsic Evaluation of Word Vectors Fails to Predict Extrinsic Performance»). Практическое правило: внутренние оценки — для быстрой проверки «не сломалось ли что-то», решение — по метрике своей задачи. Вопрос аудитории: «Для анализа тональности отзывов вам нужны эмбеддинги, где „хороший“ и „плохой“ близки или далеки?» — мостик к слайду про антонимы.</a:t>
            </a:r>
            <a:endParaRPr/>
          </a:p>
        </p:txBody>
      </p:sp>
      <p:sp>
        <p:nvSpPr>
          <p:cNvPr id="559" name="Google Shape;559;h4cf7a8a6b4c5e8da_0_433: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h4cf7a8a6b4c5e8da_0_4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h4cf7a8a6b4c5e8da_0_450: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Аналогии — самая известная демонстрация word2vec, и почти все студенты её видели. Важно показать, как именно она вычисляется и почему результаты нужно читать осторожно. Как считают (метод 3CosAdd). Вычисляем вектор x = v(король) − v(мужчина) + v(женщина) и ищем слово с максимальным косинусом к x. Ключевая деталь: при поиске исключают сами слова запроса — «король», «мужчина», «женщина». Так делает и исходный код word2vec, и gensim (most_similar с positive и negative возвращает результат уже без входных слов). Почему это важно. Разность векторов «женщина − мужчина» небольшая по сравнению с вектором «король», поэтому x почти всегда остаётся ближе всего к самому «королю». Если не исключать входные слова, во многих случаях ответом будет одно из них. Nissim, van Noord и van der Goot в статье с говорящим названием «Fair is Better than Sensational: Man is to Doctor as Woman is to Doctor» показали, что часть знаменитых «предвзятых» аналогий (man : doctor = woman : nurse) — артефакт этого ограничения: без исключения входных слов ответом было бы «doctor», модель вынуждают выбрать другое слово. Где аналогии действительно работают: частые и регулярные отношения — страна и столица, мужской и женский род, единственное и множественное число, время глагола, сравнительная степень. Для менее «чистых» отношений точность резко падает. Альтернатива: 3CosMul (Levy &amp; Goldberg, 2014, «Linguistic Regularities in Sparse and Explicit Word Representations») — вместо суммы косинусов используется их отношение, что уменьшает доминирование одного слагаемого и обычно повышает точность. На семинаре: студенты сами считают аналогию вручную через numpy без исключения входных слов и сравнивают с результатом gensim. Это запоминается гораздо лучше любого слайда.</a:t>
            </a:r>
            <a:endParaRPr/>
          </a:p>
        </p:txBody>
      </p:sp>
      <p:sp>
        <p:nvSpPr>
          <p:cNvPr id="577" name="Google Shape;577;h4cf7a8a6b4c5e8da_0_450: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h4cf7a8a6b4c5e8da_0_4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1" name="Google Shape;591;h4cf7a8a6b4c5e8da_0_464: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Два свойства статических эмбеддингов, которые прямо следуют из дистрибутивной гипотезы. Антонимы. «Горячий» и «холодный», «хороший» и «плохой», «купить» и «продать» встречаются в почти одинаковых контекстах: «горячий чай» и «холодный чай», «очень горячий» и «очень холодный». Поэтому их векторы близки, часто ближе, чем у синонимов. Косинус меряет похожесть употребления, а не совпадение смысла. Практическое следствие: для анализа тональности замороженные статические векторы могут мешать — «отличный» и «ужасный» для модели почти неразличимы, пока их не подстроят под задачу (дообучение, блок 03). Это стоит проверить на семинаре: similarity("горячий", "холодный") против similarity("горячий", "раскалённый"). Многозначность. У слова одна строка матрицы, независимо от числа значений. Вектор «замка» — это смесь «замка-здания» и «замка на двери», причём с весами, пропорциональными частоте значений в корпусе: если в корпусе почти одни новости о туризме, редкое значение почти пропадёт. Есть работы, показывающие, что вектор многозначного слова приближённо раскладывается в линейную комбинацию векторов отдельных значений (Arora et al., 2018, «Linear Algebraic Structure of Word Senses»). На семинаре: посмотреть ближайших соседей «замка» и «косы» и найти среди них слова, относящиеся к разным значениям. Как это решают. Контекстные эмбеддинги: вектор слова вычисляется заново для каждого предложения с учётом соседей. Первые известные примеры — ELMo (2018, на рекуррентных сетях) и BERT (2018, на трансформерах). Для них нужна модель, которая читает всё предложение, — и это прямая мотивация следующих лекций: сначала RNN, потом трансформеры.</a:t>
            </a:r>
            <a:endParaRPr/>
          </a:p>
        </p:txBody>
      </p:sp>
      <p:sp>
        <p:nvSpPr>
          <p:cNvPr id="592" name="Google Shape;592;h4cf7a8a6b4c5e8da_0_464: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h4cf7a8a6b4c5e8da_0_4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h4cf7a8a6b4c5e8da_0_483: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Короткая, но важная тема; хорошо работает как пятиминутная дискуссия. Bolukbasi et al. (2016) показали, что в векторах word2vec, обученных на новостях Google News, аналогии воспроизводят гендерные стереотипы о профессиях. Название статьи — собственно пример такой аналогии. (Оговорка с прошлого слайда про исключение слов запроса относится и сюда: часть эффекта — артефакт метода поиска; но смещения устойчиво видны и другими способами.) WEAT (Word Embedding Association Test, Caliskan, Bryson, Narayanan, Science 2017) — аналог психологического теста имплицитных ассоциаций (IAT): сравнивают, насколько одна группа слов (например, мужские имена) ближе к другой группе (например, «карьера»), чем к третьей («семья»). Тест воспроизвёл в эмбеддингах многие известные по психологическим исследованиям ассоциации. Gonen &amp; Goldberg (2019, «Lipstick on a Pig») показали, что популярные методы «устранения смещения» (проекция векторов на подпространство без «гендерного направления») убирают смещение по выбранной оси, но не по другим: слова со стереотипными ассоциациями по-прежнему кластеризуются вместе. Почему это важно на практике: эмбеддинги — входной слой для систем, которые принимают решения о людях (поиск, ранжирование резюме, модерация). Модель усиливает закономерности данных, включая нежелательные. Вопрос для обсуждения на слайде. Известный реальный пример — система ранжирования резюме, которую, по сообщению Reuters (2018), Amazon свернула после того, как она стала занижать оценки резюме, где встречалось слово «women’s». Ожидаемые ответы студентов: исторические данные отражают прошлые решения, а не «качество кандидата»; модель найдёт косвенные признаки (вузы, хобби, формулировки), даже если пол убрать; проверять нужно метрики по группам и отдельно аудировать признаки. Сформулировать для студентов вывод в одну фразу: эмбеддинги — это зеркало корпуса, а не нейтральное знание о языке.</a:t>
            </a:r>
            <a:endParaRPr/>
          </a:p>
        </p:txBody>
      </p:sp>
      <p:sp>
        <p:nvSpPr>
          <p:cNvPr id="612" name="Google Shape;612;h4cf7a8a6b4c5e8da_0_483: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h4cf7a8a6b4c5e8da_0_5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1" name="Google Shape;621;h4cf7a8a6b4c5e8da_0_505: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Идея эмбеддинга не ограничена словами: это любой выученный плотный вектор объекта, в котором похожие объекты оказываются рядом. Картинки — мостик к уже пройденным CNN. Возьмите обученную на ImageNet ResNet и отрежьте последний классифицирующий слой: выход предпоследнего слоя (для ResNet-50 — вектор длины 2048) и есть эмбеддинг картинки. Похожие картинки дают близкие векторы, поэтому поиск похожих изображений сводится к поиску ближайших соседей. Так же устроено распознавание лиц: сеть учат выдавать близкие векторы для фото одного человека (например, FaceNet с triplet loss). Хорошая фраза для студентов: «вы уже обучали эмбеддинги, просто не называли их так». Товары. item2vec (Barkan &amp; Koenigstein, 2016): последовательность товаров в сессии пользователя рассматривается как предложение, товары — как слова, и обычный skip-gram с negative sampling даёт векторы товаров. Товары, которые покупают в похожих контекстах, оказываются рядом — основа для рекомендаций «с этим товаром часто смотрят». Графы. node2vec (Grover &amp; Leskovec, 2016): генерируем случайные блуждания по графу, каждое блуждание — «предложение» из вершин, дальше снова skip-gram. Применения: социальные сети, графы знаний, предсказание связей. Текст и картинки. CLIP (Radford et al., 2021) учит два энкодера — для текста и для изображений — так, чтобы векторы картинки и её подписи были близки, а векторы несовпадающих пар — далеки (контрастивное обучение). В результате тексты и картинки живут в одном пространстве: можно искать картинки по текстовому запросу. Это тизер для будущих лекций. Общий принцип: объекты, которые встречаются в похожих контекстах или выполняют похожую роль, получают близкие векторы. Дистрибутивная гипотеза работает далеко за пределами лингвистики.</a:t>
            </a:r>
            <a:endParaRPr/>
          </a:p>
        </p:txBody>
      </p:sp>
      <p:sp>
        <p:nvSpPr>
          <p:cNvPr id="622" name="Google Shape;622;h4cf7a8a6b4c5e8da_0_505: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h4cf7a8a6b4c5e8da_0_5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h4cf7a8a6b4c5e8da_0_524: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Частая практическая задача: получить один вектор для предложения или документа, имея векторы слов. Самые простые способы — и, что удивительно, сильные бейзлайны. Среднее. Складываем векторы слов и делим на их число. Работает неплохо, но частые служебные слова вносят большой вклад и «размывают» вектор. Часто стоп-слова просто выкидывают перед усреднением. SIF (Smooth Inverse Frequency; Arora, Liang, Ma, ICLR 2017, «A Simple but Tough-to-Beat Baseline for Sentence Embeddings»). Два шага: 1. Взвешенное среднее: вес слова a / (a + p(w)), где p(w) — частота слова в корпусе, a — гиперпараметр порядка 10⁻³–10⁻⁴. Частые слова получают маленький вес, редкие — вес около 1. 2. Считаем первую главную компоненту по векторам всех предложений корпуса и вычитаем из каждого вектора его проекцию на неё. Эта компонента в основном отражает «общее направление» частых слов и синтаксиса, не связанное со смыслом конкретного предложения. На задачах семантической близости предложений SIF в своё время обходил многие сложные нейросетевые модели. Веса TF-IDF. То же взвешенное среднее, но веса берутся из TF-IDF — хороший способ связать новый материал с вашим слайдом про TF-IDF: «IDF уменьшает вклад слов, которые встречаются везде, — та же идея, что в SIF». Тизер: современные энкодеры предложений (sentence-transformers, для русского — модели вроде ruBERT-энкодеров и multilingual-e5) обучаются напрямую так, чтобы близкие по смыслу предложения имели близкие векторы. Для них есть русскоязычные бенчмарки — «Энкодечка» и ruMTEB. Главное ограничение всех трёх способов: сумма коммутативна, поэтому любая перестановка слов даёт тот же вектор. Через слайд покажем, почему это проблема.</a:t>
            </a:r>
            <a:endParaRPr/>
          </a:p>
        </p:txBody>
      </p:sp>
      <p:sp>
        <p:nvSpPr>
          <p:cNvPr id="642" name="Google Shape;642;h4cf7a8a6b4c5e8da_0_524: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h4cf7a8a6b4c5e8da_0_5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h4cf7a8a6b4c5e8da_0_544: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Студенты знают свёрточные сети для картинок, и TextCNN — самый естественный способ применить это знание к тексту, не дожидаясь RNN. Архитектура (Kim, 2014, «Convolutional Neural Networks for Sentence Classification»): 1. Предложение из n слов превращаем в матрицу n × d: каждая строка — эмбеддинг слова. 2. Свёртка одномерная, по оси «времени» (позиции в предложении): фильтр ширины k покрывает k подряд идущих слов целиком, по всем d координатам. В терминах PyTorch это nn.Conv1d с in_channels = d — эмбеддинг играет роль каналов, как RGB у картинки. Поэтому перед свёрткой тензор транспонируют из (B, n, d) в (B, d, n). 3. Каждый фильтр даёт карту признаков длины n − k + 1. На слайде фильтр ширины 3 на предложении из 5 слов даёт 3 значения; выделено окно «не плохой а». 4. Max-pooling по времени: от каждой карты берём максимум. Получается одно число на фильтр, независимо от длины предложения, — так решается проблема переменной длины входа. 5. Конкатенируем результаты всех фильтров (в статье ширины 3, 4, 5 по 100 фильтров — итого 300 признаков), dropout 0,5, полносвязный слой и softmax. Интерпретация: фильтр ширины k — обучаемый детектор k-граммы. Один фильтр может научиться срабатывать на «не плохой», «вполне неплохой», «совсем не плохо», потому что работает с эмбеддингами, а не с конкретными словами. Max-pooling отвечает на вопрос «встретилась ли где-то в предложении такая k-грамма». Варианты из статьи: эмбеддинги случайные; готовые word2vec замороженные (static); готовые с дообучением (non-static); два канала — замороженный и дообучаемый (multichannel). Это ровно три режима из блока 03, и на семинаре их можно сравнить. Код на слайде — ядро метода forward; полный класс студенты пишут на семинаре. Важная деталь реализации: предложения в батче нужно дополнить паддингом хотя бы до максимальной ширины фильтра.</a:t>
            </a:r>
            <a:endParaRPr/>
          </a:p>
        </p:txBody>
      </p:sp>
      <p:sp>
        <p:nvSpPr>
          <p:cNvPr id="663" name="Google Shape;663;h4cf7a8a6b4c5e8da_0_544: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h4cf7a8a6b4c5e8da_0_5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h4cf7a8a6b4c5e8da_0_576:notes"/>
          <p:cNvSpPr txBox="1">
            <a:spLocks noGrp="1"/>
          </p:cNvSpPr>
          <p:nvPr>
            <p:ph type="body" idx="1"/>
          </p:nvPr>
        </p:nvSpPr>
        <p:spPr>
          <a:xfrm>
            <a:off x="685800" y="4400433"/>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Ключевой слайд для перехода к RNN. Показываем, где кончаются возможности всего, что мы сегодня изучили. Пример 1. Два предложения с противоположной тональностью состоят из одних и тех же слов. Мешок слов, TF-IDF и любое (взвешенное) среднее эмбеддингов дадут для них одинаковый вектор: сумма не зависит от порядка слагаемых. TextCNN же различает их: фильтр ширины 2–3 видит биграммы «не плохой» и «не отличный» и может научиться реагировать на отрицание рядом с оценочным словом. Это и есть ценность локального порядка. Пример 2. Отрицание «не» в начале и «понравился» в конце разделяют 12 слов. Фильтр шириной 3–5 слов не видит их одновременно. Max-pooling найдёт в предложении «скучный» и «понравился» по отдельности, но не связь между «не» и «понравился». Обсудите с аудиторией, как это исправить внутри CNN: • Можно ставить свёрточные слои друг на друга: рецептивное поле растёт линейно с глубиной. • Можно использовать расширенные (dilated) свёртки, как в WaveNet: рецептивное поле растёт экспоненциально. Но в любом случае оно ограничено архитектурой, и для каждой длины зависимости нужно заранее заложить достаточную глубину. Вывод, к которому стоит подвести студентов: нужна модель, которая читает последовательность по одному токену, хранит «память» о прочитанном в скрытом состоянии и может в принципе связать сколь угодно далёкие слова. Это рекуррентная сеть — тема следующей лекции. Дополнительный вопрос для сильной группы: «В русском порядок слов свободный: „Собака укусила человека“ и „Человека укусила собака“ значат одно и то же. Значит ли это, что для русского порядок не важен?» Ответ: нет — роль слова кодирует падеж, а падеж мы видим только если не лемматизировали (блок 01); а отрицание, как в примерах, всё равно зависит от позиции.</a:t>
            </a:r>
            <a:endParaRPr/>
          </a:p>
        </p:txBody>
      </p:sp>
      <p:sp>
        <p:nvSpPr>
          <p:cNvPr id="696" name="Google Shape;696;h4cf7a8a6b4c5e8da_0_576:notes"/>
          <p:cNvSpPr txBox="1">
            <a:spLocks noGrp="1"/>
          </p:cNvSpPr>
          <p:nvPr>
            <p:ph type="sldNum" idx="12"/>
          </p:nvPr>
        </p:nvSpPr>
        <p:spPr>
          <a:xfrm>
            <a:off x="3884613" y="8684981"/>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7F5F0"/>
        </a:soli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812778" y="1127720"/>
            <a:ext cx="10566000" cy="4674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B2430"/>
              </a:buClr>
              <a:buSzPts val="3200"/>
              <a:buFont typeface="PT Serif"/>
              <a:buNone/>
              <a:defRPr sz="3200">
                <a:solidFill>
                  <a:srgbClr val="1B2430"/>
                </a:solidFill>
                <a:latin typeface="PT Serif"/>
                <a:ea typeface="PT Serif"/>
                <a:cs typeface="PT Serif"/>
                <a:sym typeface="PT Serif"/>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body" idx="1"/>
          </p:nvPr>
        </p:nvSpPr>
        <p:spPr>
          <a:xfrm>
            <a:off x="812778" y="1899841"/>
            <a:ext cx="10566000" cy="4145400"/>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B2430"/>
              </a:buClr>
              <a:buSzPts val="1600"/>
              <a:buNone/>
              <a:defRPr sz="1600">
                <a:solidFill>
                  <a:srgbClr val="1B2430"/>
                </a:solidFill>
                <a:latin typeface="Golos Text"/>
                <a:ea typeface="Golos Text"/>
                <a:cs typeface="Golos Text"/>
                <a:sym typeface="Golos Text"/>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B47"/>
        </a:solidFill>
        <a:effectLst/>
      </p:bgPr>
    </p:bg>
    <p:spTree>
      <p:nvGrpSpPr>
        <p:cNvPr id="1" name="Shape 18"/>
        <p:cNvGrpSpPr/>
        <p:nvPr/>
      </p:nvGrpSpPr>
      <p:grpSpPr>
        <a:xfrm>
          <a:off x="0" y="0"/>
          <a:ext cx="0" cy="0"/>
          <a:chOff x="0" y="0"/>
          <a:chExt cx="0" cy="0"/>
        </a:xfrm>
      </p:grpSpPr>
      <p:cxnSp>
        <p:nvCxnSpPr>
          <p:cNvPr id="19" name="Google Shape;19;p4"/>
          <p:cNvCxnSpPr/>
          <p:nvPr/>
        </p:nvCxnSpPr>
        <p:spPr>
          <a:xfrm>
            <a:off x="9601200" y="1920240"/>
            <a:ext cx="1188720" cy="502920"/>
          </a:xfrm>
          <a:prstGeom prst="straightConnector1">
            <a:avLst/>
          </a:prstGeom>
          <a:noFill/>
          <a:ln w="15875" cap="flat" cmpd="sng">
            <a:solidFill>
              <a:srgbClr val="2A3B73"/>
            </a:solidFill>
            <a:prstDash val="solid"/>
            <a:round/>
            <a:headEnd type="none" w="sm" len="sm"/>
            <a:tailEnd type="none" w="sm" len="sm"/>
          </a:ln>
        </p:spPr>
      </p:cxnSp>
      <p:cxnSp>
        <p:nvCxnSpPr>
          <p:cNvPr id="20" name="Google Shape;20;p4"/>
          <p:cNvCxnSpPr/>
          <p:nvPr/>
        </p:nvCxnSpPr>
        <p:spPr>
          <a:xfrm>
            <a:off x="9601200" y="1920240"/>
            <a:ext cx="1188720" cy="1463040"/>
          </a:xfrm>
          <a:prstGeom prst="straightConnector1">
            <a:avLst/>
          </a:prstGeom>
          <a:noFill/>
          <a:ln w="15875" cap="flat" cmpd="sng">
            <a:solidFill>
              <a:srgbClr val="2A3B73"/>
            </a:solidFill>
            <a:prstDash val="solid"/>
            <a:round/>
            <a:headEnd type="none" w="sm" len="sm"/>
            <a:tailEnd type="none" w="sm" len="sm"/>
          </a:ln>
        </p:spPr>
      </p:cxnSp>
      <p:cxnSp>
        <p:nvCxnSpPr>
          <p:cNvPr id="21" name="Google Shape;21;p4"/>
          <p:cNvCxnSpPr/>
          <p:nvPr/>
        </p:nvCxnSpPr>
        <p:spPr>
          <a:xfrm rot="10800000" flipH="1">
            <a:off x="9601200" y="2423160"/>
            <a:ext cx="1188720" cy="457200"/>
          </a:xfrm>
          <a:prstGeom prst="straightConnector1">
            <a:avLst/>
          </a:prstGeom>
          <a:noFill/>
          <a:ln w="15875" cap="flat" cmpd="sng">
            <a:solidFill>
              <a:srgbClr val="2A3B73"/>
            </a:solidFill>
            <a:prstDash val="solid"/>
            <a:round/>
            <a:headEnd type="none" w="sm" len="sm"/>
            <a:tailEnd type="none" w="sm" len="sm"/>
          </a:ln>
        </p:spPr>
      </p:cxnSp>
      <p:cxnSp>
        <p:nvCxnSpPr>
          <p:cNvPr id="22" name="Google Shape;22;p4"/>
          <p:cNvCxnSpPr/>
          <p:nvPr/>
        </p:nvCxnSpPr>
        <p:spPr>
          <a:xfrm>
            <a:off x="9601200" y="2880360"/>
            <a:ext cx="1188720" cy="502920"/>
          </a:xfrm>
          <a:prstGeom prst="straightConnector1">
            <a:avLst/>
          </a:prstGeom>
          <a:noFill/>
          <a:ln w="15875" cap="flat" cmpd="sng">
            <a:solidFill>
              <a:srgbClr val="2A3B73"/>
            </a:solidFill>
            <a:prstDash val="solid"/>
            <a:round/>
            <a:headEnd type="none" w="sm" len="sm"/>
            <a:tailEnd type="none" w="sm" len="sm"/>
          </a:ln>
        </p:spPr>
      </p:cxnSp>
      <p:cxnSp>
        <p:nvCxnSpPr>
          <p:cNvPr id="23" name="Google Shape;23;p4"/>
          <p:cNvCxnSpPr/>
          <p:nvPr/>
        </p:nvCxnSpPr>
        <p:spPr>
          <a:xfrm rot="10800000" flipH="1">
            <a:off x="9601200" y="2423160"/>
            <a:ext cx="1188720" cy="1417320"/>
          </a:xfrm>
          <a:prstGeom prst="straightConnector1">
            <a:avLst/>
          </a:prstGeom>
          <a:noFill/>
          <a:ln w="15875" cap="flat" cmpd="sng">
            <a:solidFill>
              <a:srgbClr val="2A3B73"/>
            </a:solidFill>
            <a:prstDash val="solid"/>
            <a:round/>
            <a:headEnd type="none" w="sm" len="sm"/>
            <a:tailEnd type="none" w="sm" len="sm"/>
          </a:ln>
        </p:spPr>
      </p:cxnSp>
      <p:cxnSp>
        <p:nvCxnSpPr>
          <p:cNvPr id="24" name="Google Shape;24;p4"/>
          <p:cNvCxnSpPr/>
          <p:nvPr/>
        </p:nvCxnSpPr>
        <p:spPr>
          <a:xfrm rot="10800000" flipH="1">
            <a:off x="9601200" y="3383280"/>
            <a:ext cx="1188720" cy="457200"/>
          </a:xfrm>
          <a:prstGeom prst="straightConnector1">
            <a:avLst/>
          </a:prstGeom>
          <a:noFill/>
          <a:ln w="15875" cap="flat" cmpd="sng">
            <a:solidFill>
              <a:srgbClr val="2A3B73"/>
            </a:solidFill>
            <a:prstDash val="solid"/>
            <a:round/>
            <a:headEnd type="none" w="sm" len="sm"/>
            <a:tailEnd type="none" w="sm" len="sm"/>
          </a:ln>
        </p:spPr>
      </p:cxnSp>
      <p:cxnSp>
        <p:nvCxnSpPr>
          <p:cNvPr id="25" name="Google Shape;25;p4"/>
          <p:cNvCxnSpPr/>
          <p:nvPr/>
        </p:nvCxnSpPr>
        <p:spPr>
          <a:xfrm>
            <a:off x="10789920" y="2423160"/>
            <a:ext cx="731520" cy="502920"/>
          </a:xfrm>
          <a:prstGeom prst="straightConnector1">
            <a:avLst/>
          </a:prstGeom>
          <a:noFill/>
          <a:ln w="15875" cap="flat" cmpd="sng">
            <a:solidFill>
              <a:srgbClr val="2A3B73"/>
            </a:solidFill>
            <a:prstDash val="solid"/>
            <a:round/>
            <a:headEnd type="none" w="sm" len="sm"/>
            <a:tailEnd type="none" w="sm" len="sm"/>
          </a:ln>
        </p:spPr>
      </p:cxnSp>
      <p:cxnSp>
        <p:nvCxnSpPr>
          <p:cNvPr id="26" name="Google Shape;26;p4"/>
          <p:cNvCxnSpPr/>
          <p:nvPr/>
        </p:nvCxnSpPr>
        <p:spPr>
          <a:xfrm rot="10800000" flipH="1">
            <a:off x="10789920" y="2926080"/>
            <a:ext cx="731520" cy="457200"/>
          </a:xfrm>
          <a:prstGeom prst="straightConnector1">
            <a:avLst/>
          </a:prstGeom>
          <a:noFill/>
          <a:ln w="15875" cap="flat" cmpd="sng">
            <a:solidFill>
              <a:srgbClr val="2A3B73"/>
            </a:solidFill>
            <a:prstDash val="solid"/>
            <a:round/>
            <a:headEnd type="none" w="sm" len="sm"/>
            <a:tailEnd type="none" w="sm" len="sm"/>
          </a:ln>
        </p:spPr>
      </p:cxnSp>
      <p:sp>
        <p:nvSpPr>
          <p:cNvPr id="27" name="Google Shape;27;p4"/>
          <p:cNvSpPr/>
          <p:nvPr/>
        </p:nvSpPr>
        <p:spPr>
          <a:xfrm>
            <a:off x="9430488" y="1783065"/>
            <a:ext cx="274200" cy="274200"/>
          </a:xfrm>
          <a:prstGeom prst="ellipse">
            <a:avLst/>
          </a:prstGeom>
          <a:solidFill>
            <a:srgbClr val="24306B"/>
          </a:solidFill>
          <a:ln w="15875" cap="flat" cmpd="sng">
            <a:solidFill>
              <a:srgbClr val="3A4B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9430550" y="2766060"/>
            <a:ext cx="274200" cy="274200"/>
          </a:xfrm>
          <a:prstGeom prst="ellipse">
            <a:avLst/>
          </a:prstGeom>
          <a:solidFill>
            <a:srgbClr val="24306B"/>
          </a:solidFill>
          <a:ln w="15875" cap="flat" cmpd="sng">
            <a:solidFill>
              <a:srgbClr val="3A4B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9430438" y="3749030"/>
            <a:ext cx="274200" cy="274200"/>
          </a:xfrm>
          <a:prstGeom prst="ellipse">
            <a:avLst/>
          </a:prstGeom>
          <a:solidFill>
            <a:srgbClr val="24306B"/>
          </a:solidFill>
          <a:ln w="15875" cap="flat" cmpd="sng">
            <a:solidFill>
              <a:srgbClr val="3A4B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10789920" y="2337835"/>
            <a:ext cx="274200" cy="274200"/>
          </a:xfrm>
          <a:prstGeom prst="ellipse">
            <a:avLst/>
          </a:prstGeom>
          <a:solidFill>
            <a:srgbClr val="24306B"/>
          </a:solidFill>
          <a:ln w="15875" cap="flat" cmpd="sng">
            <a:solidFill>
              <a:srgbClr val="3A4B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10728645" y="3244630"/>
            <a:ext cx="274200" cy="274200"/>
          </a:xfrm>
          <a:prstGeom prst="ellipse">
            <a:avLst/>
          </a:prstGeom>
          <a:solidFill>
            <a:srgbClr val="24306B"/>
          </a:solidFill>
          <a:ln w="15875" cap="flat" cmpd="sng">
            <a:solidFill>
              <a:srgbClr val="3A4B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11521440" y="2926080"/>
            <a:ext cx="274320" cy="274320"/>
          </a:xfrm>
          <a:prstGeom prst="ellipse">
            <a:avLst/>
          </a:prstGeom>
          <a:solidFill>
            <a:srgbClr val="24306B"/>
          </a:solidFill>
          <a:ln w="15875" cap="flat" cmpd="sng">
            <a:solidFill>
              <a:srgbClr val="3A4B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txBox="1"/>
          <p:nvPr/>
        </p:nvSpPr>
        <p:spPr>
          <a:xfrm>
            <a:off x="548640" y="1371600"/>
            <a:ext cx="8229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500"/>
              <a:buFont typeface="Calibri"/>
              <a:buNone/>
            </a:pPr>
            <a:r>
              <a:rPr lang="en-US" sz="1500" b="1" i="0" u="none" strike="noStrike" cap="none">
                <a:solidFill>
                  <a:srgbClr val="F2A93B"/>
                </a:solidFill>
                <a:latin typeface="Calibri"/>
                <a:ea typeface="Calibri"/>
                <a:cs typeface="Calibri"/>
                <a:sym typeface="Calibri"/>
              </a:rPr>
              <a:t>КУРС «НЕЙРОННЫЕ СЕТИ»</a:t>
            </a:r>
            <a:endParaRPr sz="1500" b="0" i="0" u="none" strike="noStrike" cap="none">
              <a:solidFill>
                <a:schemeClr val="dk1"/>
              </a:solidFill>
              <a:latin typeface="Calibri"/>
              <a:ea typeface="Calibri"/>
              <a:cs typeface="Calibri"/>
              <a:sym typeface="Calibri"/>
            </a:endParaRPr>
          </a:p>
        </p:txBody>
      </p:sp>
      <p:sp>
        <p:nvSpPr>
          <p:cNvPr id="34" name="Google Shape;34;p4"/>
          <p:cNvSpPr txBox="1"/>
          <p:nvPr/>
        </p:nvSpPr>
        <p:spPr>
          <a:xfrm>
            <a:off x="548649" y="1920250"/>
            <a:ext cx="8741100" cy="18288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FFFFFF"/>
              </a:buClr>
              <a:buSzPts val="4000"/>
              <a:buFont typeface="Cambria"/>
              <a:buNone/>
            </a:pPr>
            <a:r>
              <a:rPr lang="en-US" sz="4000" b="1" i="0" u="none" strike="noStrike" cap="none">
                <a:solidFill>
                  <a:srgbClr val="FFFFFF"/>
                </a:solidFill>
                <a:latin typeface="Cambria"/>
                <a:ea typeface="Cambria"/>
                <a:cs typeface="Cambria"/>
                <a:sym typeface="Cambria"/>
              </a:rPr>
              <a:t>Тема </a:t>
            </a:r>
            <a:r>
              <a:rPr lang="en-US" sz="4000" b="1">
                <a:solidFill>
                  <a:srgbClr val="FFFFFF"/>
                </a:solidFill>
                <a:latin typeface="Cambria"/>
                <a:ea typeface="Cambria"/>
                <a:cs typeface="Cambria"/>
                <a:sym typeface="Cambria"/>
              </a:rPr>
              <a:t>5. Эмбединги и токенизация </a:t>
            </a:r>
            <a:endParaRPr sz="4000" b="0" i="0" u="none" strike="noStrike" cap="none">
              <a:solidFill>
                <a:schemeClr val="dk1"/>
              </a:solidFill>
              <a:latin typeface="Calibri"/>
              <a:ea typeface="Calibri"/>
              <a:cs typeface="Calibri"/>
              <a:sym typeface="Calibri"/>
            </a:endParaRPr>
          </a:p>
        </p:txBody>
      </p:sp>
      <p:cxnSp>
        <p:nvCxnSpPr>
          <p:cNvPr id="35" name="Google Shape;35;p4"/>
          <p:cNvCxnSpPr/>
          <p:nvPr/>
        </p:nvCxnSpPr>
        <p:spPr>
          <a:xfrm>
            <a:off x="548640" y="4800600"/>
            <a:ext cx="2011680" cy="0"/>
          </a:xfrm>
          <a:prstGeom prst="straightConnector1">
            <a:avLst/>
          </a:prstGeom>
          <a:noFill/>
          <a:ln w="31750" cap="flat" cmpd="sng">
            <a:solidFill>
              <a:srgbClr val="F2A93B"/>
            </a:solidFill>
            <a:prstDash val="solid"/>
            <a:round/>
            <a:headEnd type="none" w="sm" len="sm"/>
            <a:tailEnd type="none" w="sm" len="sm"/>
          </a:ln>
        </p:spPr>
      </p:cxnSp>
      <p:sp>
        <p:nvSpPr>
          <p:cNvPr id="36" name="Google Shape;36;p4"/>
          <p:cNvSpPr txBox="1"/>
          <p:nvPr/>
        </p:nvSpPr>
        <p:spPr>
          <a:xfrm>
            <a:off x="548640" y="5532120"/>
            <a:ext cx="3657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92B0"/>
              </a:buClr>
              <a:buSzPts val="1300"/>
              <a:buFont typeface="Calibri"/>
              <a:buNone/>
            </a:pPr>
            <a:r>
              <a:rPr lang="en-US" sz="1300" b="0" i="0" u="none" strike="noStrike" cap="none">
                <a:solidFill>
                  <a:srgbClr val="8592B0"/>
                </a:solidFill>
                <a:latin typeface="Calibri"/>
                <a:ea typeface="Calibri"/>
                <a:cs typeface="Calibri"/>
                <a:sym typeface="Calibri"/>
              </a:rPr>
              <a:t>Лекция </a:t>
            </a:r>
            <a:r>
              <a:rPr lang="en-US" sz="1300">
                <a:solidFill>
                  <a:srgbClr val="8592B0"/>
                </a:solidFill>
                <a:latin typeface="Calibri"/>
                <a:ea typeface="Calibri"/>
                <a:cs typeface="Calibri"/>
                <a:sym typeface="Calibri"/>
              </a:rPr>
              <a:t>5</a:t>
            </a:r>
            <a:r>
              <a:rPr lang="en-US" sz="1300" b="0" i="0" u="none" strike="noStrike" cap="none">
                <a:solidFill>
                  <a:srgbClr val="8592B0"/>
                </a:solidFill>
                <a:latin typeface="Calibri"/>
                <a:ea typeface="Calibri"/>
                <a:cs typeface="Calibri"/>
                <a:sym typeface="Calibri"/>
              </a:rPr>
              <a:t> · Модуль 1</a:t>
            </a:r>
            <a:endParaRPr sz="1300" b="0" i="0" u="none" strike="noStrike" cap="none">
              <a:solidFill>
                <a:schemeClr val="dk1"/>
              </a:solidFill>
              <a:latin typeface="Calibri"/>
              <a:ea typeface="Calibri"/>
              <a:cs typeface="Calibri"/>
              <a:sym typeface="Calibri"/>
            </a:endParaRPr>
          </a:p>
        </p:txBody>
      </p:sp>
      <p:sp>
        <p:nvSpPr>
          <p:cNvPr id="37" name="Google Shape;37;p4"/>
          <p:cNvSpPr txBox="1"/>
          <p:nvPr/>
        </p:nvSpPr>
        <p:spPr>
          <a:xfrm>
            <a:off x="11002975" y="6382512"/>
            <a:ext cx="82296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592B0"/>
              </a:buClr>
              <a:buSzPts val="1200"/>
              <a:buFont typeface="Calibri"/>
              <a:buNone/>
            </a:pPr>
            <a:r>
              <a:rPr lang="en-US" sz="1200" b="0" i="0" u="none" strike="noStrike" cap="none">
                <a:solidFill>
                  <a:srgbClr val="8592B0"/>
                </a:solidFill>
                <a:latin typeface="Calibri"/>
                <a:ea typeface="Calibri"/>
                <a:cs typeface="Calibri"/>
                <a:sym typeface="Calibri"/>
              </a:rPr>
              <a:t>1/25</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p:nvPr/>
        </p:nvSpPr>
        <p:spPr>
          <a:xfrm>
            <a:off x="548640" y="320040"/>
            <a:ext cx="8229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100"/>
              <a:buFont typeface="Calibri"/>
              <a:buNone/>
            </a:pPr>
            <a:r>
              <a:rPr lang="en-US" sz="1100" b="1" i="0" u="none" strike="noStrike" cap="none">
                <a:solidFill>
                  <a:srgbClr val="F2A93B"/>
                </a:solidFill>
                <a:latin typeface="Calibri"/>
                <a:ea typeface="Calibri"/>
                <a:cs typeface="Calibri"/>
                <a:sym typeface="Calibri"/>
              </a:rPr>
              <a:t>ОТ РЕАЛЬНОСТИ — К ЧИСЛАМ</a:t>
            </a:r>
            <a:endParaRPr sz="1100" b="0" i="0" u="none" strike="noStrike" cap="none">
              <a:solidFill>
                <a:schemeClr val="dk1"/>
              </a:solidFill>
              <a:latin typeface="Calibri"/>
              <a:ea typeface="Calibri"/>
              <a:cs typeface="Calibri"/>
              <a:sym typeface="Calibri"/>
            </a:endParaRPr>
          </a:p>
        </p:txBody>
      </p:sp>
      <p:sp>
        <p:nvSpPr>
          <p:cNvPr id="120" name="Google Shape;120;p7"/>
          <p:cNvSpPr txBox="1"/>
          <p:nvPr/>
        </p:nvSpPr>
        <p:spPr>
          <a:xfrm>
            <a:off x="548640" y="594360"/>
            <a:ext cx="11094415"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2800"/>
              <a:buFont typeface="Cambria"/>
              <a:buNone/>
            </a:pPr>
            <a:r>
              <a:rPr lang="en-US" sz="2800" b="1" i="0" u="none" strike="noStrike" cap="none">
                <a:solidFill>
                  <a:srgbClr val="1E2761"/>
                </a:solidFill>
                <a:latin typeface="Cambria"/>
                <a:ea typeface="Cambria"/>
                <a:cs typeface="Cambria"/>
                <a:sym typeface="Cambria"/>
              </a:rPr>
              <a:t>Пример: как «оцифровать» кошку</a:t>
            </a:r>
            <a:endParaRPr sz="2800" b="0" i="0" u="none" strike="noStrike" cap="none">
              <a:solidFill>
                <a:schemeClr val="dk1"/>
              </a:solidFill>
              <a:latin typeface="Calibri"/>
              <a:ea typeface="Calibri"/>
              <a:cs typeface="Calibri"/>
              <a:sym typeface="Calibri"/>
            </a:endParaRPr>
          </a:p>
        </p:txBody>
      </p:sp>
      <p:sp>
        <p:nvSpPr>
          <p:cNvPr id="121" name="Google Shape;121;p7"/>
          <p:cNvSpPr txBox="1"/>
          <p:nvPr/>
        </p:nvSpPr>
        <p:spPr>
          <a:xfrm>
            <a:off x="11002975" y="6355080"/>
            <a:ext cx="82296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592B0"/>
              </a:buClr>
              <a:buSzPts val="1000"/>
              <a:buFont typeface="Calibri"/>
              <a:buNone/>
            </a:pPr>
            <a:r>
              <a:rPr lang="en-US" sz="1000" b="0" i="0" u="none" strike="noStrike" cap="none">
                <a:solidFill>
                  <a:srgbClr val="8592B0"/>
                </a:solidFill>
                <a:latin typeface="Calibri"/>
                <a:ea typeface="Calibri"/>
                <a:cs typeface="Calibri"/>
                <a:sym typeface="Calibri"/>
              </a:rPr>
              <a:t>6/19</a:t>
            </a:r>
            <a:endParaRPr sz="1000" b="0" i="0" u="none" strike="noStrike" cap="none">
              <a:solidFill>
                <a:schemeClr val="dk1"/>
              </a:solidFill>
              <a:latin typeface="Calibri"/>
              <a:ea typeface="Calibri"/>
              <a:cs typeface="Calibri"/>
              <a:sym typeface="Calibri"/>
            </a:endParaRPr>
          </a:p>
        </p:txBody>
      </p:sp>
      <p:sp>
        <p:nvSpPr>
          <p:cNvPr id="122" name="Google Shape;122;p7"/>
          <p:cNvSpPr txBox="1"/>
          <p:nvPr/>
        </p:nvSpPr>
        <p:spPr>
          <a:xfrm>
            <a:off x="548640" y="6355080"/>
            <a:ext cx="36576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92B0"/>
              </a:buClr>
              <a:buSzPts val="1000"/>
              <a:buFont typeface="Calibri"/>
              <a:buNone/>
            </a:pPr>
            <a:r>
              <a:rPr lang="en-US" sz="1000" b="0" i="0" u="none" strike="noStrike" cap="none">
                <a:solidFill>
                  <a:srgbClr val="8592B0"/>
                </a:solidFill>
                <a:latin typeface="Calibri"/>
                <a:ea typeface="Calibri"/>
                <a:cs typeface="Calibri"/>
                <a:sym typeface="Calibri"/>
              </a:rPr>
              <a:t>Тема 1 · Нейронные сети</a:t>
            </a:r>
            <a:endParaRPr sz="1000" b="0" i="0" u="none" strike="noStrike" cap="none">
              <a:solidFill>
                <a:schemeClr val="dk1"/>
              </a:solidFill>
              <a:latin typeface="Calibri"/>
              <a:ea typeface="Calibri"/>
              <a:cs typeface="Calibri"/>
              <a:sym typeface="Calibri"/>
            </a:endParaRPr>
          </a:p>
        </p:txBody>
      </p:sp>
      <p:sp>
        <p:nvSpPr>
          <p:cNvPr id="123" name="Google Shape;123;p7"/>
          <p:cNvSpPr txBox="1"/>
          <p:nvPr/>
        </p:nvSpPr>
        <p:spPr>
          <a:xfrm>
            <a:off x="4471285" y="1317757"/>
            <a:ext cx="1737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4557C"/>
              </a:buClr>
              <a:buSzPts val="1150"/>
              <a:buFont typeface="Calibri"/>
              <a:buNone/>
            </a:pPr>
            <a:r>
              <a:rPr lang="en-US" sz="1150" b="0" i="0" u="none" strike="noStrike" cap="none">
                <a:solidFill>
                  <a:srgbClr val="44557C"/>
                </a:solidFill>
                <a:latin typeface="Calibri"/>
                <a:ea typeface="Calibri"/>
                <a:cs typeface="Calibri"/>
                <a:sym typeface="Calibri"/>
              </a:rPr>
              <a:t>форма ушей</a:t>
            </a:r>
            <a:endParaRPr sz="1150" b="0" i="0" u="none" strike="noStrike" cap="none">
              <a:solidFill>
                <a:schemeClr val="dk1"/>
              </a:solidFill>
              <a:latin typeface="Calibri"/>
              <a:ea typeface="Calibri"/>
              <a:cs typeface="Calibri"/>
              <a:sym typeface="Calibri"/>
            </a:endParaRPr>
          </a:p>
        </p:txBody>
      </p:sp>
      <p:sp>
        <p:nvSpPr>
          <p:cNvPr id="124" name="Google Shape;124;p7"/>
          <p:cNvSpPr txBox="1"/>
          <p:nvPr/>
        </p:nvSpPr>
        <p:spPr>
          <a:xfrm>
            <a:off x="4709160" y="2025415"/>
            <a:ext cx="1737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4557C"/>
              </a:buClr>
              <a:buSzPts val="1150"/>
              <a:buFont typeface="Calibri"/>
              <a:buNone/>
            </a:pPr>
            <a:r>
              <a:rPr lang="en-US" sz="1150" b="0" i="0" u="none" strike="noStrike" cap="none">
                <a:solidFill>
                  <a:srgbClr val="44557C"/>
                </a:solidFill>
                <a:latin typeface="Calibri"/>
                <a:ea typeface="Calibri"/>
                <a:cs typeface="Calibri"/>
                <a:sym typeface="Calibri"/>
              </a:rPr>
              <a:t>пропорция мордочки</a:t>
            </a:r>
            <a:endParaRPr sz="1150" b="0" i="0" u="none" strike="noStrike" cap="none">
              <a:solidFill>
                <a:schemeClr val="dk1"/>
              </a:solidFill>
              <a:latin typeface="Calibri"/>
              <a:ea typeface="Calibri"/>
              <a:cs typeface="Calibri"/>
              <a:sym typeface="Calibri"/>
            </a:endParaRPr>
          </a:p>
        </p:txBody>
      </p:sp>
      <p:sp>
        <p:nvSpPr>
          <p:cNvPr id="125" name="Google Shape;125;p7"/>
          <p:cNvSpPr txBox="1"/>
          <p:nvPr/>
        </p:nvSpPr>
        <p:spPr>
          <a:xfrm>
            <a:off x="4772585" y="2633485"/>
            <a:ext cx="1737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4557C"/>
              </a:buClr>
              <a:buSzPts val="1150"/>
              <a:buFont typeface="Calibri"/>
              <a:buNone/>
            </a:pPr>
            <a:r>
              <a:rPr lang="en-US" sz="1150" b="0" i="0" u="none" strike="noStrike" cap="none">
                <a:solidFill>
                  <a:srgbClr val="44557C"/>
                </a:solidFill>
                <a:latin typeface="Calibri"/>
                <a:ea typeface="Calibri"/>
                <a:cs typeface="Calibri"/>
                <a:sym typeface="Calibri"/>
              </a:rPr>
              <a:t>размер глаз</a:t>
            </a:r>
            <a:endParaRPr sz="1150" b="0" i="0" u="none" strike="noStrike" cap="none">
              <a:solidFill>
                <a:schemeClr val="dk1"/>
              </a:solidFill>
              <a:latin typeface="Calibri"/>
              <a:ea typeface="Calibri"/>
              <a:cs typeface="Calibri"/>
              <a:sym typeface="Calibri"/>
            </a:endParaRPr>
          </a:p>
        </p:txBody>
      </p:sp>
      <p:sp>
        <p:nvSpPr>
          <p:cNvPr id="126" name="Google Shape;126;p7"/>
          <p:cNvSpPr txBox="1"/>
          <p:nvPr/>
        </p:nvSpPr>
        <p:spPr>
          <a:xfrm>
            <a:off x="4709160" y="3136392"/>
            <a:ext cx="17373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4557C"/>
              </a:buClr>
              <a:buSzPts val="1150"/>
              <a:buFont typeface="Calibri"/>
              <a:buNone/>
            </a:pPr>
            <a:r>
              <a:rPr lang="en-US" sz="1150" b="0" i="0" u="none" strike="noStrike" cap="none">
                <a:solidFill>
                  <a:srgbClr val="44557C"/>
                </a:solidFill>
                <a:latin typeface="Calibri"/>
                <a:ea typeface="Calibri"/>
                <a:cs typeface="Calibri"/>
                <a:sym typeface="Calibri"/>
              </a:rPr>
              <a:t>густота шерсти</a:t>
            </a:r>
            <a:endParaRPr sz="1150" b="0" i="0" u="none" strike="noStrike" cap="none">
              <a:solidFill>
                <a:schemeClr val="dk1"/>
              </a:solidFill>
              <a:latin typeface="Calibri"/>
              <a:ea typeface="Calibri"/>
              <a:cs typeface="Calibri"/>
              <a:sym typeface="Calibri"/>
            </a:endParaRPr>
          </a:p>
        </p:txBody>
      </p:sp>
      <p:sp>
        <p:nvSpPr>
          <p:cNvPr id="127" name="Google Shape;127;p7"/>
          <p:cNvSpPr/>
          <p:nvPr/>
        </p:nvSpPr>
        <p:spPr>
          <a:xfrm>
            <a:off x="6766560" y="1737360"/>
            <a:ext cx="4892040" cy="2331720"/>
          </a:xfrm>
          <a:prstGeom prst="roundRect">
            <a:avLst>
              <a:gd name="adj" fmla="val 3922"/>
            </a:avLst>
          </a:prstGeom>
          <a:solidFill>
            <a:srgbClr val="1E27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txBox="1"/>
          <p:nvPr/>
        </p:nvSpPr>
        <p:spPr>
          <a:xfrm>
            <a:off x="7040880" y="1965960"/>
            <a:ext cx="43434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onsolas"/>
              <a:buNone/>
            </a:pPr>
            <a:r>
              <a:rPr lang="en-US" sz="1700" b="1" i="0" u="none" strike="noStrike" cap="none">
                <a:solidFill>
                  <a:srgbClr val="FFFFFF"/>
                </a:solidFill>
                <a:latin typeface="Consolas"/>
                <a:ea typeface="Consolas"/>
                <a:cs typeface="Consolas"/>
                <a:sym typeface="Consolas"/>
              </a:rPr>
              <a:t>x = </a:t>
            </a:r>
            <a:r>
              <a:rPr lang="en-US" sz="1700" b="1">
                <a:solidFill>
                  <a:srgbClr val="FFFFFF"/>
                </a:solidFill>
                <a:latin typeface="Consolas"/>
                <a:ea typeface="Consolas"/>
                <a:cs typeface="Consolas"/>
                <a:sym typeface="Consolas"/>
              </a:rPr>
              <a:t>[</a:t>
            </a:r>
            <a:r>
              <a:rPr lang="en-US" sz="1700" b="1" i="0" u="none" strike="noStrike" cap="none">
                <a:solidFill>
                  <a:srgbClr val="FFFFFF"/>
                </a:solidFill>
                <a:latin typeface="Consolas"/>
                <a:ea typeface="Consolas"/>
                <a:cs typeface="Consolas"/>
                <a:sym typeface="Consolas"/>
              </a:rPr>
              <a:t>0.82, 0.35, 0.60, 0.91, …</a:t>
            </a:r>
            <a:r>
              <a:rPr lang="en-US" sz="1700" b="1">
                <a:solidFill>
                  <a:srgbClr val="FFFFFF"/>
                </a:solidFill>
                <a:latin typeface="Consolas"/>
                <a:ea typeface="Consolas"/>
                <a:cs typeface="Consolas"/>
                <a:sym typeface="Consolas"/>
              </a:rPr>
              <a:t>]</a:t>
            </a:r>
            <a:endParaRPr sz="1700" b="0" i="0" u="none" strike="noStrike" cap="none">
              <a:solidFill>
                <a:schemeClr val="dk1"/>
              </a:solidFill>
              <a:latin typeface="Calibri"/>
              <a:ea typeface="Calibri"/>
              <a:cs typeface="Calibri"/>
              <a:sym typeface="Calibri"/>
            </a:endParaRPr>
          </a:p>
        </p:txBody>
      </p:sp>
      <p:sp>
        <p:nvSpPr>
          <p:cNvPr id="129" name="Google Shape;129;p7"/>
          <p:cNvSpPr txBox="1"/>
          <p:nvPr/>
        </p:nvSpPr>
        <p:spPr>
          <a:xfrm>
            <a:off x="7040880" y="2560320"/>
            <a:ext cx="4343400" cy="1371600"/>
          </a:xfrm>
          <a:prstGeom prst="rect">
            <a:avLst/>
          </a:prstGeom>
          <a:noFill/>
          <a:ln>
            <a:noFill/>
          </a:ln>
        </p:spPr>
        <p:txBody>
          <a:bodyPr spcFirstLastPara="1" wrap="square" lIns="0" tIns="0" rIns="0" bIns="0" anchor="t" anchorCtr="0">
            <a:noAutofit/>
          </a:bodyPr>
          <a:lstStyle/>
          <a:p>
            <a:pPr marL="228600" marR="0" lvl="0" indent="-228600" algn="l" rtl="0">
              <a:lnSpc>
                <a:spcPct val="115000"/>
              </a:lnSpc>
              <a:spcBef>
                <a:spcPts val="0"/>
              </a:spcBef>
              <a:spcAft>
                <a:spcPts val="0"/>
              </a:spcAft>
              <a:buClr>
                <a:srgbClr val="CADCFC"/>
              </a:buClr>
              <a:buSzPts val="1250"/>
              <a:buFont typeface="Calibri"/>
              <a:buChar char="•"/>
            </a:pPr>
            <a:r>
              <a:rPr lang="en-US" sz="1250" b="0" i="0" u="none" strike="noStrike" cap="none">
                <a:solidFill>
                  <a:srgbClr val="CADCFC"/>
                </a:solidFill>
                <a:latin typeface="Calibri"/>
                <a:ea typeface="Calibri"/>
                <a:cs typeface="Calibri"/>
                <a:sym typeface="Calibri"/>
              </a:rPr>
              <a:t>0.82 — пропорция мордочки</a:t>
            </a:r>
            <a:endParaRPr sz="1250" b="0" i="0" u="none" strike="noStrike" cap="none">
              <a:solidFill>
                <a:schemeClr val="dk1"/>
              </a:solidFill>
              <a:latin typeface="Calibri"/>
              <a:ea typeface="Calibri"/>
              <a:cs typeface="Calibri"/>
              <a:sym typeface="Calibri"/>
            </a:endParaRPr>
          </a:p>
          <a:p>
            <a:pPr marL="228600" marR="0" lvl="0" indent="-228600" algn="l" rtl="0">
              <a:lnSpc>
                <a:spcPct val="115000"/>
              </a:lnSpc>
              <a:spcBef>
                <a:spcPts val="600"/>
              </a:spcBef>
              <a:spcAft>
                <a:spcPts val="0"/>
              </a:spcAft>
              <a:buClr>
                <a:srgbClr val="CADCFC"/>
              </a:buClr>
              <a:buSzPts val="1250"/>
              <a:buFont typeface="Calibri"/>
              <a:buChar char="•"/>
            </a:pPr>
            <a:r>
              <a:rPr lang="en-US" sz="1250" b="0" i="0" u="none" strike="noStrike" cap="none">
                <a:solidFill>
                  <a:srgbClr val="CADCFC"/>
                </a:solidFill>
                <a:latin typeface="Calibri"/>
                <a:ea typeface="Calibri"/>
                <a:cs typeface="Calibri"/>
                <a:sym typeface="Calibri"/>
              </a:rPr>
              <a:t>0.35 — густота шерсти</a:t>
            </a:r>
            <a:endParaRPr sz="1250" b="0" i="0" u="none" strike="noStrike" cap="none">
              <a:solidFill>
                <a:schemeClr val="dk1"/>
              </a:solidFill>
              <a:latin typeface="Calibri"/>
              <a:ea typeface="Calibri"/>
              <a:cs typeface="Calibri"/>
              <a:sym typeface="Calibri"/>
            </a:endParaRPr>
          </a:p>
          <a:p>
            <a:pPr marL="228600" marR="0" lvl="0" indent="-228600" algn="l" rtl="0">
              <a:lnSpc>
                <a:spcPct val="115000"/>
              </a:lnSpc>
              <a:spcBef>
                <a:spcPts val="600"/>
              </a:spcBef>
              <a:spcAft>
                <a:spcPts val="0"/>
              </a:spcAft>
              <a:buClr>
                <a:srgbClr val="CADCFC"/>
              </a:buClr>
              <a:buSzPts val="1250"/>
              <a:buFont typeface="Calibri"/>
              <a:buChar char="•"/>
            </a:pPr>
            <a:r>
              <a:rPr lang="en-US" sz="1250" b="0" i="0" u="none" strike="noStrike" cap="none">
                <a:solidFill>
                  <a:srgbClr val="CADCFC"/>
                </a:solidFill>
                <a:latin typeface="Calibri"/>
                <a:ea typeface="Calibri"/>
                <a:cs typeface="Calibri"/>
                <a:sym typeface="Calibri"/>
              </a:rPr>
              <a:t>0.60 — размер глаз</a:t>
            </a:r>
            <a:endParaRPr sz="1250" b="0" i="0" u="none" strike="noStrike" cap="none">
              <a:solidFill>
                <a:schemeClr val="dk1"/>
              </a:solidFill>
              <a:latin typeface="Calibri"/>
              <a:ea typeface="Calibri"/>
              <a:cs typeface="Calibri"/>
              <a:sym typeface="Calibri"/>
            </a:endParaRPr>
          </a:p>
          <a:p>
            <a:pPr marL="228600" marR="0" lvl="0" indent="-228600" algn="l" rtl="0">
              <a:lnSpc>
                <a:spcPct val="115000"/>
              </a:lnSpc>
              <a:spcBef>
                <a:spcPts val="600"/>
              </a:spcBef>
              <a:spcAft>
                <a:spcPts val="0"/>
              </a:spcAft>
              <a:buClr>
                <a:srgbClr val="CADCFC"/>
              </a:buClr>
              <a:buSzPts val="1250"/>
              <a:buFont typeface="Calibri"/>
              <a:buChar char="•"/>
            </a:pPr>
            <a:r>
              <a:rPr lang="en-US" sz="1250" b="0" i="0" u="none" strike="noStrike" cap="none">
                <a:solidFill>
                  <a:srgbClr val="CADCFC"/>
                </a:solidFill>
                <a:latin typeface="Calibri"/>
                <a:ea typeface="Calibri"/>
                <a:cs typeface="Calibri"/>
                <a:sym typeface="Calibri"/>
              </a:rPr>
              <a:t>0.91 — форма ушей</a:t>
            </a:r>
            <a:endParaRPr sz="1250" b="0" i="0" u="none" strike="noStrike" cap="none">
              <a:solidFill>
                <a:schemeClr val="dk1"/>
              </a:solidFill>
              <a:latin typeface="Calibri"/>
              <a:ea typeface="Calibri"/>
              <a:cs typeface="Calibri"/>
              <a:sym typeface="Calibri"/>
            </a:endParaRPr>
          </a:p>
        </p:txBody>
      </p:sp>
      <p:sp>
        <p:nvSpPr>
          <p:cNvPr id="130" name="Google Shape;130;p7"/>
          <p:cNvSpPr/>
          <p:nvPr/>
        </p:nvSpPr>
        <p:spPr>
          <a:xfrm>
            <a:off x="548640" y="4709160"/>
            <a:ext cx="11094415" cy="1051560"/>
          </a:xfrm>
          <a:prstGeom prst="roundRect">
            <a:avLst>
              <a:gd name="adj" fmla="val 8696"/>
            </a:avLst>
          </a:prstGeom>
          <a:solidFill>
            <a:srgbClr val="44557C"/>
          </a:solidFill>
          <a:ln w="12700" cap="flat" cmpd="sng">
            <a:solidFill>
              <a:srgbClr val="44557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1" name="Google Shape;131;p7"/>
          <p:cNvPicPr preferRelativeResize="0"/>
          <p:nvPr/>
        </p:nvPicPr>
        <p:blipFill>
          <a:blip r:embed="rId3">
            <a:alphaModFix/>
          </a:blip>
          <a:stretch>
            <a:fillRect/>
          </a:stretch>
        </p:blipFill>
        <p:spPr>
          <a:xfrm>
            <a:off x="1434187" y="1158250"/>
            <a:ext cx="1886523" cy="3352688"/>
          </a:xfrm>
          <a:prstGeom prst="rect">
            <a:avLst/>
          </a:prstGeom>
          <a:noFill/>
          <a:ln>
            <a:noFill/>
          </a:ln>
        </p:spPr>
      </p:pic>
      <p:sp>
        <p:nvSpPr>
          <p:cNvPr id="132" name="Google Shape;132;p7"/>
          <p:cNvSpPr txBox="1"/>
          <p:nvPr/>
        </p:nvSpPr>
        <p:spPr>
          <a:xfrm>
            <a:off x="841248" y="4855464"/>
            <a:ext cx="10509199" cy="758952"/>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Каждое число — конкретная измеримая характеристика. Вместе они образуют вектор признаков: представление реального объекта, понятное компьютеру. Именно с таким вектором дальше работает классификатор — например, перцептрон.</a:t>
            </a:r>
            <a:endParaRPr sz="1350" b="0" i="0" u="none" strike="noStrike" cap="none">
              <a:solidFill>
                <a:schemeClr val="dk1"/>
              </a:solidFill>
              <a:latin typeface="Calibri"/>
              <a:ea typeface="Calibri"/>
              <a:cs typeface="Calibri"/>
              <a:sym typeface="Calibri"/>
            </a:endParaRPr>
          </a:p>
        </p:txBody>
      </p:sp>
      <p:cxnSp>
        <p:nvCxnSpPr>
          <p:cNvPr id="133" name="Google Shape;133;p7"/>
          <p:cNvCxnSpPr>
            <a:endCxn id="124" idx="1"/>
          </p:cNvCxnSpPr>
          <p:nvPr/>
        </p:nvCxnSpPr>
        <p:spPr>
          <a:xfrm>
            <a:off x="3034560" y="2020165"/>
            <a:ext cx="1674600" cy="165300"/>
          </a:xfrm>
          <a:prstGeom prst="straightConnector1">
            <a:avLst/>
          </a:prstGeom>
          <a:noFill/>
          <a:ln w="12700" cap="flat" cmpd="sng">
            <a:solidFill>
              <a:srgbClr val="8592B0"/>
            </a:solidFill>
            <a:prstDash val="solid"/>
            <a:round/>
            <a:headEnd type="none" w="sm" len="sm"/>
            <a:tailEnd type="none" w="sm" len="sm"/>
          </a:ln>
        </p:spPr>
      </p:cxnSp>
      <p:cxnSp>
        <p:nvCxnSpPr>
          <p:cNvPr id="134" name="Google Shape;134;p7"/>
          <p:cNvCxnSpPr/>
          <p:nvPr/>
        </p:nvCxnSpPr>
        <p:spPr>
          <a:xfrm>
            <a:off x="2757200" y="2315525"/>
            <a:ext cx="1855200" cy="483600"/>
          </a:xfrm>
          <a:prstGeom prst="straightConnector1">
            <a:avLst/>
          </a:prstGeom>
          <a:noFill/>
          <a:ln w="12700" cap="flat" cmpd="sng">
            <a:solidFill>
              <a:srgbClr val="8592B0"/>
            </a:solidFill>
            <a:prstDash val="solid"/>
            <a:round/>
            <a:headEnd type="none" w="sm" len="sm"/>
            <a:tailEnd type="none" w="sm" len="sm"/>
          </a:ln>
        </p:spPr>
      </p:cxnSp>
      <p:cxnSp>
        <p:nvCxnSpPr>
          <p:cNvPr id="135" name="Google Shape;135;p7"/>
          <p:cNvCxnSpPr/>
          <p:nvPr/>
        </p:nvCxnSpPr>
        <p:spPr>
          <a:xfrm rot="10800000" flipH="1">
            <a:off x="2923048" y="1506885"/>
            <a:ext cx="1475400" cy="107100"/>
          </a:xfrm>
          <a:prstGeom prst="straightConnector1">
            <a:avLst/>
          </a:prstGeom>
          <a:noFill/>
          <a:ln w="12700" cap="flat" cmpd="sng">
            <a:solidFill>
              <a:srgbClr val="8592B0"/>
            </a:solidFill>
            <a:prstDash val="solid"/>
            <a:round/>
            <a:headEnd type="none" w="sm" len="sm"/>
            <a:tailEnd type="none" w="sm" len="sm"/>
          </a:ln>
        </p:spPr>
      </p:cxnSp>
      <p:cxnSp>
        <p:nvCxnSpPr>
          <p:cNvPr id="136" name="Google Shape;136;p7"/>
          <p:cNvCxnSpPr/>
          <p:nvPr/>
        </p:nvCxnSpPr>
        <p:spPr>
          <a:xfrm rot="10800000" flipH="1">
            <a:off x="2479700" y="3294875"/>
            <a:ext cx="2185200" cy="233700"/>
          </a:xfrm>
          <a:prstGeom prst="straightConnector1">
            <a:avLst/>
          </a:prstGeom>
          <a:noFill/>
          <a:ln w="12700" cap="flat" cmpd="sng">
            <a:solidFill>
              <a:srgbClr val="8592B0"/>
            </a:solidFill>
            <a:prstDash val="solid"/>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5"/>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Цифровизация текста</a:t>
            </a:r>
            <a:endParaRPr sz="1400" b="0" i="0" u="none" strike="noStrike" cap="none">
              <a:solidFill>
                <a:schemeClr val="dk1"/>
              </a:solidFill>
              <a:latin typeface="Calibri"/>
              <a:ea typeface="Calibri"/>
              <a:cs typeface="Calibri"/>
              <a:sym typeface="Calibri"/>
            </a:endParaRPr>
          </a:p>
        </p:txBody>
      </p:sp>
      <p:sp>
        <p:nvSpPr>
          <p:cNvPr id="44" name="Google Shape;44;p5"/>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Как сделать так, чтобы компьютер понимал текст</a:t>
            </a:r>
            <a:endParaRPr sz="3200" b="0" i="0" u="none" strike="noStrike" cap="none">
              <a:solidFill>
                <a:schemeClr val="dk1"/>
              </a:solidFill>
              <a:latin typeface="Calibri"/>
              <a:ea typeface="Calibri"/>
              <a:cs typeface="Calibri"/>
              <a:sym typeface="Calibri"/>
            </a:endParaRPr>
          </a:p>
        </p:txBody>
      </p:sp>
      <p:sp>
        <p:nvSpPr>
          <p:cNvPr id="45" name="Google Shape;45;p5"/>
          <p:cNvSpPr/>
          <p:nvPr/>
        </p:nvSpPr>
        <p:spPr>
          <a:xfrm>
            <a:off x="455825" y="4170600"/>
            <a:ext cx="3904200" cy="216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 name="Google Shape;46;p5"/>
          <p:cNvSpPr txBox="1"/>
          <p:nvPr/>
        </p:nvSpPr>
        <p:spPr>
          <a:xfrm>
            <a:off x="892100" y="1880275"/>
            <a:ext cx="70083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latin typeface="Montserrat"/>
                <a:ea typeface="Montserrat"/>
                <a:cs typeface="Montserrat"/>
                <a:sym typeface="Montserrat"/>
              </a:rPr>
              <a:t>Есть множество способов преобразовать текст в цифры, а если точнее - в вектора.</a:t>
            </a:r>
            <a:br>
              <a:rPr lang="en-US" sz="2100">
                <a:latin typeface="Montserrat"/>
                <a:ea typeface="Montserrat"/>
                <a:cs typeface="Montserrat"/>
                <a:sym typeface="Montserrat"/>
              </a:rPr>
            </a:br>
            <a:br>
              <a:rPr lang="en-US" sz="2100">
                <a:latin typeface="Montserrat"/>
                <a:ea typeface="Montserrat"/>
                <a:cs typeface="Montserrat"/>
                <a:sym typeface="Montserrat"/>
              </a:rPr>
            </a:br>
            <a:r>
              <a:rPr lang="en-US" sz="2100">
                <a:latin typeface="Montserrat"/>
                <a:ea typeface="Montserrat"/>
                <a:cs typeface="Montserrat"/>
                <a:sym typeface="Montserrat"/>
              </a:rPr>
              <a:t>Давайте разбираться…</a:t>
            </a:r>
            <a:endParaRPr sz="2100">
              <a:latin typeface="Montserrat"/>
              <a:ea typeface="Montserrat"/>
              <a:cs typeface="Montserrat"/>
              <a:sym typeface="Montserrat"/>
            </a:endParaRPr>
          </a:p>
        </p:txBody>
      </p:sp>
      <p:sp>
        <p:nvSpPr>
          <p:cNvPr id="47" name="Google Shape;47;p5"/>
          <p:cNvSpPr txBox="1"/>
          <p:nvPr/>
        </p:nvSpPr>
        <p:spPr>
          <a:xfrm>
            <a:off x="504050" y="4482600"/>
            <a:ext cx="3693900" cy="17238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Мама-лама маме-сыну</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Подарила новый светер</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Ламе-сыну свитер мал</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Лама-сын его порвал</a:t>
            </a:r>
            <a:endParaRPr sz="2000">
              <a:latin typeface="Montserrat"/>
              <a:ea typeface="Montserrat"/>
              <a:cs typeface="Montserrat"/>
              <a:sym typeface="Montserrat"/>
            </a:endParaRPr>
          </a:p>
        </p:txBody>
      </p:sp>
      <p:pic>
        <p:nvPicPr>
          <p:cNvPr id="48" name="Google Shape;48;p5"/>
          <p:cNvPicPr preferRelativeResize="0"/>
          <p:nvPr/>
        </p:nvPicPr>
        <p:blipFill>
          <a:blip r:embed="rId3">
            <a:alphaModFix/>
          </a:blip>
          <a:stretch>
            <a:fillRect/>
          </a:stretch>
        </p:blipFill>
        <p:spPr>
          <a:xfrm>
            <a:off x="6107050" y="3839850"/>
            <a:ext cx="5021875" cy="2824800"/>
          </a:xfrm>
          <a:prstGeom prst="rect">
            <a:avLst/>
          </a:prstGeom>
          <a:noFill/>
          <a:ln>
            <a:noFill/>
          </a:ln>
        </p:spPr>
      </p:pic>
      <p:sp>
        <p:nvSpPr>
          <p:cNvPr id="49" name="Google Shape;49;p5"/>
          <p:cNvSpPr/>
          <p:nvPr/>
        </p:nvSpPr>
        <p:spPr>
          <a:xfrm>
            <a:off x="4360025" y="4984650"/>
            <a:ext cx="1746900" cy="535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6"/>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Цифровизация текста</a:t>
            </a:r>
            <a:endParaRPr sz="1400" b="0" i="0" u="none" strike="noStrike" cap="none">
              <a:solidFill>
                <a:schemeClr val="dk1"/>
              </a:solidFill>
              <a:latin typeface="Calibri"/>
              <a:ea typeface="Calibri"/>
              <a:cs typeface="Calibri"/>
              <a:sym typeface="Calibri"/>
            </a:endParaRPr>
          </a:p>
        </p:txBody>
      </p:sp>
      <p:sp>
        <p:nvSpPr>
          <p:cNvPr id="56" name="Google Shape;56;p6"/>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TF (term frequency)</a:t>
            </a:r>
            <a:endParaRPr sz="3200" b="0" i="0" u="none" strike="noStrike" cap="none">
              <a:solidFill>
                <a:schemeClr val="dk1"/>
              </a:solidFill>
              <a:latin typeface="Calibri"/>
              <a:ea typeface="Calibri"/>
              <a:cs typeface="Calibri"/>
              <a:sym typeface="Calibri"/>
            </a:endParaRPr>
          </a:p>
        </p:txBody>
      </p:sp>
      <p:sp>
        <p:nvSpPr>
          <p:cNvPr id="57" name="Google Shape;57;p6"/>
          <p:cNvSpPr/>
          <p:nvPr/>
        </p:nvSpPr>
        <p:spPr>
          <a:xfrm>
            <a:off x="548650" y="1438550"/>
            <a:ext cx="3755700" cy="216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6"/>
          <p:cNvSpPr txBox="1"/>
          <p:nvPr/>
        </p:nvSpPr>
        <p:spPr>
          <a:xfrm>
            <a:off x="548650" y="1658300"/>
            <a:ext cx="3693900" cy="17238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Мама-лама маме-сыну</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Подарила новый светер</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Ламе-сыну свитер мал</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Лама-сын его порвал</a:t>
            </a:r>
            <a:endParaRPr sz="2000">
              <a:latin typeface="Montserrat"/>
              <a:ea typeface="Montserrat"/>
              <a:cs typeface="Montserrat"/>
              <a:sym typeface="Montserrat"/>
            </a:endParaRPr>
          </a:p>
        </p:txBody>
      </p:sp>
      <p:sp>
        <p:nvSpPr>
          <p:cNvPr id="59" name="Google Shape;59;p6"/>
          <p:cNvSpPr txBox="1"/>
          <p:nvPr/>
        </p:nvSpPr>
        <p:spPr>
          <a:xfrm>
            <a:off x="4332338" y="1848338"/>
            <a:ext cx="7393200" cy="16470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Montserrat"/>
              <a:buAutoNum type="arabicPeriod"/>
            </a:pPr>
            <a:r>
              <a:rPr lang="en-US" sz="1900" b="1">
                <a:latin typeface="Montserrat"/>
                <a:ea typeface="Montserrat"/>
                <a:cs typeface="Montserrat"/>
                <a:sym typeface="Montserrat"/>
              </a:rPr>
              <a:t>Вычленяем леммы (базовые словарные формы)</a:t>
            </a:r>
            <a:r>
              <a:rPr lang="en-US" sz="1900">
                <a:latin typeface="Montserrat"/>
                <a:ea typeface="Montserrat"/>
                <a:cs typeface="Montserrat"/>
                <a:sym typeface="Montserrat"/>
              </a:rPr>
              <a:t>: Мама, лама, сын, подарить, новый, свитер, мал, его, порвал</a:t>
            </a:r>
            <a:endParaRPr sz="1900">
              <a:latin typeface="Montserrat"/>
              <a:ea typeface="Montserrat"/>
              <a:cs typeface="Montserrat"/>
              <a:sym typeface="Montserrat"/>
            </a:endParaRPr>
          </a:p>
          <a:p>
            <a:pPr marL="457200" lvl="0" indent="-349250" algn="l" rtl="0">
              <a:spcBef>
                <a:spcPts val="0"/>
              </a:spcBef>
              <a:spcAft>
                <a:spcPts val="0"/>
              </a:spcAft>
              <a:buSzPts val="1900"/>
              <a:buFont typeface="Montserrat"/>
              <a:buAutoNum type="arabicPeriod"/>
            </a:pPr>
            <a:r>
              <a:rPr lang="en-US" sz="1900">
                <a:latin typeface="Montserrat"/>
                <a:ea typeface="Montserrat"/>
                <a:cs typeface="Montserrat"/>
                <a:sym typeface="Montserrat"/>
              </a:rPr>
              <a:t>Каждое предложение (документ) собираем в вектор, где каждое значение - частота встречи слова:</a:t>
            </a:r>
            <a:endParaRPr sz="1900">
              <a:latin typeface="Montserrat"/>
              <a:ea typeface="Montserrat"/>
              <a:cs typeface="Montserrat"/>
              <a:sym typeface="Montserrat"/>
            </a:endParaRPr>
          </a:p>
        </p:txBody>
      </p:sp>
      <p:graphicFrame>
        <p:nvGraphicFramePr>
          <p:cNvPr id="60" name="Google Shape;60;p6"/>
          <p:cNvGraphicFramePr/>
          <p:nvPr/>
        </p:nvGraphicFramePr>
        <p:xfrm>
          <a:off x="3763488" y="4016325"/>
          <a:ext cx="8129450" cy="2163930"/>
        </p:xfrm>
        <a:graphic>
          <a:graphicData uri="http://schemas.openxmlformats.org/drawingml/2006/table">
            <a:tbl>
              <a:tblPr>
                <a:noFill/>
                <a:tableStyleId>{2689D54E-76E5-4D9E-A9EF-E7053C295400}</a:tableStyleId>
              </a:tblPr>
              <a:tblGrid>
                <a:gridCol w="764050">
                  <a:extLst>
                    <a:ext uri="{9D8B030D-6E8A-4147-A177-3AD203B41FA5}">
                      <a16:colId xmlns:a16="http://schemas.microsoft.com/office/drawing/2014/main" val="20000"/>
                    </a:ext>
                  </a:extLst>
                </a:gridCol>
                <a:gridCol w="849000">
                  <a:extLst>
                    <a:ext uri="{9D8B030D-6E8A-4147-A177-3AD203B41FA5}">
                      <a16:colId xmlns:a16="http://schemas.microsoft.com/office/drawing/2014/main" val="20001"/>
                    </a:ext>
                  </a:extLst>
                </a:gridCol>
                <a:gridCol w="887975">
                  <a:extLst>
                    <a:ext uri="{9D8B030D-6E8A-4147-A177-3AD203B41FA5}">
                      <a16:colId xmlns:a16="http://schemas.microsoft.com/office/drawing/2014/main" val="20002"/>
                    </a:ext>
                  </a:extLst>
                </a:gridCol>
                <a:gridCol w="635175">
                  <a:extLst>
                    <a:ext uri="{9D8B030D-6E8A-4147-A177-3AD203B41FA5}">
                      <a16:colId xmlns:a16="http://schemas.microsoft.com/office/drawing/2014/main" val="20003"/>
                    </a:ext>
                  </a:extLst>
                </a:gridCol>
                <a:gridCol w="1028900">
                  <a:extLst>
                    <a:ext uri="{9D8B030D-6E8A-4147-A177-3AD203B41FA5}">
                      <a16:colId xmlns:a16="http://schemas.microsoft.com/office/drawing/2014/main" val="20004"/>
                    </a:ext>
                  </a:extLst>
                </a:gridCol>
                <a:gridCol w="828550">
                  <a:extLst>
                    <a:ext uri="{9D8B030D-6E8A-4147-A177-3AD203B41FA5}">
                      <a16:colId xmlns:a16="http://schemas.microsoft.com/office/drawing/2014/main" val="20005"/>
                    </a:ext>
                  </a:extLst>
                </a:gridCol>
                <a:gridCol w="817400">
                  <a:extLst>
                    <a:ext uri="{9D8B030D-6E8A-4147-A177-3AD203B41FA5}">
                      <a16:colId xmlns:a16="http://schemas.microsoft.com/office/drawing/2014/main" val="20006"/>
                    </a:ext>
                  </a:extLst>
                </a:gridCol>
                <a:gridCol w="772800">
                  <a:extLst>
                    <a:ext uri="{9D8B030D-6E8A-4147-A177-3AD203B41FA5}">
                      <a16:colId xmlns:a16="http://schemas.microsoft.com/office/drawing/2014/main" val="20007"/>
                    </a:ext>
                  </a:extLst>
                </a:gridCol>
                <a:gridCol w="772800">
                  <a:extLst>
                    <a:ext uri="{9D8B030D-6E8A-4147-A177-3AD203B41FA5}">
                      <a16:colId xmlns:a16="http://schemas.microsoft.com/office/drawing/2014/main" val="20008"/>
                    </a:ext>
                  </a:extLst>
                </a:gridCol>
                <a:gridCol w="772800">
                  <a:extLst>
                    <a:ext uri="{9D8B030D-6E8A-4147-A177-3AD203B41FA5}">
                      <a16:colId xmlns:a16="http://schemas.microsoft.com/office/drawing/2014/main" val="20009"/>
                    </a:ext>
                  </a:extLst>
                </a:gridCol>
              </a:tblGrid>
              <a:tr h="381000">
                <a:tc>
                  <a:txBody>
                    <a:bodyPr/>
                    <a:lstStyle/>
                    <a:p>
                      <a:pPr marL="0" lvl="0" indent="0" algn="ctr" rtl="0">
                        <a:spcBef>
                          <a:spcPts val="0"/>
                        </a:spcBef>
                        <a:spcAft>
                          <a:spcPts val="0"/>
                        </a:spcAft>
                        <a:buNone/>
                      </a:pPr>
                      <a:r>
                        <a:rPr lang="en-US" sz="1300" b="1"/>
                        <a:t>№</a:t>
                      </a:r>
                      <a:endParaRPr sz="1300" b="1"/>
                    </a:p>
                  </a:txBody>
                  <a:tcPr marL="91425" marR="91425" marT="91425" marB="91425" anchor="ctr"/>
                </a:tc>
                <a:tc>
                  <a:txBody>
                    <a:bodyPr/>
                    <a:lstStyle/>
                    <a:p>
                      <a:pPr marL="0" lvl="0" indent="0" algn="ctr" rtl="0">
                        <a:spcBef>
                          <a:spcPts val="0"/>
                        </a:spcBef>
                        <a:spcAft>
                          <a:spcPts val="0"/>
                        </a:spcAft>
                        <a:buNone/>
                      </a:pPr>
                      <a:r>
                        <a:rPr lang="en-US" sz="1300" b="1"/>
                        <a:t>Мама</a:t>
                      </a:r>
                      <a:endParaRPr sz="1300" b="1"/>
                    </a:p>
                  </a:txBody>
                  <a:tcPr marL="91425" marR="91425" marT="91425" marB="91425" anchor="ctr"/>
                </a:tc>
                <a:tc>
                  <a:txBody>
                    <a:bodyPr/>
                    <a:lstStyle/>
                    <a:p>
                      <a:pPr marL="0" lvl="0" indent="0" algn="ctr" rtl="0">
                        <a:spcBef>
                          <a:spcPts val="0"/>
                        </a:spcBef>
                        <a:spcAft>
                          <a:spcPts val="0"/>
                        </a:spcAft>
                        <a:buNone/>
                      </a:pPr>
                      <a:r>
                        <a:rPr lang="en-US" sz="1300" b="1"/>
                        <a:t>Лама</a:t>
                      </a:r>
                      <a:endParaRPr sz="1300" b="1"/>
                    </a:p>
                  </a:txBody>
                  <a:tcPr marL="91425" marR="91425" marT="91425" marB="91425" anchor="ctr"/>
                </a:tc>
                <a:tc>
                  <a:txBody>
                    <a:bodyPr/>
                    <a:lstStyle/>
                    <a:p>
                      <a:pPr marL="0" lvl="0" indent="0" algn="ctr" rtl="0">
                        <a:spcBef>
                          <a:spcPts val="0"/>
                        </a:spcBef>
                        <a:spcAft>
                          <a:spcPts val="0"/>
                        </a:spcAft>
                        <a:buNone/>
                      </a:pPr>
                      <a:r>
                        <a:rPr lang="en-US" sz="1300" b="1"/>
                        <a:t>Сын</a:t>
                      </a:r>
                      <a:endParaRPr sz="1300" b="1"/>
                    </a:p>
                  </a:txBody>
                  <a:tcPr marL="91425" marR="91425" marT="91425" marB="91425" anchor="ctr"/>
                </a:tc>
                <a:tc>
                  <a:txBody>
                    <a:bodyPr/>
                    <a:lstStyle/>
                    <a:p>
                      <a:pPr marL="0" lvl="0" indent="0" algn="ctr" rtl="0">
                        <a:spcBef>
                          <a:spcPts val="0"/>
                        </a:spcBef>
                        <a:spcAft>
                          <a:spcPts val="0"/>
                        </a:spcAft>
                        <a:buNone/>
                      </a:pPr>
                      <a:r>
                        <a:rPr lang="en-US" sz="1300" b="1"/>
                        <a:t>Подарить</a:t>
                      </a:r>
                      <a:endParaRPr sz="1300" b="1"/>
                    </a:p>
                  </a:txBody>
                  <a:tcPr marL="91425" marR="91425" marT="91425" marB="91425" anchor="ctr"/>
                </a:tc>
                <a:tc>
                  <a:txBody>
                    <a:bodyPr/>
                    <a:lstStyle/>
                    <a:p>
                      <a:pPr marL="0" lvl="0" indent="0" algn="ctr" rtl="0">
                        <a:spcBef>
                          <a:spcPts val="0"/>
                        </a:spcBef>
                        <a:spcAft>
                          <a:spcPts val="0"/>
                        </a:spcAft>
                        <a:buNone/>
                      </a:pPr>
                      <a:r>
                        <a:rPr lang="en-US" sz="1300" b="1"/>
                        <a:t>Новый</a:t>
                      </a:r>
                      <a:endParaRPr sz="1300" b="1"/>
                    </a:p>
                  </a:txBody>
                  <a:tcPr marL="91425" marR="91425" marT="91425" marB="91425" anchor="ctr"/>
                </a:tc>
                <a:tc>
                  <a:txBody>
                    <a:bodyPr/>
                    <a:lstStyle/>
                    <a:p>
                      <a:pPr marL="0" lvl="0" indent="0" algn="ctr" rtl="0">
                        <a:spcBef>
                          <a:spcPts val="0"/>
                        </a:spcBef>
                        <a:spcAft>
                          <a:spcPts val="0"/>
                        </a:spcAft>
                        <a:buNone/>
                      </a:pPr>
                      <a:r>
                        <a:rPr lang="en-US" sz="1300" b="1"/>
                        <a:t>Свитер</a:t>
                      </a:r>
                      <a:endParaRPr sz="1300" b="1"/>
                    </a:p>
                  </a:txBody>
                  <a:tcPr marL="91425" marR="91425" marT="91425" marB="91425" anchor="ctr"/>
                </a:tc>
                <a:tc>
                  <a:txBody>
                    <a:bodyPr/>
                    <a:lstStyle/>
                    <a:p>
                      <a:pPr marL="0" lvl="0" indent="0" algn="ctr" rtl="0">
                        <a:spcBef>
                          <a:spcPts val="0"/>
                        </a:spcBef>
                        <a:spcAft>
                          <a:spcPts val="0"/>
                        </a:spcAft>
                        <a:buNone/>
                      </a:pPr>
                      <a:r>
                        <a:rPr lang="en-US" sz="1300" b="1"/>
                        <a:t>Мал</a:t>
                      </a:r>
                      <a:endParaRPr sz="1300" b="1"/>
                    </a:p>
                  </a:txBody>
                  <a:tcPr marL="91425" marR="91425" marT="91425" marB="91425" anchor="ctr"/>
                </a:tc>
                <a:tc>
                  <a:txBody>
                    <a:bodyPr/>
                    <a:lstStyle/>
                    <a:p>
                      <a:pPr marL="0" lvl="0" indent="0" algn="ctr" rtl="0">
                        <a:spcBef>
                          <a:spcPts val="0"/>
                        </a:spcBef>
                        <a:spcAft>
                          <a:spcPts val="0"/>
                        </a:spcAft>
                        <a:buNone/>
                      </a:pPr>
                      <a:r>
                        <a:rPr lang="en-US" sz="1300" b="1"/>
                        <a:t>Его</a:t>
                      </a:r>
                      <a:endParaRPr sz="1300" b="1"/>
                    </a:p>
                  </a:txBody>
                  <a:tcPr marL="91425" marR="91425" marT="91425" marB="91425" anchor="ctr"/>
                </a:tc>
                <a:tc>
                  <a:txBody>
                    <a:bodyPr/>
                    <a:lstStyle/>
                    <a:p>
                      <a:pPr marL="0" lvl="0" indent="0" algn="ctr" rtl="0">
                        <a:spcBef>
                          <a:spcPts val="0"/>
                        </a:spcBef>
                        <a:spcAft>
                          <a:spcPts val="0"/>
                        </a:spcAft>
                        <a:buNone/>
                      </a:pPr>
                      <a:r>
                        <a:rPr lang="en-US" sz="1300" b="1"/>
                        <a:t>Порвал</a:t>
                      </a:r>
                      <a:endParaRPr sz="1300" b="1"/>
                    </a:p>
                  </a:txBody>
                  <a:tcPr marL="91425" marR="91425" marT="91425" marB="91425" anchor="ct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US" b="1"/>
                        <a:t>1</a:t>
                      </a:r>
                      <a:endParaRPr b="1"/>
                    </a:p>
                  </a:txBody>
                  <a:tcPr marL="91425" marR="91425" marT="91425" marB="91425" anchor="ctr"/>
                </a:tc>
                <a:tc>
                  <a:txBody>
                    <a:bodyPr/>
                    <a:lstStyle/>
                    <a:p>
                      <a:pPr marL="0" lvl="0" indent="0" algn="ctr" rtl="0">
                        <a:spcBef>
                          <a:spcPts val="0"/>
                        </a:spcBef>
                        <a:spcAft>
                          <a:spcPts val="0"/>
                        </a:spcAft>
                        <a:buNone/>
                      </a:pPr>
                      <a:r>
                        <a:rPr lang="en-US"/>
                        <a:t>0.5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US" b="1"/>
                        <a:t>2</a:t>
                      </a:r>
                      <a:endParaRPr b="1"/>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0.33</a:t>
                      </a:r>
                      <a:endParaRPr/>
                    </a:p>
                  </a:txBody>
                  <a:tcPr marL="91425" marR="91425" marT="91425" marB="91425" anchor="ctr"/>
                </a:tc>
                <a:tc>
                  <a:txBody>
                    <a:bodyPr/>
                    <a:lstStyle/>
                    <a:p>
                      <a:pPr marL="0" lvl="0" indent="0" algn="ctr" rtl="0">
                        <a:spcBef>
                          <a:spcPts val="0"/>
                        </a:spcBef>
                        <a:spcAft>
                          <a:spcPts val="0"/>
                        </a:spcAft>
                        <a:buNone/>
                      </a:pPr>
                      <a:r>
                        <a:rPr lang="en-US"/>
                        <a:t>0.33</a:t>
                      </a:r>
                      <a:endParaRPr/>
                    </a:p>
                  </a:txBody>
                  <a:tcPr marL="91425" marR="91425" marT="91425" marB="91425" anchor="ctr"/>
                </a:tc>
                <a:tc>
                  <a:txBody>
                    <a:bodyPr/>
                    <a:lstStyle/>
                    <a:p>
                      <a:pPr marL="0" lvl="0" indent="0" algn="ctr" rtl="0">
                        <a:spcBef>
                          <a:spcPts val="0"/>
                        </a:spcBef>
                        <a:spcAft>
                          <a:spcPts val="0"/>
                        </a:spcAft>
                        <a:buNone/>
                      </a:pPr>
                      <a:r>
                        <a:rPr lang="en-US"/>
                        <a:t>0.33</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US" b="1"/>
                        <a:t>3</a:t>
                      </a:r>
                      <a:endParaRPr b="1"/>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US" b="1"/>
                        <a:t>4</a:t>
                      </a:r>
                      <a:endParaRPr b="1"/>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extLst>
                  <a:ext uri="{0D108BD9-81ED-4DB2-BD59-A6C34878D82A}">
                    <a16:rowId xmlns:a16="http://schemas.microsoft.com/office/drawing/2014/main" val="10004"/>
                  </a:ext>
                </a:extLst>
              </a:tr>
            </a:tbl>
          </a:graphicData>
        </a:graphic>
      </p:graphicFrame>
      <p:sp>
        <p:nvSpPr>
          <p:cNvPr id="61" name="Google Shape;61;p6"/>
          <p:cNvSpPr txBox="1"/>
          <p:nvPr/>
        </p:nvSpPr>
        <p:spPr>
          <a:xfrm>
            <a:off x="2475550" y="4928850"/>
            <a:ext cx="10260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a:latin typeface="Montserrat"/>
                <a:ea typeface="Montserrat"/>
                <a:cs typeface="Montserrat"/>
                <a:sym typeface="Montserrat"/>
              </a:rPr>
              <a:t>TF =</a:t>
            </a:r>
            <a:endParaRPr sz="3100" b="1">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7"/>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Цифровизация текста</a:t>
            </a:r>
            <a:endParaRPr sz="1400" b="0" i="0" u="none" strike="noStrike" cap="none">
              <a:solidFill>
                <a:schemeClr val="dk1"/>
              </a:solidFill>
              <a:latin typeface="Calibri"/>
              <a:ea typeface="Calibri"/>
              <a:cs typeface="Calibri"/>
              <a:sym typeface="Calibri"/>
            </a:endParaRPr>
          </a:p>
        </p:txBody>
      </p:sp>
      <p:sp>
        <p:nvSpPr>
          <p:cNvPr id="68" name="Google Shape;68;p7"/>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TF-IDF (term frequency-inverse document frequency)</a:t>
            </a:r>
            <a:endParaRPr sz="3200" b="0" i="0" u="none" strike="noStrike" cap="none">
              <a:solidFill>
                <a:schemeClr val="dk1"/>
              </a:solidFill>
              <a:latin typeface="Calibri"/>
              <a:ea typeface="Calibri"/>
              <a:cs typeface="Calibri"/>
              <a:sym typeface="Calibri"/>
            </a:endParaRPr>
          </a:p>
        </p:txBody>
      </p:sp>
      <p:sp>
        <p:nvSpPr>
          <p:cNvPr id="69" name="Google Shape;69;p7"/>
          <p:cNvSpPr/>
          <p:nvPr/>
        </p:nvSpPr>
        <p:spPr>
          <a:xfrm>
            <a:off x="548650" y="1438550"/>
            <a:ext cx="3755700" cy="216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7"/>
          <p:cNvSpPr txBox="1"/>
          <p:nvPr/>
        </p:nvSpPr>
        <p:spPr>
          <a:xfrm>
            <a:off x="548650" y="1658300"/>
            <a:ext cx="3693900" cy="17238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Мама-лама маме-сыну</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Подарила новый светер</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Ламе-сыну свитер мал</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Лама-сын его порвал</a:t>
            </a:r>
            <a:endParaRPr sz="2000">
              <a:latin typeface="Montserrat"/>
              <a:ea typeface="Montserrat"/>
              <a:cs typeface="Montserrat"/>
              <a:sym typeface="Montserrat"/>
            </a:endParaRPr>
          </a:p>
        </p:txBody>
      </p:sp>
      <p:sp>
        <p:nvSpPr>
          <p:cNvPr id="71" name="Google Shape;71;p7"/>
          <p:cNvSpPr txBox="1"/>
          <p:nvPr/>
        </p:nvSpPr>
        <p:spPr>
          <a:xfrm>
            <a:off x="5029175" y="1438550"/>
            <a:ext cx="6244800" cy="16623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Montserrat"/>
              <a:buAutoNum type="arabicPeriod"/>
            </a:pPr>
            <a:r>
              <a:rPr lang="en-US" sz="1600" b="1">
                <a:latin typeface="Montserrat"/>
                <a:ea typeface="Montserrat"/>
                <a:cs typeface="Montserrat"/>
                <a:sym typeface="Montserrat"/>
              </a:rPr>
              <a:t>Делаем матрицу TF</a:t>
            </a:r>
            <a:endParaRPr sz="1600">
              <a:latin typeface="Montserrat"/>
              <a:ea typeface="Montserrat"/>
              <a:cs typeface="Montserrat"/>
              <a:sym typeface="Montserrat"/>
            </a:endParaRPr>
          </a:p>
          <a:p>
            <a:pPr marL="457200" lvl="0" indent="-330200" algn="l" rtl="0">
              <a:spcBef>
                <a:spcPts val="0"/>
              </a:spcBef>
              <a:spcAft>
                <a:spcPts val="0"/>
              </a:spcAft>
              <a:buSzPts val="1600"/>
              <a:buFont typeface="Montserrat"/>
              <a:buAutoNum type="arabicPeriod"/>
            </a:pPr>
            <a:r>
              <a:rPr lang="en-US" sz="1600">
                <a:latin typeface="Montserrat"/>
                <a:ea typeface="Montserrat"/>
                <a:cs typeface="Montserrat"/>
                <a:sym typeface="Montserrat"/>
              </a:rPr>
              <a:t>Вычисляем IDF = log(N/f</a:t>
            </a:r>
            <a:r>
              <a:rPr lang="en-US" sz="1600" baseline="-25000">
                <a:latin typeface="Montserrat"/>
                <a:ea typeface="Montserrat"/>
                <a:cs typeface="Montserrat"/>
                <a:sym typeface="Montserrat"/>
              </a:rPr>
              <a:t>i</a:t>
            </a:r>
            <a:r>
              <a:rPr lang="en-US" sz="1600">
                <a:latin typeface="Montserrat"/>
                <a:ea typeface="Montserrat"/>
                <a:cs typeface="Montserrat"/>
                <a:sym typeface="Montserrat"/>
              </a:rPr>
              <a:t>) - где N - число документов, страниц, предложений (в зависимости от контекста задачи), f</a:t>
            </a:r>
            <a:r>
              <a:rPr lang="en-US" sz="1600" baseline="-25000">
                <a:latin typeface="Montserrat"/>
                <a:ea typeface="Montserrat"/>
                <a:cs typeface="Montserrat"/>
                <a:sym typeface="Montserrat"/>
              </a:rPr>
              <a:t>i</a:t>
            </a:r>
            <a:r>
              <a:rPr lang="en-US" sz="1600">
                <a:latin typeface="Montserrat"/>
                <a:ea typeface="Montserrat"/>
                <a:cs typeface="Montserrat"/>
                <a:sym typeface="Montserrat"/>
              </a:rPr>
              <a:t> - количество документов, страниц, предложений, где встречается слово i</a:t>
            </a:r>
            <a:endParaRPr sz="1600">
              <a:latin typeface="Montserrat"/>
              <a:ea typeface="Montserrat"/>
              <a:cs typeface="Montserrat"/>
              <a:sym typeface="Montserrat"/>
            </a:endParaRPr>
          </a:p>
          <a:p>
            <a:pPr marL="457200" lvl="0" indent="-330200" algn="l" rtl="0">
              <a:spcBef>
                <a:spcPts val="0"/>
              </a:spcBef>
              <a:spcAft>
                <a:spcPts val="0"/>
              </a:spcAft>
              <a:buSzPts val="1600"/>
              <a:buFont typeface="Montserrat"/>
              <a:buAutoNum type="arabicPeriod"/>
            </a:pPr>
            <a:r>
              <a:rPr lang="en-US" sz="1600">
                <a:latin typeface="Montserrat"/>
                <a:ea typeface="Montserrat"/>
                <a:cs typeface="Montserrat"/>
                <a:sym typeface="Montserrat"/>
              </a:rPr>
              <a:t>Перемножаем</a:t>
            </a:r>
            <a:endParaRPr sz="1600">
              <a:latin typeface="Montserrat"/>
              <a:ea typeface="Montserrat"/>
              <a:cs typeface="Montserrat"/>
              <a:sym typeface="Montserrat"/>
            </a:endParaRPr>
          </a:p>
        </p:txBody>
      </p:sp>
      <p:graphicFrame>
        <p:nvGraphicFramePr>
          <p:cNvPr id="72" name="Google Shape;72;p7"/>
          <p:cNvGraphicFramePr/>
          <p:nvPr/>
        </p:nvGraphicFramePr>
        <p:xfrm>
          <a:off x="548638" y="4060925"/>
          <a:ext cx="7170500" cy="2163930"/>
        </p:xfrm>
        <a:graphic>
          <a:graphicData uri="http://schemas.openxmlformats.org/drawingml/2006/table">
            <a:tbl>
              <a:tblPr>
                <a:noFill/>
                <a:tableStyleId>{2689D54E-76E5-4D9E-A9EF-E7053C295400}</a:tableStyleId>
              </a:tblPr>
              <a:tblGrid>
                <a:gridCol w="450275">
                  <a:extLst>
                    <a:ext uri="{9D8B030D-6E8A-4147-A177-3AD203B41FA5}">
                      <a16:colId xmlns:a16="http://schemas.microsoft.com/office/drawing/2014/main" val="20000"/>
                    </a:ext>
                  </a:extLst>
                </a:gridCol>
                <a:gridCol w="673950">
                  <a:extLst>
                    <a:ext uri="{9D8B030D-6E8A-4147-A177-3AD203B41FA5}">
                      <a16:colId xmlns:a16="http://schemas.microsoft.com/office/drawing/2014/main" val="20001"/>
                    </a:ext>
                  </a:extLst>
                </a:gridCol>
                <a:gridCol w="823900">
                  <a:extLst>
                    <a:ext uri="{9D8B030D-6E8A-4147-A177-3AD203B41FA5}">
                      <a16:colId xmlns:a16="http://schemas.microsoft.com/office/drawing/2014/main" val="20002"/>
                    </a:ext>
                  </a:extLst>
                </a:gridCol>
                <a:gridCol w="703175">
                  <a:extLst>
                    <a:ext uri="{9D8B030D-6E8A-4147-A177-3AD203B41FA5}">
                      <a16:colId xmlns:a16="http://schemas.microsoft.com/office/drawing/2014/main" val="20003"/>
                    </a:ext>
                  </a:extLst>
                </a:gridCol>
                <a:gridCol w="933950">
                  <a:extLst>
                    <a:ext uri="{9D8B030D-6E8A-4147-A177-3AD203B41FA5}">
                      <a16:colId xmlns:a16="http://schemas.microsoft.com/office/drawing/2014/main" val="20004"/>
                    </a:ext>
                  </a:extLst>
                </a:gridCol>
                <a:gridCol w="717050">
                  <a:extLst>
                    <a:ext uri="{9D8B030D-6E8A-4147-A177-3AD203B41FA5}">
                      <a16:colId xmlns:a16="http://schemas.microsoft.com/office/drawing/2014/main" val="20005"/>
                    </a:ext>
                  </a:extLst>
                </a:gridCol>
                <a:gridCol w="717050">
                  <a:extLst>
                    <a:ext uri="{9D8B030D-6E8A-4147-A177-3AD203B41FA5}">
                      <a16:colId xmlns:a16="http://schemas.microsoft.com/office/drawing/2014/main" val="20006"/>
                    </a:ext>
                  </a:extLst>
                </a:gridCol>
                <a:gridCol w="717050">
                  <a:extLst>
                    <a:ext uri="{9D8B030D-6E8A-4147-A177-3AD203B41FA5}">
                      <a16:colId xmlns:a16="http://schemas.microsoft.com/office/drawing/2014/main" val="20007"/>
                    </a:ext>
                  </a:extLst>
                </a:gridCol>
                <a:gridCol w="717050">
                  <a:extLst>
                    <a:ext uri="{9D8B030D-6E8A-4147-A177-3AD203B41FA5}">
                      <a16:colId xmlns:a16="http://schemas.microsoft.com/office/drawing/2014/main" val="20008"/>
                    </a:ext>
                  </a:extLst>
                </a:gridCol>
                <a:gridCol w="717050">
                  <a:extLst>
                    <a:ext uri="{9D8B030D-6E8A-4147-A177-3AD203B41FA5}">
                      <a16:colId xmlns:a16="http://schemas.microsoft.com/office/drawing/2014/main" val="20009"/>
                    </a:ext>
                  </a:extLst>
                </a:gridCol>
              </a:tblGrid>
              <a:tr h="381000">
                <a:tc>
                  <a:txBody>
                    <a:bodyPr/>
                    <a:lstStyle/>
                    <a:p>
                      <a:pPr marL="0" lvl="0" indent="0" algn="ctr" rtl="0">
                        <a:spcBef>
                          <a:spcPts val="0"/>
                        </a:spcBef>
                        <a:spcAft>
                          <a:spcPts val="0"/>
                        </a:spcAft>
                        <a:buNone/>
                      </a:pPr>
                      <a:r>
                        <a:rPr lang="en-US" sz="1300" b="1"/>
                        <a:t>№</a:t>
                      </a:r>
                      <a:endParaRPr sz="1300" b="1"/>
                    </a:p>
                  </a:txBody>
                  <a:tcPr marL="91425" marR="91425" marT="91425" marB="91425" anchor="ctr"/>
                </a:tc>
                <a:tc>
                  <a:txBody>
                    <a:bodyPr/>
                    <a:lstStyle/>
                    <a:p>
                      <a:pPr marL="0" lvl="0" indent="0" algn="ctr" rtl="0">
                        <a:spcBef>
                          <a:spcPts val="0"/>
                        </a:spcBef>
                        <a:spcAft>
                          <a:spcPts val="0"/>
                        </a:spcAft>
                        <a:buNone/>
                      </a:pPr>
                      <a:r>
                        <a:rPr lang="en-US" sz="1300" b="1"/>
                        <a:t>Мама</a:t>
                      </a:r>
                      <a:endParaRPr sz="1300" b="1"/>
                    </a:p>
                  </a:txBody>
                  <a:tcPr marL="91425" marR="91425" marT="91425" marB="91425" anchor="ctr"/>
                </a:tc>
                <a:tc>
                  <a:txBody>
                    <a:bodyPr/>
                    <a:lstStyle/>
                    <a:p>
                      <a:pPr marL="0" lvl="0" indent="0" algn="ctr" rtl="0">
                        <a:spcBef>
                          <a:spcPts val="0"/>
                        </a:spcBef>
                        <a:spcAft>
                          <a:spcPts val="0"/>
                        </a:spcAft>
                        <a:buNone/>
                      </a:pPr>
                      <a:r>
                        <a:rPr lang="en-US" sz="1300" b="1"/>
                        <a:t>Лама</a:t>
                      </a:r>
                      <a:endParaRPr sz="1300" b="1"/>
                    </a:p>
                  </a:txBody>
                  <a:tcPr marL="91425" marR="91425" marT="91425" marB="91425" anchor="ctr"/>
                </a:tc>
                <a:tc>
                  <a:txBody>
                    <a:bodyPr/>
                    <a:lstStyle/>
                    <a:p>
                      <a:pPr marL="0" lvl="0" indent="0" algn="ctr" rtl="0">
                        <a:spcBef>
                          <a:spcPts val="0"/>
                        </a:spcBef>
                        <a:spcAft>
                          <a:spcPts val="0"/>
                        </a:spcAft>
                        <a:buNone/>
                      </a:pPr>
                      <a:r>
                        <a:rPr lang="en-US" sz="1300" b="1"/>
                        <a:t>Сын</a:t>
                      </a:r>
                      <a:endParaRPr sz="1300" b="1"/>
                    </a:p>
                  </a:txBody>
                  <a:tcPr marL="91425" marR="91425" marT="91425" marB="91425" anchor="ctr"/>
                </a:tc>
                <a:tc>
                  <a:txBody>
                    <a:bodyPr/>
                    <a:lstStyle/>
                    <a:p>
                      <a:pPr marL="0" lvl="0" indent="0" algn="ctr" rtl="0">
                        <a:spcBef>
                          <a:spcPts val="0"/>
                        </a:spcBef>
                        <a:spcAft>
                          <a:spcPts val="0"/>
                        </a:spcAft>
                        <a:buNone/>
                      </a:pPr>
                      <a:r>
                        <a:rPr lang="en-US" sz="1300" b="1"/>
                        <a:t>Подарить</a:t>
                      </a:r>
                      <a:endParaRPr sz="1300" b="1"/>
                    </a:p>
                  </a:txBody>
                  <a:tcPr marL="91425" marR="91425" marT="91425" marB="91425" anchor="ctr"/>
                </a:tc>
                <a:tc>
                  <a:txBody>
                    <a:bodyPr/>
                    <a:lstStyle/>
                    <a:p>
                      <a:pPr marL="0" lvl="0" indent="0" algn="ctr" rtl="0">
                        <a:spcBef>
                          <a:spcPts val="0"/>
                        </a:spcBef>
                        <a:spcAft>
                          <a:spcPts val="0"/>
                        </a:spcAft>
                        <a:buNone/>
                      </a:pPr>
                      <a:r>
                        <a:rPr lang="en-US" sz="1300" b="1"/>
                        <a:t>Новый</a:t>
                      </a:r>
                      <a:endParaRPr sz="1300" b="1"/>
                    </a:p>
                  </a:txBody>
                  <a:tcPr marL="91425" marR="91425" marT="91425" marB="91425" anchor="ctr"/>
                </a:tc>
                <a:tc>
                  <a:txBody>
                    <a:bodyPr/>
                    <a:lstStyle/>
                    <a:p>
                      <a:pPr marL="0" lvl="0" indent="0" algn="ctr" rtl="0">
                        <a:spcBef>
                          <a:spcPts val="0"/>
                        </a:spcBef>
                        <a:spcAft>
                          <a:spcPts val="0"/>
                        </a:spcAft>
                        <a:buNone/>
                      </a:pPr>
                      <a:r>
                        <a:rPr lang="en-US" sz="1300" b="1"/>
                        <a:t>Свитер</a:t>
                      </a:r>
                      <a:endParaRPr sz="1300" b="1"/>
                    </a:p>
                  </a:txBody>
                  <a:tcPr marL="91425" marR="91425" marT="91425" marB="91425" anchor="ctr"/>
                </a:tc>
                <a:tc>
                  <a:txBody>
                    <a:bodyPr/>
                    <a:lstStyle/>
                    <a:p>
                      <a:pPr marL="0" lvl="0" indent="0" algn="ctr" rtl="0">
                        <a:spcBef>
                          <a:spcPts val="0"/>
                        </a:spcBef>
                        <a:spcAft>
                          <a:spcPts val="0"/>
                        </a:spcAft>
                        <a:buNone/>
                      </a:pPr>
                      <a:r>
                        <a:rPr lang="en-US" sz="1300" b="1"/>
                        <a:t>Мал</a:t>
                      </a:r>
                      <a:endParaRPr sz="1300" b="1"/>
                    </a:p>
                  </a:txBody>
                  <a:tcPr marL="91425" marR="91425" marT="91425" marB="91425" anchor="ctr"/>
                </a:tc>
                <a:tc>
                  <a:txBody>
                    <a:bodyPr/>
                    <a:lstStyle/>
                    <a:p>
                      <a:pPr marL="0" lvl="0" indent="0" algn="ctr" rtl="0">
                        <a:spcBef>
                          <a:spcPts val="0"/>
                        </a:spcBef>
                        <a:spcAft>
                          <a:spcPts val="0"/>
                        </a:spcAft>
                        <a:buNone/>
                      </a:pPr>
                      <a:r>
                        <a:rPr lang="en-US" sz="1300" b="1"/>
                        <a:t>Его</a:t>
                      </a:r>
                      <a:endParaRPr sz="1300" b="1"/>
                    </a:p>
                  </a:txBody>
                  <a:tcPr marL="91425" marR="91425" marT="91425" marB="91425" anchor="ctr"/>
                </a:tc>
                <a:tc>
                  <a:txBody>
                    <a:bodyPr/>
                    <a:lstStyle/>
                    <a:p>
                      <a:pPr marL="0" lvl="0" indent="0" algn="ctr" rtl="0">
                        <a:spcBef>
                          <a:spcPts val="0"/>
                        </a:spcBef>
                        <a:spcAft>
                          <a:spcPts val="0"/>
                        </a:spcAft>
                        <a:buNone/>
                      </a:pPr>
                      <a:r>
                        <a:rPr lang="en-US" sz="1300" b="1"/>
                        <a:t>Порвал</a:t>
                      </a:r>
                      <a:endParaRPr sz="1300" b="1"/>
                    </a:p>
                  </a:txBody>
                  <a:tcPr marL="91425" marR="91425" marT="91425" marB="91425" anchor="ct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US" b="1"/>
                        <a:t>1</a:t>
                      </a:r>
                      <a:endParaRPr b="1"/>
                    </a:p>
                  </a:txBody>
                  <a:tcPr marL="91425" marR="91425" marT="91425" marB="91425" anchor="ctr"/>
                </a:tc>
                <a:tc>
                  <a:txBody>
                    <a:bodyPr/>
                    <a:lstStyle/>
                    <a:p>
                      <a:pPr marL="0" lvl="0" indent="0" algn="ctr" rtl="0">
                        <a:spcBef>
                          <a:spcPts val="0"/>
                        </a:spcBef>
                        <a:spcAft>
                          <a:spcPts val="0"/>
                        </a:spcAft>
                        <a:buNone/>
                      </a:pPr>
                      <a:r>
                        <a:rPr lang="en-US"/>
                        <a:t>0.5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US" b="1"/>
                        <a:t>2</a:t>
                      </a:r>
                      <a:endParaRPr b="1"/>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0.33</a:t>
                      </a:r>
                      <a:endParaRPr/>
                    </a:p>
                  </a:txBody>
                  <a:tcPr marL="91425" marR="91425" marT="91425" marB="91425" anchor="ctr"/>
                </a:tc>
                <a:tc>
                  <a:txBody>
                    <a:bodyPr/>
                    <a:lstStyle/>
                    <a:p>
                      <a:pPr marL="0" lvl="0" indent="0" algn="ctr" rtl="0">
                        <a:spcBef>
                          <a:spcPts val="0"/>
                        </a:spcBef>
                        <a:spcAft>
                          <a:spcPts val="0"/>
                        </a:spcAft>
                        <a:buNone/>
                      </a:pPr>
                      <a:r>
                        <a:rPr lang="en-US"/>
                        <a:t>0.33</a:t>
                      </a:r>
                      <a:endParaRPr/>
                    </a:p>
                  </a:txBody>
                  <a:tcPr marL="91425" marR="91425" marT="91425" marB="91425" anchor="ctr"/>
                </a:tc>
                <a:tc>
                  <a:txBody>
                    <a:bodyPr/>
                    <a:lstStyle/>
                    <a:p>
                      <a:pPr marL="0" lvl="0" indent="0" algn="ctr" rtl="0">
                        <a:spcBef>
                          <a:spcPts val="0"/>
                        </a:spcBef>
                        <a:spcAft>
                          <a:spcPts val="0"/>
                        </a:spcAft>
                        <a:buNone/>
                      </a:pPr>
                      <a:r>
                        <a:rPr lang="en-US"/>
                        <a:t>0.33</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US" b="1"/>
                        <a:t>3</a:t>
                      </a:r>
                      <a:endParaRPr b="1"/>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US" b="1"/>
                        <a:t>4</a:t>
                      </a:r>
                      <a:endParaRPr b="1"/>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tc>
                  <a:txBody>
                    <a:bodyPr/>
                    <a:lstStyle/>
                    <a:p>
                      <a:pPr marL="0" lvl="0" indent="0" algn="ctr" rtl="0">
                        <a:spcBef>
                          <a:spcPts val="0"/>
                        </a:spcBef>
                        <a:spcAft>
                          <a:spcPts val="0"/>
                        </a:spcAft>
                        <a:buNone/>
                      </a:pPr>
                      <a:r>
                        <a:rPr lang="en-US"/>
                        <a:t>0.25</a:t>
                      </a:r>
                      <a:endParaRPr/>
                    </a:p>
                  </a:txBody>
                  <a:tcPr marL="91425" marR="91425" marT="91425" marB="91425" anchor="ctr"/>
                </a:tc>
                <a:extLst>
                  <a:ext uri="{0D108BD9-81ED-4DB2-BD59-A6C34878D82A}">
                    <a16:rowId xmlns:a16="http://schemas.microsoft.com/office/drawing/2014/main" val="10004"/>
                  </a:ext>
                </a:extLst>
              </a:tr>
            </a:tbl>
          </a:graphicData>
        </a:graphic>
      </p:graphicFrame>
      <p:graphicFrame>
        <p:nvGraphicFramePr>
          <p:cNvPr id="73" name="Google Shape;73;p7"/>
          <p:cNvGraphicFramePr/>
          <p:nvPr/>
        </p:nvGraphicFramePr>
        <p:xfrm>
          <a:off x="9472025" y="2740375"/>
          <a:ext cx="2480900" cy="3962100"/>
        </p:xfrm>
        <a:graphic>
          <a:graphicData uri="http://schemas.openxmlformats.org/drawingml/2006/table">
            <a:tbl>
              <a:tblPr>
                <a:noFill/>
                <a:tableStyleId>{2689D54E-76E5-4D9E-A9EF-E7053C295400}</a:tableStyleId>
              </a:tblPr>
              <a:tblGrid>
                <a:gridCol w="1240450">
                  <a:extLst>
                    <a:ext uri="{9D8B030D-6E8A-4147-A177-3AD203B41FA5}">
                      <a16:colId xmlns:a16="http://schemas.microsoft.com/office/drawing/2014/main" val="20000"/>
                    </a:ext>
                  </a:extLst>
                </a:gridCol>
                <a:gridCol w="1240450">
                  <a:extLst>
                    <a:ext uri="{9D8B030D-6E8A-4147-A177-3AD203B41FA5}">
                      <a16:colId xmlns:a16="http://schemas.microsoft.com/office/drawing/2014/main" val="20001"/>
                    </a:ext>
                  </a:extLst>
                </a:gridCol>
              </a:tblGrid>
              <a:tr h="376125">
                <a:tc>
                  <a:txBody>
                    <a:bodyPr/>
                    <a:lstStyle/>
                    <a:p>
                      <a:pPr marL="0" lvl="0" indent="0" algn="ctr" rtl="0">
                        <a:spcBef>
                          <a:spcPts val="0"/>
                        </a:spcBef>
                        <a:spcAft>
                          <a:spcPts val="0"/>
                        </a:spcAft>
                        <a:buNone/>
                      </a:pPr>
                      <a:r>
                        <a:rPr lang="en-US" b="1"/>
                        <a:t>Слово</a:t>
                      </a:r>
                      <a:endParaRPr b="1"/>
                    </a:p>
                  </a:txBody>
                  <a:tcPr marL="91425" marR="91425" marT="91425" marB="91425" anchor="ctr"/>
                </a:tc>
                <a:tc>
                  <a:txBody>
                    <a:bodyPr/>
                    <a:lstStyle/>
                    <a:p>
                      <a:pPr marL="0" lvl="0" indent="0" algn="ctr" rtl="0">
                        <a:spcBef>
                          <a:spcPts val="0"/>
                        </a:spcBef>
                        <a:spcAft>
                          <a:spcPts val="0"/>
                        </a:spcAft>
                        <a:buNone/>
                      </a:pPr>
                      <a:r>
                        <a:rPr lang="en-US" b="1"/>
                        <a:t>IDF</a:t>
                      </a:r>
                      <a:endParaRPr b="1"/>
                    </a:p>
                  </a:txBody>
                  <a:tcPr marL="91425" marR="91425" marT="91425" marB="91425" anchor="ctr"/>
                </a:tc>
                <a:extLst>
                  <a:ext uri="{0D108BD9-81ED-4DB2-BD59-A6C34878D82A}">
                    <a16:rowId xmlns:a16="http://schemas.microsoft.com/office/drawing/2014/main" val="10000"/>
                  </a:ext>
                </a:extLst>
              </a:tr>
              <a:tr h="376125">
                <a:tc>
                  <a:txBody>
                    <a:bodyPr/>
                    <a:lstStyle/>
                    <a:p>
                      <a:pPr marL="0" lvl="0" indent="0" algn="ctr" rtl="0">
                        <a:spcBef>
                          <a:spcPts val="0"/>
                        </a:spcBef>
                        <a:spcAft>
                          <a:spcPts val="0"/>
                        </a:spcAft>
                        <a:buNone/>
                      </a:pPr>
                      <a:r>
                        <a:rPr lang="en-US"/>
                        <a:t>Мама</a:t>
                      </a:r>
                      <a:endParaRPr/>
                    </a:p>
                  </a:txBody>
                  <a:tcPr marL="91425" marR="91425" marT="91425" marB="91425" anchor="ctr"/>
                </a:tc>
                <a:tc>
                  <a:txBody>
                    <a:bodyPr/>
                    <a:lstStyle/>
                    <a:p>
                      <a:pPr marL="0" lvl="0" indent="0" algn="ctr" rtl="0">
                        <a:spcBef>
                          <a:spcPts val="0"/>
                        </a:spcBef>
                        <a:spcAft>
                          <a:spcPts val="0"/>
                        </a:spcAft>
                        <a:buNone/>
                      </a:pPr>
                      <a:r>
                        <a:rPr lang="en-US"/>
                        <a:t>0.6</a:t>
                      </a:r>
                      <a:endParaRPr/>
                    </a:p>
                  </a:txBody>
                  <a:tcPr marL="91425" marR="91425" marT="91425" marB="91425" anchor="ctr"/>
                </a:tc>
                <a:extLst>
                  <a:ext uri="{0D108BD9-81ED-4DB2-BD59-A6C34878D82A}">
                    <a16:rowId xmlns:a16="http://schemas.microsoft.com/office/drawing/2014/main" val="10001"/>
                  </a:ext>
                </a:extLst>
              </a:tr>
              <a:tr h="376125">
                <a:tc>
                  <a:txBody>
                    <a:bodyPr/>
                    <a:lstStyle/>
                    <a:p>
                      <a:pPr marL="0" lvl="0" indent="0" algn="ctr" rtl="0">
                        <a:spcBef>
                          <a:spcPts val="0"/>
                        </a:spcBef>
                        <a:spcAft>
                          <a:spcPts val="0"/>
                        </a:spcAft>
                        <a:buNone/>
                      </a:pPr>
                      <a:r>
                        <a:rPr lang="en-US"/>
                        <a:t>Лама</a:t>
                      </a:r>
                      <a:endParaRPr/>
                    </a:p>
                  </a:txBody>
                  <a:tcPr marL="91425" marR="91425" marT="91425" marB="91425" anchor="ctr"/>
                </a:tc>
                <a:tc>
                  <a:txBody>
                    <a:bodyPr/>
                    <a:lstStyle/>
                    <a:p>
                      <a:pPr marL="0" lvl="0" indent="0" algn="ctr" rtl="0">
                        <a:spcBef>
                          <a:spcPts val="0"/>
                        </a:spcBef>
                        <a:spcAft>
                          <a:spcPts val="0"/>
                        </a:spcAft>
                        <a:buNone/>
                      </a:pPr>
                      <a:r>
                        <a:rPr lang="en-US"/>
                        <a:t>0.12</a:t>
                      </a:r>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76125">
                <a:tc>
                  <a:txBody>
                    <a:bodyPr/>
                    <a:lstStyle/>
                    <a:p>
                      <a:pPr marL="0" lvl="0" indent="0" algn="ctr" rtl="0">
                        <a:spcBef>
                          <a:spcPts val="0"/>
                        </a:spcBef>
                        <a:spcAft>
                          <a:spcPts val="0"/>
                        </a:spcAft>
                        <a:buNone/>
                      </a:pPr>
                      <a:r>
                        <a:rPr lang="en-US"/>
                        <a:t>Сын</a:t>
                      </a:r>
                      <a:endParaRPr/>
                    </a:p>
                  </a:txBody>
                  <a:tcPr marL="91425" marR="91425" marT="91425" marB="91425" anchor="ctr">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US"/>
                        <a:t>0.12</a:t>
                      </a:r>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76125">
                <a:tc>
                  <a:txBody>
                    <a:bodyPr/>
                    <a:lstStyle/>
                    <a:p>
                      <a:pPr marL="0" lvl="0" indent="0" algn="ctr" rtl="0">
                        <a:spcBef>
                          <a:spcPts val="0"/>
                        </a:spcBef>
                        <a:spcAft>
                          <a:spcPts val="0"/>
                        </a:spcAft>
                        <a:buNone/>
                      </a:pPr>
                      <a:r>
                        <a:rPr lang="en-US"/>
                        <a:t>Подарить</a:t>
                      </a:r>
                      <a:endParaRPr/>
                    </a:p>
                  </a:txBody>
                  <a:tcPr marL="91425" marR="91425" marT="91425" marB="91425" anchor="ctr"/>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0.6</a:t>
                      </a:r>
                      <a:endParaRPr/>
                    </a:p>
                  </a:txBody>
                  <a:tcPr marL="91425" marR="91425" marT="91425" marB="91425" anchor="ctr">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376125">
                <a:tc>
                  <a:txBody>
                    <a:bodyPr/>
                    <a:lstStyle/>
                    <a:p>
                      <a:pPr marL="0" lvl="0" indent="0" algn="ctr" rtl="0">
                        <a:spcBef>
                          <a:spcPts val="0"/>
                        </a:spcBef>
                        <a:spcAft>
                          <a:spcPts val="0"/>
                        </a:spcAft>
                        <a:buNone/>
                      </a:pPr>
                      <a:r>
                        <a:rPr lang="en-US"/>
                        <a:t>Новый</a:t>
                      </a:r>
                      <a:endParaRPr/>
                    </a:p>
                  </a:txBody>
                  <a:tcPr marL="91425" marR="91425" marT="91425" marB="91425" anchor="ctr"/>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0.6</a:t>
                      </a:r>
                      <a:endParaRPr/>
                    </a:p>
                  </a:txBody>
                  <a:tcPr marL="91425" marR="91425" marT="91425" marB="91425" anchor="ctr"/>
                </a:tc>
                <a:extLst>
                  <a:ext uri="{0D108BD9-81ED-4DB2-BD59-A6C34878D82A}">
                    <a16:rowId xmlns:a16="http://schemas.microsoft.com/office/drawing/2014/main" val="10005"/>
                  </a:ext>
                </a:extLst>
              </a:tr>
              <a:tr h="376125">
                <a:tc>
                  <a:txBody>
                    <a:bodyPr/>
                    <a:lstStyle/>
                    <a:p>
                      <a:pPr marL="0" lvl="0" indent="0" algn="ctr" rtl="0">
                        <a:spcBef>
                          <a:spcPts val="0"/>
                        </a:spcBef>
                        <a:spcAft>
                          <a:spcPts val="0"/>
                        </a:spcAft>
                        <a:buNone/>
                      </a:pPr>
                      <a:r>
                        <a:rPr lang="en-US"/>
                        <a:t>Свитер</a:t>
                      </a:r>
                      <a:endParaRPr/>
                    </a:p>
                  </a:txBody>
                  <a:tcPr marL="91425" marR="91425" marT="91425" marB="91425" anchor="ctr"/>
                </a:tc>
                <a:tc>
                  <a:txBody>
                    <a:bodyPr/>
                    <a:lstStyle/>
                    <a:p>
                      <a:pPr marL="0" lvl="0" indent="0" algn="ctr" rtl="0">
                        <a:spcBef>
                          <a:spcPts val="0"/>
                        </a:spcBef>
                        <a:spcAft>
                          <a:spcPts val="0"/>
                        </a:spcAft>
                        <a:buNone/>
                      </a:pPr>
                      <a:r>
                        <a:rPr lang="en-US"/>
                        <a:t>0,3</a:t>
                      </a:r>
                      <a:endParaRPr/>
                    </a:p>
                  </a:txBody>
                  <a:tcPr marL="91425" marR="91425" marT="91425" marB="91425" anchor="ctr"/>
                </a:tc>
                <a:extLst>
                  <a:ext uri="{0D108BD9-81ED-4DB2-BD59-A6C34878D82A}">
                    <a16:rowId xmlns:a16="http://schemas.microsoft.com/office/drawing/2014/main" val="10006"/>
                  </a:ext>
                </a:extLst>
              </a:tr>
              <a:tr h="376125">
                <a:tc>
                  <a:txBody>
                    <a:bodyPr/>
                    <a:lstStyle/>
                    <a:p>
                      <a:pPr marL="0" lvl="0" indent="0" algn="ctr" rtl="0">
                        <a:spcBef>
                          <a:spcPts val="0"/>
                        </a:spcBef>
                        <a:spcAft>
                          <a:spcPts val="0"/>
                        </a:spcAft>
                        <a:buNone/>
                      </a:pPr>
                      <a:r>
                        <a:rPr lang="en-US"/>
                        <a:t>Мал</a:t>
                      </a:r>
                      <a:endParaRPr/>
                    </a:p>
                  </a:txBody>
                  <a:tcPr marL="91425" marR="91425" marT="91425" marB="91425" anchor="ctr"/>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0.6</a:t>
                      </a:r>
                      <a:endParaRPr/>
                    </a:p>
                  </a:txBody>
                  <a:tcPr marL="91425" marR="91425" marT="91425" marB="91425" anchor="ctr"/>
                </a:tc>
                <a:extLst>
                  <a:ext uri="{0D108BD9-81ED-4DB2-BD59-A6C34878D82A}">
                    <a16:rowId xmlns:a16="http://schemas.microsoft.com/office/drawing/2014/main" val="10007"/>
                  </a:ext>
                </a:extLst>
              </a:tr>
              <a:tr h="376125">
                <a:tc>
                  <a:txBody>
                    <a:bodyPr/>
                    <a:lstStyle/>
                    <a:p>
                      <a:pPr marL="0" lvl="0" indent="0" algn="ctr" rtl="0">
                        <a:spcBef>
                          <a:spcPts val="0"/>
                        </a:spcBef>
                        <a:spcAft>
                          <a:spcPts val="0"/>
                        </a:spcAft>
                        <a:buNone/>
                      </a:pPr>
                      <a:r>
                        <a:rPr lang="en-US"/>
                        <a:t>Его</a:t>
                      </a:r>
                      <a:endParaRPr/>
                    </a:p>
                  </a:txBody>
                  <a:tcPr marL="91425" marR="91425" marT="91425" marB="91425" anchor="ctr"/>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0.6</a:t>
                      </a:r>
                      <a:endParaRPr/>
                    </a:p>
                  </a:txBody>
                  <a:tcPr marL="91425" marR="91425" marT="91425" marB="91425" anchor="ctr"/>
                </a:tc>
                <a:extLst>
                  <a:ext uri="{0D108BD9-81ED-4DB2-BD59-A6C34878D82A}">
                    <a16:rowId xmlns:a16="http://schemas.microsoft.com/office/drawing/2014/main" val="10008"/>
                  </a:ext>
                </a:extLst>
              </a:tr>
              <a:tr h="376125">
                <a:tc>
                  <a:txBody>
                    <a:bodyPr/>
                    <a:lstStyle/>
                    <a:p>
                      <a:pPr marL="0" lvl="0" indent="0" algn="ctr" rtl="0">
                        <a:spcBef>
                          <a:spcPts val="0"/>
                        </a:spcBef>
                        <a:spcAft>
                          <a:spcPts val="0"/>
                        </a:spcAft>
                        <a:buNone/>
                      </a:pPr>
                      <a:r>
                        <a:rPr lang="en-US"/>
                        <a:t>Порва</a:t>
                      </a:r>
                      <a:endParaRPr/>
                    </a:p>
                  </a:txBody>
                  <a:tcPr marL="91425" marR="91425" marT="91425" marB="91425" anchor="ctr"/>
                </a:tc>
                <a:tc>
                  <a:txBody>
                    <a:bodyPr/>
                    <a:lstStyle/>
                    <a:p>
                      <a:pPr marL="0" lvl="0" indent="0" algn="ctr" rtl="0">
                        <a:spcBef>
                          <a:spcPts val="0"/>
                        </a:spcBef>
                        <a:spcAft>
                          <a:spcPts val="0"/>
                        </a:spcAft>
                        <a:buClr>
                          <a:schemeClr val="dk1"/>
                        </a:buClr>
                        <a:buSzPts val="1100"/>
                        <a:buFont typeface="Arial"/>
                        <a:buNone/>
                      </a:pPr>
                      <a:r>
                        <a:rPr lang="en-US">
                          <a:solidFill>
                            <a:schemeClr val="dk1"/>
                          </a:solidFill>
                        </a:rPr>
                        <a:t>0.6</a:t>
                      </a:r>
                      <a:endParaRPr/>
                    </a:p>
                  </a:txBody>
                  <a:tcPr marL="91425" marR="91425" marT="91425" marB="91425" anchor="ctr"/>
                </a:tc>
                <a:extLst>
                  <a:ext uri="{0D108BD9-81ED-4DB2-BD59-A6C34878D82A}">
                    <a16:rowId xmlns:a16="http://schemas.microsoft.com/office/drawing/2014/main" val="10009"/>
                  </a:ext>
                </a:extLst>
              </a:tr>
            </a:tbl>
          </a:graphicData>
        </a:graphic>
      </p:graphicFrame>
      <p:sp>
        <p:nvSpPr>
          <p:cNvPr id="74" name="Google Shape;74;p7"/>
          <p:cNvSpPr/>
          <p:nvPr/>
        </p:nvSpPr>
        <p:spPr>
          <a:xfrm>
            <a:off x="8060388" y="4607663"/>
            <a:ext cx="1070400" cy="1070400"/>
          </a:xfrm>
          <a:prstGeom prst="mathMultiply">
            <a:avLst>
              <a:gd name="adj1" fmla="val 2352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8"/>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Цифровизация текста</a:t>
            </a:r>
            <a:endParaRPr sz="1400" b="0" i="0" u="none" strike="noStrike" cap="none">
              <a:solidFill>
                <a:schemeClr val="dk1"/>
              </a:solidFill>
              <a:latin typeface="Calibri"/>
              <a:ea typeface="Calibri"/>
              <a:cs typeface="Calibri"/>
              <a:sym typeface="Calibri"/>
            </a:endParaRPr>
          </a:p>
        </p:txBody>
      </p:sp>
      <p:sp>
        <p:nvSpPr>
          <p:cNvPr id="81" name="Google Shape;81;p8"/>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One-hot кодирование</a:t>
            </a:r>
            <a:endParaRPr sz="3200" b="0" i="0" u="none" strike="noStrike" cap="none">
              <a:solidFill>
                <a:schemeClr val="dk1"/>
              </a:solidFill>
              <a:latin typeface="Calibri"/>
              <a:ea typeface="Calibri"/>
              <a:cs typeface="Calibri"/>
              <a:sym typeface="Calibri"/>
            </a:endParaRPr>
          </a:p>
        </p:txBody>
      </p:sp>
      <p:sp>
        <p:nvSpPr>
          <p:cNvPr id="82" name="Google Shape;82;p8"/>
          <p:cNvSpPr/>
          <p:nvPr/>
        </p:nvSpPr>
        <p:spPr>
          <a:xfrm>
            <a:off x="548650" y="1490600"/>
            <a:ext cx="3904200" cy="216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8"/>
          <p:cNvSpPr txBox="1"/>
          <p:nvPr/>
        </p:nvSpPr>
        <p:spPr>
          <a:xfrm>
            <a:off x="596875" y="1802600"/>
            <a:ext cx="3693900" cy="17238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Мама-лама маме-сыну</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Подарила новый светер</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Ламе-сыну свитер мал</a:t>
            </a:r>
            <a:endParaRPr sz="2000">
              <a:latin typeface="Montserrat"/>
              <a:ea typeface="Montserrat"/>
              <a:cs typeface="Montserrat"/>
              <a:sym typeface="Montserrat"/>
            </a:endParaRPr>
          </a:p>
          <a:p>
            <a:pPr marL="457200" lvl="0" indent="-355600" algn="l" rtl="0">
              <a:spcBef>
                <a:spcPts val="0"/>
              </a:spcBef>
              <a:spcAft>
                <a:spcPts val="0"/>
              </a:spcAft>
              <a:buSzPts val="2000"/>
              <a:buFont typeface="Montserrat"/>
              <a:buAutoNum type="arabicPeriod"/>
            </a:pPr>
            <a:r>
              <a:rPr lang="en-US" sz="2000">
                <a:latin typeface="Montserrat"/>
                <a:ea typeface="Montserrat"/>
                <a:cs typeface="Montserrat"/>
                <a:sym typeface="Montserrat"/>
              </a:rPr>
              <a:t>Лама-сын его порвал</a:t>
            </a:r>
            <a:endParaRPr sz="2000">
              <a:latin typeface="Montserrat"/>
              <a:ea typeface="Montserrat"/>
              <a:cs typeface="Montserrat"/>
              <a:sym typeface="Montserrat"/>
            </a:endParaRPr>
          </a:p>
        </p:txBody>
      </p:sp>
      <p:sp>
        <p:nvSpPr>
          <p:cNvPr id="84" name="Google Shape;84;p8"/>
          <p:cNvSpPr txBox="1"/>
          <p:nvPr/>
        </p:nvSpPr>
        <p:spPr>
          <a:xfrm>
            <a:off x="4452838" y="1490588"/>
            <a:ext cx="7393200" cy="19395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Montserrat"/>
              <a:buAutoNum type="arabicPeriod"/>
            </a:pPr>
            <a:r>
              <a:rPr lang="en-US" sz="1900" b="1">
                <a:latin typeface="Montserrat"/>
                <a:ea typeface="Montserrat"/>
                <a:cs typeface="Montserrat"/>
                <a:sym typeface="Montserrat"/>
              </a:rPr>
              <a:t>Вычленяем леммы (базовые словарные формы)</a:t>
            </a:r>
            <a:r>
              <a:rPr lang="en-US" sz="1900">
                <a:latin typeface="Montserrat"/>
                <a:ea typeface="Montserrat"/>
                <a:cs typeface="Montserrat"/>
                <a:sym typeface="Montserrat"/>
              </a:rPr>
              <a:t>: Мама, лама, сын, подарить, новый, свитер, мал, его, порвал</a:t>
            </a:r>
            <a:endParaRPr sz="1900">
              <a:latin typeface="Montserrat"/>
              <a:ea typeface="Montserrat"/>
              <a:cs typeface="Montserrat"/>
              <a:sym typeface="Montserrat"/>
            </a:endParaRPr>
          </a:p>
          <a:p>
            <a:pPr marL="457200" lvl="0" indent="-349250" algn="l" rtl="0">
              <a:spcBef>
                <a:spcPts val="0"/>
              </a:spcBef>
              <a:spcAft>
                <a:spcPts val="0"/>
              </a:spcAft>
              <a:buSzPts val="1900"/>
              <a:buFont typeface="Montserrat"/>
              <a:buAutoNum type="arabicPeriod"/>
            </a:pPr>
            <a:r>
              <a:rPr lang="en-US" sz="1900">
                <a:latin typeface="Montserrat"/>
                <a:ea typeface="Montserrat"/>
                <a:cs typeface="Montserrat"/>
                <a:sym typeface="Montserrat"/>
              </a:rPr>
              <a:t>Каждое слово представляем в виде вектора из нулей с единицей, где единичка будет кодировать слово:</a:t>
            </a:r>
            <a:endParaRPr sz="1900">
              <a:latin typeface="Montserrat"/>
              <a:ea typeface="Montserrat"/>
              <a:cs typeface="Montserrat"/>
              <a:sym typeface="Montserrat"/>
            </a:endParaRPr>
          </a:p>
        </p:txBody>
      </p:sp>
      <p:graphicFrame>
        <p:nvGraphicFramePr>
          <p:cNvPr id="85" name="Google Shape;85;p8"/>
          <p:cNvGraphicFramePr/>
          <p:nvPr/>
        </p:nvGraphicFramePr>
        <p:xfrm>
          <a:off x="673675" y="4396375"/>
          <a:ext cx="10286775" cy="1584840"/>
        </p:xfrm>
        <a:graphic>
          <a:graphicData uri="http://schemas.openxmlformats.org/drawingml/2006/table">
            <a:tbl>
              <a:tblPr>
                <a:noFill/>
                <a:tableStyleId>{2689D54E-76E5-4D9E-A9EF-E7053C295400}</a:tableStyleId>
              </a:tblPr>
              <a:tblGrid>
                <a:gridCol w="1142975">
                  <a:extLst>
                    <a:ext uri="{9D8B030D-6E8A-4147-A177-3AD203B41FA5}">
                      <a16:colId xmlns:a16="http://schemas.microsoft.com/office/drawing/2014/main" val="20000"/>
                    </a:ext>
                  </a:extLst>
                </a:gridCol>
                <a:gridCol w="1142975">
                  <a:extLst>
                    <a:ext uri="{9D8B030D-6E8A-4147-A177-3AD203B41FA5}">
                      <a16:colId xmlns:a16="http://schemas.microsoft.com/office/drawing/2014/main" val="20001"/>
                    </a:ext>
                  </a:extLst>
                </a:gridCol>
                <a:gridCol w="1142975">
                  <a:extLst>
                    <a:ext uri="{9D8B030D-6E8A-4147-A177-3AD203B41FA5}">
                      <a16:colId xmlns:a16="http://schemas.microsoft.com/office/drawing/2014/main" val="20002"/>
                    </a:ext>
                  </a:extLst>
                </a:gridCol>
                <a:gridCol w="1142975">
                  <a:extLst>
                    <a:ext uri="{9D8B030D-6E8A-4147-A177-3AD203B41FA5}">
                      <a16:colId xmlns:a16="http://schemas.microsoft.com/office/drawing/2014/main" val="20003"/>
                    </a:ext>
                  </a:extLst>
                </a:gridCol>
                <a:gridCol w="1142975">
                  <a:extLst>
                    <a:ext uri="{9D8B030D-6E8A-4147-A177-3AD203B41FA5}">
                      <a16:colId xmlns:a16="http://schemas.microsoft.com/office/drawing/2014/main" val="20004"/>
                    </a:ext>
                  </a:extLst>
                </a:gridCol>
                <a:gridCol w="1142975">
                  <a:extLst>
                    <a:ext uri="{9D8B030D-6E8A-4147-A177-3AD203B41FA5}">
                      <a16:colId xmlns:a16="http://schemas.microsoft.com/office/drawing/2014/main" val="20005"/>
                    </a:ext>
                  </a:extLst>
                </a:gridCol>
                <a:gridCol w="1142975">
                  <a:extLst>
                    <a:ext uri="{9D8B030D-6E8A-4147-A177-3AD203B41FA5}">
                      <a16:colId xmlns:a16="http://schemas.microsoft.com/office/drawing/2014/main" val="20006"/>
                    </a:ext>
                  </a:extLst>
                </a:gridCol>
                <a:gridCol w="1142975">
                  <a:extLst>
                    <a:ext uri="{9D8B030D-6E8A-4147-A177-3AD203B41FA5}">
                      <a16:colId xmlns:a16="http://schemas.microsoft.com/office/drawing/2014/main" val="20007"/>
                    </a:ext>
                  </a:extLst>
                </a:gridCol>
                <a:gridCol w="1142975">
                  <a:extLst>
                    <a:ext uri="{9D8B030D-6E8A-4147-A177-3AD203B41FA5}">
                      <a16:colId xmlns:a16="http://schemas.microsoft.com/office/drawing/2014/main" val="20008"/>
                    </a:ext>
                  </a:extLst>
                </a:gridCol>
              </a:tblGrid>
              <a:tr h="381000">
                <a:tc>
                  <a:txBody>
                    <a:bodyPr/>
                    <a:lstStyle/>
                    <a:p>
                      <a:pPr marL="0" lvl="0" indent="0" algn="ctr" rtl="0">
                        <a:spcBef>
                          <a:spcPts val="0"/>
                        </a:spcBef>
                        <a:spcAft>
                          <a:spcPts val="0"/>
                        </a:spcAft>
                        <a:buNone/>
                      </a:pPr>
                      <a:r>
                        <a:rPr lang="en-US" b="1" dirty="0" err="1">
                          <a:latin typeface="Montserrat"/>
                          <a:ea typeface="Montserrat"/>
                          <a:cs typeface="Montserrat"/>
                          <a:sym typeface="Montserrat"/>
                        </a:rPr>
                        <a:t>Мама</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1</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0</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0</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0</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0</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0</a:t>
                      </a:r>
                      <a:endParaRPr b="1" dirty="0">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0</a:t>
                      </a:r>
                      <a:endParaRPr b="1" dirty="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US" b="1">
                          <a:latin typeface="Montserrat"/>
                          <a:ea typeface="Montserrat"/>
                          <a:cs typeface="Montserrat"/>
                          <a:sym typeface="Montserrat"/>
                        </a:rPr>
                        <a:t>Лама</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1</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US" b="1">
                          <a:latin typeface="Montserrat"/>
                          <a:ea typeface="Montserrat"/>
                          <a:cs typeface="Montserrat"/>
                          <a:sym typeface="Montserrat"/>
                        </a:rPr>
                        <a:t>Порвать</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a:latin typeface="Montserrat"/>
                          <a:ea typeface="Montserrat"/>
                          <a:cs typeface="Montserrat"/>
                          <a:sym typeface="Montserrat"/>
                        </a:rPr>
                        <a:t>0</a:t>
                      </a:r>
                      <a:endParaRPr b="1">
                        <a:latin typeface="Montserrat"/>
                        <a:ea typeface="Montserrat"/>
                        <a:cs typeface="Montserrat"/>
                        <a:sym typeface="Montserrat"/>
                      </a:endParaRPr>
                    </a:p>
                  </a:txBody>
                  <a:tcPr marL="91425" marR="91425" marT="91425" marB="91425"/>
                </a:tc>
                <a:tc>
                  <a:txBody>
                    <a:bodyPr/>
                    <a:lstStyle/>
                    <a:p>
                      <a:pPr marL="0" lvl="0" indent="0" algn="ctr" rtl="0">
                        <a:spcBef>
                          <a:spcPts val="0"/>
                        </a:spcBef>
                        <a:spcAft>
                          <a:spcPts val="0"/>
                        </a:spcAft>
                        <a:buNone/>
                      </a:pPr>
                      <a:r>
                        <a:rPr lang="en-US" b="1" dirty="0">
                          <a:latin typeface="Montserrat"/>
                          <a:ea typeface="Montserrat"/>
                          <a:cs typeface="Montserrat"/>
                          <a:sym typeface="Montserrat"/>
                        </a:rPr>
                        <a:t>1</a:t>
                      </a:r>
                      <a:endParaRPr b="1" dirty="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9"/>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Эмбединги и токенизация</a:t>
            </a:r>
            <a:endParaRPr>
              <a:solidFill>
                <a:schemeClr val="dk1"/>
              </a:solidFill>
              <a:latin typeface="Calibri"/>
              <a:ea typeface="Calibri"/>
              <a:cs typeface="Calibri"/>
              <a:sym typeface="Calibri"/>
            </a:endParaRPr>
          </a:p>
          <a:p>
            <a:pPr marL="0" marR="0" lvl="0" indent="0" algn="l" rtl="0">
              <a:spcBef>
                <a:spcPts val="0"/>
              </a:spcBef>
              <a:spcAft>
                <a:spcPts val="0"/>
              </a:spcAft>
              <a:buClr>
                <a:srgbClr val="F2A93B"/>
              </a:buClr>
              <a:buSzPts val="1400"/>
              <a:buFont typeface="Calibri"/>
              <a:buNone/>
            </a:pPr>
            <a:endParaRPr b="1">
              <a:solidFill>
                <a:srgbClr val="F2A93B"/>
              </a:solidFill>
              <a:latin typeface="Calibri"/>
              <a:ea typeface="Calibri"/>
              <a:cs typeface="Calibri"/>
              <a:sym typeface="Calibri"/>
            </a:endParaRPr>
          </a:p>
        </p:txBody>
      </p:sp>
      <p:sp>
        <p:nvSpPr>
          <p:cNvPr id="92" name="Google Shape;92;p9"/>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Embedding слов</a:t>
            </a:r>
            <a:endParaRPr sz="3200" b="0" i="0" u="none" strike="noStrike" cap="none">
              <a:solidFill>
                <a:schemeClr val="dk1"/>
              </a:solidFill>
              <a:latin typeface="Calibri"/>
              <a:ea typeface="Calibri"/>
              <a:cs typeface="Calibri"/>
              <a:sym typeface="Calibri"/>
            </a:endParaRPr>
          </a:p>
        </p:txBody>
      </p:sp>
      <p:cxnSp>
        <p:nvCxnSpPr>
          <p:cNvPr id="93" name="Google Shape;93;p9"/>
          <p:cNvCxnSpPr/>
          <p:nvPr/>
        </p:nvCxnSpPr>
        <p:spPr>
          <a:xfrm rot="10800000" flipH="1">
            <a:off x="2542475" y="2074025"/>
            <a:ext cx="11100" cy="2330700"/>
          </a:xfrm>
          <a:prstGeom prst="straightConnector1">
            <a:avLst/>
          </a:prstGeom>
          <a:noFill/>
          <a:ln w="19050" cap="flat" cmpd="sng">
            <a:solidFill>
              <a:schemeClr val="dk2"/>
            </a:solidFill>
            <a:prstDash val="solid"/>
            <a:round/>
            <a:headEnd type="none" w="med" len="med"/>
            <a:tailEnd type="triangle" w="med" len="med"/>
          </a:ln>
        </p:spPr>
      </p:cxnSp>
      <p:cxnSp>
        <p:nvCxnSpPr>
          <p:cNvPr id="94" name="Google Shape;94;p9"/>
          <p:cNvCxnSpPr/>
          <p:nvPr/>
        </p:nvCxnSpPr>
        <p:spPr>
          <a:xfrm>
            <a:off x="2542475" y="4404725"/>
            <a:ext cx="2341800" cy="0"/>
          </a:xfrm>
          <a:prstGeom prst="straightConnector1">
            <a:avLst/>
          </a:prstGeom>
          <a:noFill/>
          <a:ln w="19050" cap="flat" cmpd="sng">
            <a:solidFill>
              <a:schemeClr val="dk2"/>
            </a:solidFill>
            <a:prstDash val="solid"/>
            <a:round/>
            <a:headEnd type="none" w="med" len="med"/>
            <a:tailEnd type="triangle" w="med" len="med"/>
          </a:ln>
        </p:spPr>
      </p:cxnSp>
      <p:cxnSp>
        <p:nvCxnSpPr>
          <p:cNvPr id="95" name="Google Shape;95;p9"/>
          <p:cNvCxnSpPr/>
          <p:nvPr/>
        </p:nvCxnSpPr>
        <p:spPr>
          <a:xfrm rot="10800000" flipH="1">
            <a:off x="2543975" y="2899250"/>
            <a:ext cx="1570800" cy="1509600"/>
          </a:xfrm>
          <a:prstGeom prst="straightConnector1">
            <a:avLst/>
          </a:prstGeom>
          <a:noFill/>
          <a:ln w="19050" cap="flat" cmpd="sng">
            <a:solidFill>
              <a:schemeClr val="dk2"/>
            </a:solidFill>
            <a:prstDash val="solid"/>
            <a:round/>
            <a:headEnd type="none" w="med" len="med"/>
            <a:tailEnd type="triangle" w="med" len="med"/>
          </a:ln>
        </p:spPr>
      </p:cxnSp>
      <p:cxnSp>
        <p:nvCxnSpPr>
          <p:cNvPr id="96" name="Google Shape;96;p9"/>
          <p:cNvCxnSpPr/>
          <p:nvPr/>
        </p:nvCxnSpPr>
        <p:spPr>
          <a:xfrm rot="10800000">
            <a:off x="804700" y="3982500"/>
            <a:ext cx="1744800" cy="425400"/>
          </a:xfrm>
          <a:prstGeom prst="straightConnector1">
            <a:avLst/>
          </a:prstGeom>
          <a:noFill/>
          <a:ln w="19050" cap="flat" cmpd="sng">
            <a:solidFill>
              <a:schemeClr val="dk2"/>
            </a:solidFill>
            <a:prstDash val="solid"/>
            <a:round/>
            <a:headEnd type="none" w="med" len="med"/>
            <a:tailEnd type="triangle" w="med" len="med"/>
          </a:ln>
        </p:spPr>
      </p:cxnSp>
      <p:cxnSp>
        <p:nvCxnSpPr>
          <p:cNvPr id="97" name="Google Shape;97;p9"/>
          <p:cNvCxnSpPr/>
          <p:nvPr/>
        </p:nvCxnSpPr>
        <p:spPr>
          <a:xfrm flipH="1">
            <a:off x="1256375" y="4393000"/>
            <a:ext cx="1289100" cy="1018200"/>
          </a:xfrm>
          <a:prstGeom prst="straightConnector1">
            <a:avLst/>
          </a:prstGeom>
          <a:noFill/>
          <a:ln w="19050" cap="flat" cmpd="sng">
            <a:solidFill>
              <a:schemeClr val="dk2"/>
            </a:solidFill>
            <a:prstDash val="solid"/>
            <a:round/>
            <a:headEnd type="none" w="med" len="med"/>
            <a:tailEnd type="triangle" w="med" len="med"/>
          </a:ln>
        </p:spPr>
      </p:cxnSp>
      <p:cxnSp>
        <p:nvCxnSpPr>
          <p:cNvPr id="98" name="Google Shape;98;p9"/>
          <p:cNvCxnSpPr/>
          <p:nvPr/>
        </p:nvCxnSpPr>
        <p:spPr>
          <a:xfrm>
            <a:off x="2545475" y="4393000"/>
            <a:ext cx="1050900" cy="1289100"/>
          </a:xfrm>
          <a:prstGeom prst="straightConnector1">
            <a:avLst/>
          </a:prstGeom>
          <a:noFill/>
          <a:ln w="19050" cap="flat" cmpd="sng">
            <a:solidFill>
              <a:schemeClr val="dk2"/>
            </a:solidFill>
            <a:prstDash val="solid"/>
            <a:round/>
            <a:headEnd type="none" w="med" len="med"/>
            <a:tailEnd type="triangle" w="med" len="med"/>
          </a:ln>
        </p:spPr>
      </p:cxnSp>
      <p:sp>
        <p:nvSpPr>
          <p:cNvPr id="99" name="Google Shape;99;p9"/>
          <p:cNvSpPr/>
          <p:nvPr/>
        </p:nvSpPr>
        <p:spPr>
          <a:xfrm>
            <a:off x="2462375" y="3208150"/>
            <a:ext cx="171300" cy="164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 name="Google Shape;100;p9"/>
          <p:cNvSpPr/>
          <p:nvPr/>
        </p:nvSpPr>
        <p:spPr>
          <a:xfrm>
            <a:off x="3268175" y="3535425"/>
            <a:ext cx="171300" cy="164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 name="Google Shape;101;p9"/>
          <p:cNvSpPr/>
          <p:nvPr/>
        </p:nvSpPr>
        <p:spPr>
          <a:xfrm>
            <a:off x="4000350" y="4322525"/>
            <a:ext cx="171300" cy="164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 name="Google Shape;102;p9"/>
          <p:cNvSpPr/>
          <p:nvPr/>
        </p:nvSpPr>
        <p:spPr>
          <a:xfrm>
            <a:off x="3076025" y="5068800"/>
            <a:ext cx="171300" cy="164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9"/>
          <p:cNvSpPr/>
          <p:nvPr/>
        </p:nvSpPr>
        <p:spPr>
          <a:xfrm>
            <a:off x="1815275" y="4819900"/>
            <a:ext cx="171300" cy="164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 name="Google Shape;104;p9"/>
          <p:cNvSpPr/>
          <p:nvPr/>
        </p:nvSpPr>
        <p:spPr>
          <a:xfrm>
            <a:off x="1475825" y="4085200"/>
            <a:ext cx="171300" cy="164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 name="Google Shape;105;p9"/>
          <p:cNvSpPr/>
          <p:nvPr/>
        </p:nvSpPr>
        <p:spPr>
          <a:xfrm>
            <a:off x="2288500" y="3372550"/>
            <a:ext cx="254100" cy="9987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 name="Google Shape;106;p9"/>
          <p:cNvSpPr txBox="1"/>
          <p:nvPr/>
        </p:nvSpPr>
        <p:spPr>
          <a:xfrm>
            <a:off x="2105075" y="3671800"/>
            <a:ext cx="35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1</a:t>
            </a:r>
            <a:endParaRPr/>
          </a:p>
        </p:txBody>
      </p:sp>
      <p:sp>
        <p:nvSpPr>
          <p:cNvPr id="107" name="Google Shape;107;p9"/>
          <p:cNvSpPr txBox="1"/>
          <p:nvPr/>
        </p:nvSpPr>
        <p:spPr>
          <a:xfrm>
            <a:off x="2633675" y="3013350"/>
            <a:ext cx="77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Лама</a:t>
            </a:r>
            <a:endParaRPr/>
          </a:p>
        </p:txBody>
      </p:sp>
      <p:sp>
        <p:nvSpPr>
          <p:cNvPr id="108" name="Google Shape;108;p9"/>
          <p:cNvSpPr txBox="1"/>
          <p:nvPr/>
        </p:nvSpPr>
        <p:spPr>
          <a:xfrm>
            <a:off x="3549050" y="3499475"/>
            <a:ext cx="8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Мама</a:t>
            </a:r>
            <a:endParaRPr/>
          </a:p>
        </p:txBody>
      </p:sp>
      <p:sp>
        <p:nvSpPr>
          <p:cNvPr id="109" name="Google Shape;109;p9"/>
          <p:cNvSpPr txBox="1"/>
          <p:nvPr/>
        </p:nvSpPr>
        <p:spPr>
          <a:xfrm>
            <a:off x="4000350" y="4521550"/>
            <a:ext cx="8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Сын</a:t>
            </a:r>
            <a:endParaRPr/>
          </a:p>
        </p:txBody>
      </p:sp>
      <p:sp>
        <p:nvSpPr>
          <p:cNvPr id="110" name="Google Shape;110;p9"/>
          <p:cNvSpPr txBox="1"/>
          <p:nvPr/>
        </p:nvSpPr>
        <p:spPr>
          <a:xfrm>
            <a:off x="3268175" y="5068800"/>
            <a:ext cx="8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Новый</a:t>
            </a:r>
            <a:endParaRPr/>
          </a:p>
        </p:txBody>
      </p:sp>
      <p:sp>
        <p:nvSpPr>
          <p:cNvPr id="111" name="Google Shape;111;p9"/>
          <p:cNvSpPr txBox="1"/>
          <p:nvPr/>
        </p:nvSpPr>
        <p:spPr>
          <a:xfrm>
            <a:off x="1959300" y="4921750"/>
            <a:ext cx="101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Подарить</a:t>
            </a:r>
            <a:endParaRPr/>
          </a:p>
        </p:txBody>
      </p:sp>
      <p:sp>
        <p:nvSpPr>
          <p:cNvPr id="112" name="Google Shape;112;p9"/>
          <p:cNvSpPr txBox="1"/>
          <p:nvPr/>
        </p:nvSpPr>
        <p:spPr>
          <a:xfrm>
            <a:off x="1088675" y="3699825"/>
            <a:ext cx="101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Свиттер</a:t>
            </a:r>
            <a:endParaRPr/>
          </a:p>
        </p:txBody>
      </p:sp>
      <p:cxnSp>
        <p:nvCxnSpPr>
          <p:cNvPr id="113" name="Google Shape;113;p9"/>
          <p:cNvCxnSpPr/>
          <p:nvPr/>
        </p:nvCxnSpPr>
        <p:spPr>
          <a:xfrm rot="10800000" flipH="1">
            <a:off x="8655700" y="1815500"/>
            <a:ext cx="11100" cy="2330700"/>
          </a:xfrm>
          <a:prstGeom prst="straightConnector1">
            <a:avLst/>
          </a:prstGeom>
          <a:noFill/>
          <a:ln w="19050" cap="flat" cmpd="sng">
            <a:solidFill>
              <a:schemeClr val="dk2"/>
            </a:solidFill>
            <a:prstDash val="solid"/>
            <a:round/>
            <a:headEnd type="none" w="med" len="med"/>
            <a:tailEnd type="triangle" w="med" len="med"/>
          </a:ln>
        </p:spPr>
      </p:cxnSp>
      <p:cxnSp>
        <p:nvCxnSpPr>
          <p:cNvPr id="114" name="Google Shape;114;p9"/>
          <p:cNvCxnSpPr/>
          <p:nvPr/>
        </p:nvCxnSpPr>
        <p:spPr>
          <a:xfrm>
            <a:off x="8655700" y="4146200"/>
            <a:ext cx="2341800" cy="0"/>
          </a:xfrm>
          <a:prstGeom prst="straightConnector1">
            <a:avLst/>
          </a:prstGeom>
          <a:noFill/>
          <a:ln w="19050" cap="flat" cmpd="sng">
            <a:solidFill>
              <a:schemeClr val="dk2"/>
            </a:solidFill>
            <a:prstDash val="solid"/>
            <a:round/>
            <a:headEnd type="none" w="med" len="med"/>
            <a:tailEnd type="triangle" w="med" len="med"/>
          </a:ln>
        </p:spPr>
      </p:cxnSp>
      <p:cxnSp>
        <p:nvCxnSpPr>
          <p:cNvPr id="115" name="Google Shape;115;p9"/>
          <p:cNvCxnSpPr>
            <a:endCxn id="116" idx="3"/>
          </p:cNvCxnSpPr>
          <p:nvPr/>
        </p:nvCxnSpPr>
        <p:spPr>
          <a:xfrm rot="10800000" flipH="1">
            <a:off x="8657086" y="3417224"/>
            <a:ext cx="749400" cy="733200"/>
          </a:xfrm>
          <a:prstGeom prst="straightConnector1">
            <a:avLst/>
          </a:prstGeom>
          <a:noFill/>
          <a:ln w="19050" cap="flat" cmpd="sng">
            <a:solidFill>
              <a:schemeClr val="dk2"/>
            </a:solidFill>
            <a:prstDash val="solid"/>
            <a:round/>
            <a:headEnd type="none" w="med" len="med"/>
            <a:tailEnd type="triangle" w="med" len="med"/>
          </a:ln>
        </p:spPr>
      </p:cxnSp>
      <p:cxnSp>
        <p:nvCxnSpPr>
          <p:cNvPr id="117" name="Google Shape;117;p9"/>
          <p:cNvCxnSpPr/>
          <p:nvPr/>
        </p:nvCxnSpPr>
        <p:spPr>
          <a:xfrm rot="10800000">
            <a:off x="7375425" y="3783975"/>
            <a:ext cx="1287300" cy="365400"/>
          </a:xfrm>
          <a:prstGeom prst="straightConnector1">
            <a:avLst/>
          </a:prstGeom>
          <a:noFill/>
          <a:ln w="19050" cap="flat" cmpd="sng">
            <a:solidFill>
              <a:schemeClr val="dk2"/>
            </a:solidFill>
            <a:prstDash val="solid"/>
            <a:round/>
            <a:headEnd type="none" w="med" len="med"/>
            <a:tailEnd type="triangle" w="med" len="med"/>
          </a:ln>
        </p:spPr>
      </p:cxnSp>
      <p:cxnSp>
        <p:nvCxnSpPr>
          <p:cNvPr id="118" name="Google Shape;118;p9"/>
          <p:cNvCxnSpPr/>
          <p:nvPr/>
        </p:nvCxnSpPr>
        <p:spPr>
          <a:xfrm rot="10800000" flipH="1">
            <a:off x="8658700" y="3880375"/>
            <a:ext cx="849000" cy="254100"/>
          </a:xfrm>
          <a:prstGeom prst="straightConnector1">
            <a:avLst/>
          </a:prstGeom>
          <a:noFill/>
          <a:ln w="19050" cap="flat" cmpd="sng">
            <a:solidFill>
              <a:schemeClr val="dk2"/>
            </a:solidFill>
            <a:prstDash val="solid"/>
            <a:round/>
            <a:headEnd type="none" w="med" len="med"/>
            <a:tailEnd type="triangle" w="med" len="med"/>
          </a:ln>
        </p:spPr>
      </p:cxnSp>
      <p:sp>
        <p:nvSpPr>
          <p:cNvPr id="119" name="Google Shape;119;p9"/>
          <p:cNvSpPr/>
          <p:nvPr/>
        </p:nvSpPr>
        <p:spPr>
          <a:xfrm>
            <a:off x="8575600" y="2949625"/>
            <a:ext cx="171300" cy="1644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9"/>
          <p:cNvSpPr/>
          <p:nvPr/>
        </p:nvSpPr>
        <p:spPr>
          <a:xfrm>
            <a:off x="9381400" y="3276900"/>
            <a:ext cx="171300" cy="1644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9"/>
          <p:cNvSpPr/>
          <p:nvPr/>
        </p:nvSpPr>
        <p:spPr>
          <a:xfrm>
            <a:off x="10113575" y="4064000"/>
            <a:ext cx="171300" cy="1644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 name="Google Shape;121;p9"/>
          <p:cNvSpPr/>
          <p:nvPr/>
        </p:nvSpPr>
        <p:spPr>
          <a:xfrm>
            <a:off x="9507700" y="3783975"/>
            <a:ext cx="171300" cy="1644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 name="Google Shape;122;p9"/>
          <p:cNvSpPr/>
          <p:nvPr/>
        </p:nvSpPr>
        <p:spPr>
          <a:xfrm>
            <a:off x="7204125" y="3667625"/>
            <a:ext cx="171300" cy="164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 name="Google Shape;123;p9"/>
          <p:cNvSpPr txBox="1"/>
          <p:nvPr/>
        </p:nvSpPr>
        <p:spPr>
          <a:xfrm>
            <a:off x="8746900" y="2754825"/>
            <a:ext cx="77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Лама</a:t>
            </a:r>
            <a:endParaRPr/>
          </a:p>
        </p:txBody>
      </p:sp>
      <p:sp>
        <p:nvSpPr>
          <p:cNvPr id="124" name="Google Shape;124;p9"/>
          <p:cNvSpPr txBox="1"/>
          <p:nvPr/>
        </p:nvSpPr>
        <p:spPr>
          <a:xfrm>
            <a:off x="9507700" y="3041925"/>
            <a:ext cx="8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Мама</a:t>
            </a:r>
            <a:endParaRPr/>
          </a:p>
        </p:txBody>
      </p:sp>
      <p:sp>
        <p:nvSpPr>
          <p:cNvPr id="125" name="Google Shape;125;p9"/>
          <p:cNvSpPr txBox="1"/>
          <p:nvPr/>
        </p:nvSpPr>
        <p:spPr>
          <a:xfrm>
            <a:off x="10113575" y="4263025"/>
            <a:ext cx="8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Сын</a:t>
            </a:r>
            <a:endParaRPr/>
          </a:p>
        </p:txBody>
      </p:sp>
      <p:sp>
        <p:nvSpPr>
          <p:cNvPr id="126" name="Google Shape;126;p9"/>
          <p:cNvSpPr txBox="1"/>
          <p:nvPr/>
        </p:nvSpPr>
        <p:spPr>
          <a:xfrm>
            <a:off x="9662275" y="3652475"/>
            <a:ext cx="8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Новый</a:t>
            </a:r>
            <a:endParaRPr/>
          </a:p>
        </p:txBody>
      </p:sp>
      <p:sp>
        <p:nvSpPr>
          <p:cNvPr id="127" name="Google Shape;127;p9"/>
          <p:cNvSpPr txBox="1"/>
          <p:nvPr/>
        </p:nvSpPr>
        <p:spPr>
          <a:xfrm>
            <a:off x="6398050" y="3442138"/>
            <a:ext cx="98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Свиттер</a:t>
            </a:r>
            <a:endParaRPr/>
          </a:p>
        </p:txBody>
      </p:sp>
      <p:sp>
        <p:nvSpPr>
          <p:cNvPr id="128" name="Google Shape;128;p9"/>
          <p:cNvSpPr txBox="1"/>
          <p:nvPr/>
        </p:nvSpPr>
        <p:spPr>
          <a:xfrm>
            <a:off x="2667875" y="2051875"/>
            <a:ext cx="1371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[1, 0, 0, 0, …]</a:t>
            </a:r>
            <a:endParaRPr b="1">
              <a:latin typeface="Montserrat"/>
              <a:ea typeface="Montserrat"/>
              <a:cs typeface="Montserrat"/>
              <a:sym typeface="Montserrat"/>
            </a:endParaRPr>
          </a:p>
        </p:txBody>
      </p:sp>
      <p:sp>
        <p:nvSpPr>
          <p:cNvPr id="129" name="Google Shape;129;p9"/>
          <p:cNvSpPr txBox="1"/>
          <p:nvPr/>
        </p:nvSpPr>
        <p:spPr>
          <a:xfrm>
            <a:off x="4171650" y="2863925"/>
            <a:ext cx="1371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[0, 1, 0, 0, …]</a:t>
            </a:r>
            <a:endParaRPr b="1">
              <a:latin typeface="Montserrat"/>
              <a:ea typeface="Montserrat"/>
              <a:cs typeface="Montserrat"/>
              <a:sym typeface="Montserrat"/>
            </a:endParaRPr>
          </a:p>
        </p:txBody>
      </p:sp>
      <p:sp>
        <p:nvSpPr>
          <p:cNvPr id="130" name="Google Shape;130;p9"/>
          <p:cNvSpPr txBox="1"/>
          <p:nvPr/>
        </p:nvSpPr>
        <p:spPr>
          <a:xfrm>
            <a:off x="4811550" y="4300500"/>
            <a:ext cx="1371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[0, 0, 1, 0, …]</a:t>
            </a:r>
            <a:endParaRPr b="1">
              <a:latin typeface="Montserrat"/>
              <a:ea typeface="Montserrat"/>
              <a:cs typeface="Montserrat"/>
              <a:sym typeface="Montserrat"/>
            </a:endParaRPr>
          </a:p>
        </p:txBody>
      </p:sp>
      <p:sp>
        <p:nvSpPr>
          <p:cNvPr id="131" name="Google Shape;131;p9"/>
          <p:cNvSpPr txBox="1"/>
          <p:nvPr/>
        </p:nvSpPr>
        <p:spPr>
          <a:xfrm>
            <a:off x="3720000" y="5543625"/>
            <a:ext cx="1371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[0, 0, 0, 1, …]</a:t>
            </a:r>
            <a:endParaRPr b="1">
              <a:latin typeface="Montserrat"/>
              <a:ea typeface="Montserrat"/>
              <a:cs typeface="Montserrat"/>
              <a:sym typeface="Montserrat"/>
            </a:endParaRPr>
          </a:p>
        </p:txBody>
      </p:sp>
      <p:sp>
        <p:nvSpPr>
          <p:cNvPr id="132" name="Google Shape;132;p9"/>
          <p:cNvSpPr txBox="1"/>
          <p:nvPr/>
        </p:nvSpPr>
        <p:spPr>
          <a:xfrm>
            <a:off x="1049950" y="5682100"/>
            <a:ext cx="1692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[0, 0, 0, …, 1, …]</a:t>
            </a:r>
            <a:endParaRPr b="1">
              <a:latin typeface="Montserrat"/>
              <a:ea typeface="Montserrat"/>
              <a:cs typeface="Montserrat"/>
              <a:sym typeface="Montserrat"/>
            </a:endParaRPr>
          </a:p>
        </p:txBody>
      </p:sp>
      <p:sp>
        <p:nvSpPr>
          <p:cNvPr id="133" name="Google Shape;133;p9"/>
          <p:cNvSpPr txBox="1"/>
          <p:nvPr/>
        </p:nvSpPr>
        <p:spPr>
          <a:xfrm>
            <a:off x="61450" y="4300500"/>
            <a:ext cx="1925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[0, 0, 0, …, 0, 1, …]</a:t>
            </a:r>
            <a:endParaRPr b="1">
              <a:latin typeface="Montserrat"/>
              <a:ea typeface="Montserrat"/>
              <a:cs typeface="Montserrat"/>
              <a:sym typeface="Montserrat"/>
            </a:endParaRPr>
          </a:p>
        </p:txBody>
      </p:sp>
      <p:sp>
        <p:nvSpPr>
          <p:cNvPr id="134" name="Google Shape;134;p9"/>
          <p:cNvSpPr txBox="1"/>
          <p:nvPr/>
        </p:nvSpPr>
        <p:spPr>
          <a:xfrm>
            <a:off x="8630800" y="2232763"/>
            <a:ext cx="1925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[0, 1]</a:t>
            </a:r>
            <a:endParaRPr b="1">
              <a:latin typeface="Montserrat"/>
              <a:ea typeface="Montserrat"/>
              <a:cs typeface="Montserrat"/>
              <a:sym typeface="Montserrat"/>
            </a:endParaRPr>
          </a:p>
        </p:txBody>
      </p:sp>
      <p:sp>
        <p:nvSpPr>
          <p:cNvPr id="135" name="Google Shape;135;p9"/>
          <p:cNvSpPr txBox="1"/>
          <p:nvPr/>
        </p:nvSpPr>
        <p:spPr>
          <a:xfrm>
            <a:off x="9725225" y="2831738"/>
            <a:ext cx="119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[1.4, 1.2]</a:t>
            </a:r>
            <a:endParaRPr b="1">
              <a:latin typeface="Montserrat"/>
              <a:ea typeface="Montserrat"/>
              <a:cs typeface="Montserrat"/>
              <a:sym typeface="Montserrat"/>
            </a:endParaRPr>
          </a:p>
        </p:txBody>
      </p:sp>
      <p:sp>
        <p:nvSpPr>
          <p:cNvPr id="136" name="Google Shape;136;p9"/>
          <p:cNvSpPr txBox="1"/>
          <p:nvPr/>
        </p:nvSpPr>
        <p:spPr>
          <a:xfrm>
            <a:off x="10991975" y="3921900"/>
            <a:ext cx="119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[1, 0]</a:t>
            </a:r>
            <a:endParaRPr b="1">
              <a:latin typeface="Montserrat"/>
              <a:ea typeface="Montserrat"/>
              <a:cs typeface="Montserrat"/>
              <a:sym typeface="Montserrat"/>
            </a:endParaRPr>
          </a:p>
        </p:txBody>
      </p:sp>
      <p:sp>
        <p:nvSpPr>
          <p:cNvPr id="137" name="Google Shape;137;p9"/>
          <p:cNvSpPr txBox="1"/>
          <p:nvPr/>
        </p:nvSpPr>
        <p:spPr>
          <a:xfrm>
            <a:off x="6679675" y="3845000"/>
            <a:ext cx="119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Montserrat"/>
                <a:ea typeface="Montserrat"/>
                <a:cs typeface="Montserrat"/>
                <a:sym typeface="Montserrat"/>
              </a:rPr>
              <a:t>[-1.2, 0.8]</a:t>
            </a:r>
            <a:endParaRPr b="1">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0"/>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Эмбединги и токенизация</a:t>
            </a:r>
            <a:endParaRPr sz="1400" b="0" i="0" u="none" strike="noStrike" cap="none">
              <a:solidFill>
                <a:schemeClr val="dk1"/>
              </a:solidFill>
              <a:latin typeface="Calibri"/>
              <a:ea typeface="Calibri"/>
              <a:cs typeface="Calibri"/>
              <a:sym typeface="Calibri"/>
            </a:endParaRPr>
          </a:p>
        </p:txBody>
      </p:sp>
      <p:sp>
        <p:nvSpPr>
          <p:cNvPr id="144" name="Google Shape;144;p10"/>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Word2Vec</a:t>
            </a:r>
            <a:endParaRPr sz="3200" b="1">
              <a:solidFill>
                <a:srgbClr val="1E2761"/>
              </a:solidFill>
              <a:latin typeface="Cambria"/>
              <a:ea typeface="Cambria"/>
              <a:cs typeface="Cambria"/>
              <a:sym typeface="Cambria"/>
            </a:endParaRPr>
          </a:p>
        </p:txBody>
      </p:sp>
      <p:sp>
        <p:nvSpPr>
          <p:cNvPr id="145" name="Google Shape;145;p10"/>
          <p:cNvSpPr/>
          <p:nvPr/>
        </p:nvSpPr>
        <p:spPr>
          <a:xfrm>
            <a:off x="512875" y="1889200"/>
            <a:ext cx="1124100" cy="477000"/>
          </a:xfrm>
          <a:prstGeom prst="flowChartAlternateProcess">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 name="Google Shape;146;p10"/>
          <p:cNvSpPr/>
          <p:nvPr/>
        </p:nvSpPr>
        <p:spPr>
          <a:xfrm>
            <a:off x="2657700" y="1857700"/>
            <a:ext cx="4397100" cy="513000"/>
          </a:xfrm>
          <a:prstGeom prst="flowChartAlternateProcess">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 name="Google Shape;147;p10"/>
          <p:cNvSpPr/>
          <p:nvPr/>
        </p:nvSpPr>
        <p:spPr>
          <a:xfrm>
            <a:off x="1637100" y="1862675"/>
            <a:ext cx="1020600" cy="513000"/>
          </a:xfrm>
          <a:prstGeom prst="flowChartAlternateProcess">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10"/>
          <p:cNvSpPr txBox="1"/>
          <p:nvPr/>
        </p:nvSpPr>
        <p:spPr>
          <a:xfrm>
            <a:off x="512875" y="1898463"/>
            <a:ext cx="113754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a:latin typeface="Montserrat"/>
                <a:ea typeface="Montserrat"/>
                <a:cs typeface="Montserrat"/>
                <a:sym typeface="Montserrat"/>
              </a:rPr>
              <a:t>один из первых подхоов формирования компактного векторного представления слов</a:t>
            </a:r>
            <a:endParaRPr sz="1900">
              <a:latin typeface="Montserrat"/>
              <a:ea typeface="Montserrat"/>
              <a:cs typeface="Montserrat"/>
              <a:sym typeface="Montserrat"/>
            </a:endParaRPr>
          </a:p>
        </p:txBody>
      </p:sp>
      <p:sp>
        <p:nvSpPr>
          <p:cNvPr id="149" name="Google Shape;149;p10"/>
          <p:cNvSpPr/>
          <p:nvPr/>
        </p:nvSpPr>
        <p:spPr>
          <a:xfrm rot="-5400000">
            <a:off x="2019150" y="1313050"/>
            <a:ext cx="178500" cy="942600"/>
          </a:xfrm>
          <a:prstGeom prst="righ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10"/>
          <p:cNvSpPr/>
          <p:nvPr/>
        </p:nvSpPr>
        <p:spPr>
          <a:xfrm rot="5400000">
            <a:off x="985800" y="1982525"/>
            <a:ext cx="178500" cy="1124100"/>
          </a:xfrm>
          <a:prstGeom prst="righ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10"/>
          <p:cNvSpPr/>
          <p:nvPr/>
        </p:nvSpPr>
        <p:spPr>
          <a:xfrm rot="5400000">
            <a:off x="4774900" y="354050"/>
            <a:ext cx="178500" cy="4330800"/>
          </a:xfrm>
          <a:prstGeom prst="righ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 name="Google Shape;152;p10"/>
          <p:cNvSpPr txBox="1"/>
          <p:nvPr/>
        </p:nvSpPr>
        <p:spPr>
          <a:xfrm>
            <a:off x="1574675" y="1310513"/>
            <a:ext cx="1164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latin typeface="Montserrat"/>
                <a:ea typeface="Montserrat"/>
                <a:cs typeface="Montserrat"/>
                <a:sym typeface="Montserrat"/>
              </a:rPr>
              <a:t>слово</a:t>
            </a:r>
            <a:endParaRPr sz="2000">
              <a:latin typeface="Montserrat"/>
              <a:ea typeface="Montserrat"/>
              <a:cs typeface="Montserrat"/>
              <a:sym typeface="Montserrat"/>
            </a:endParaRPr>
          </a:p>
        </p:txBody>
      </p:sp>
      <p:sp>
        <p:nvSpPr>
          <p:cNvPr id="153" name="Google Shape;153;p10"/>
          <p:cNvSpPr txBox="1"/>
          <p:nvPr/>
        </p:nvSpPr>
        <p:spPr>
          <a:xfrm>
            <a:off x="3714250" y="2758200"/>
            <a:ext cx="2299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latin typeface="Montserrat"/>
                <a:ea typeface="Montserrat"/>
                <a:cs typeface="Montserrat"/>
                <a:sym typeface="Montserrat"/>
              </a:rPr>
              <a:t>Контекст слова</a:t>
            </a:r>
            <a:endParaRPr sz="2000">
              <a:latin typeface="Montserrat"/>
              <a:ea typeface="Montserrat"/>
              <a:cs typeface="Montserrat"/>
              <a:sym typeface="Montserrat"/>
            </a:endParaRPr>
          </a:p>
        </p:txBody>
      </p:sp>
      <p:graphicFrame>
        <p:nvGraphicFramePr>
          <p:cNvPr id="154" name="Google Shape;154;p10"/>
          <p:cNvGraphicFramePr/>
          <p:nvPr/>
        </p:nvGraphicFramePr>
        <p:xfrm>
          <a:off x="776088" y="3449050"/>
          <a:ext cx="10286700" cy="2773470"/>
        </p:xfrm>
        <a:graphic>
          <a:graphicData uri="http://schemas.openxmlformats.org/drawingml/2006/table">
            <a:tbl>
              <a:tblPr>
                <a:noFill/>
                <a:tableStyleId>{2689D54E-76E5-4D9E-A9EF-E7053C295400}</a:tableStyleId>
              </a:tblPr>
              <a:tblGrid>
                <a:gridCol w="1714450">
                  <a:extLst>
                    <a:ext uri="{9D8B030D-6E8A-4147-A177-3AD203B41FA5}">
                      <a16:colId xmlns:a16="http://schemas.microsoft.com/office/drawing/2014/main" val="20000"/>
                    </a:ext>
                  </a:extLst>
                </a:gridCol>
                <a:gridCol w="1714450">
                  <a:extLst>
                    <a:ext uri="{9D8B030D-6E8A-4147-A177-3AD203B41FA5}">
                      <a16:colId xmlns:a16="http://schemas.microsoft.com/office/drawing/2014/main" val="20001"/>
                    </a:ext>
                  </a:extLst>
                </a:gridCol>
                <a:gridCol w="1714450">
                  <a:extLst>
                    <a:ext uri="{9D8B030D-6E8A-4147-A177-3AD203B41FA5}">
                      <a16:colId xmlns:a16="http://schemas.microsoft.com/office/drawing/2014/main" val="20002"/>
                    </a:ext>
                  </a:extLst>
                </a:gridCol>
                <a:gridCol w="1714450">
                  <a:extLst>
                    <a:ext uri="{9D8B030D-6E8A-4147-A177-3AD203B41FA5}">
                      <a16:colId xmlns:a16="http://schemas.microsoft.com/office/drawing/2014/main" val="20003"/>
                    </a:ext>
                  </a:extLst>
                </a:gridCol>
                <a:gridCol w="1714450">
                  <a:extLst>
                    <a:ext uri="{9D8B030D-6E8A-4147-A177-3AD203B41FA5}">
                      <a16:colId xmlns:a16="http://schemas.microsoft.com/office/drawing/2014/main" val="20004"/>
                    </a:ext>
                  </a:extLst>
                </a:gridCol>
                <a:gridCol w="171445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b="1">
                          <a:latin typeface="Montserrat"/>
                          <a:ea typeface="Montserrat"/>
                          <a:cs typeface="Montserrat"/>
                          <a:sym typeface="Montserrat"/>
                        </a:rPr>
                        <a:t>один</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b="1">
                          <a:latin typeface="Montserrat"/>
                          <a:ea typeface="Montserrat"/>
                          <a:cs typeface="Montserrat"/>
                          <a:sym typeface="Montserrat"/>
                        </a:rPr>
                        <a:t>из</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b="1">
                          <a:latin typeface="Montserrat"/>
                          <a:ea typeface="Montserrat"/>
                          <a:cs typeface="Montserrat"/>
                          <a:sym typeface="Montserrat"/>
                        </a:rPr>
                        <a:t>первых</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b="1">
                          <a:latin typeface="Montserrat"/>
                          <a:ea typeface="Montserrat"/>
                          <a:cs typeface="Montserrat"/>
                          <a:sym typeface="Montserrat"/>
                        </a:rPr>
                        <a:t>подходов</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b="1">
                          <a:latin typeface="Montserrat"/>
                          <a:ea typeface="Montserrat"/>
                          <a:cs typeface="Montserrat"/>
                          <a:sym typeface="Montserrat"/>
                        </a:rPr>
                        <a:t>один</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a:latin typeface="Montserrat"/>
                        <a:ea typeface="Montserrat"/>
                        <a:cs typeface="Montserrat"/>
                        <a:sym typeface="Montserrat"/>
                      </a:endParaRPr>
                    </a:p>
                  </a:txBody>
                  <a:tcPr marL="91425" marR="91425" marT="91425" marB="91425">
                    <a:solidFill>
                      <a:srgbClr val="D9D9D9"/>
                    </a:solidFill>
                  </a:tcPr>
                </a:tc>
                <a:tc>
                  <a:txBody>
                    <a:bodyPr/>
                    <a:lstStyle/>
                    <a:p>
                      <a:pPr marL="0" lvl="0" indent="0" algn="l" rtl="0">
                        <a:spcBef>
                          <a:spcPts val="0"/>
                        </a:spcBef>
                        <a:spcAft>
                          <a:spcPts val="0"/>
                        </a:spcAft>
                        <a:buNone/>
                      </a:pPr>
                      <a:r>
                        <a:rPr lang="en-US">
                          <a:latin typeface="Montserrat"/>
                          <a:ea typeface="Montserrat"/>
                          <a:cs typeface="Montserrat"/>
                          <a:sym typeface="Montserrat"/>
                        </a:rPr>
                        <a:t>2</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1</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0</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b="1">
                          <a:latin typeface="Montserrat"/>
                          <a:ea typeface="Montserrat"/>
                          <a:cs typeface="Montserrat"/>
                          <a:sym typeface="Montserrat"/>
                        </a:rPr>
                        <a:t>из</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2</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a:latin typeface="Montserrat"/>
                        <a:ea typeface="Montserrat"/>
                        <a:cs typeface="Montserrat"/>
                        <a:sym typeface="Montserrat"/>
                      </a:endParaRPr>
                    </a:p>
                  </a:txBody>
                  <a:tcPr marL="91425" marR="91425" marT="91425" marB="91425">
                    <a:solidFill>
                      <a:srgbClr val="CCCCCC"/>
                    </a:solidFill>
                  </a:tcPr>
                </a:tc>
                <a:tc>
                  <a:txBody>
                    <a:bodyPr/>
                    <a:lstStyle/>
                    <a:p>
                      <a:pPr marL="0" lvl="0" indent="0" algn="l" rtl="0">
                        <a:spcBef>
                          <a:spcPts val="0"/>
                        </a:spcBef>
                        <a:spcAft>
                          <a:spcPts val="0"/>
                        </a:spcAft>
                        <a:buNone/>
                      </a:pPr>
                      <a:r>
                        <a:rPr lang="en-US">
                          <a:latin typeface="Montserrat"/>
                          <a:ea typeface="Montserrat"/>
                          <a:cs typeface="Montserrat"/>
                          <a:sym typeface="Montserrat"/>
                        </a:rPr>
                        <a:t>3</a:t>
                      </a:r>
                      <a:endParaRPr>
                        <a:latin typeface="Montserrat"/>
                        <a:ea typeface="Montserrat"/>
                        <a:cs typeface="Montserrat"/>
                        <a:sym typeface="Montserrat"/>
                      </a:endParaRPr>
                    </a:p>
                  </a:txBody>
                  <a:tcPr marL="91425" marR="91425" marT="91425" marB="91425">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Montserrat"/>
                          <a:ea typeface="Montserrat"/>
                          <a:cs typeface="Montserrat"/>
                          <a:sym typeface="Montserrat"/>
                        </a:rPr>
                        <a:t>1</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b="1">
                          <a:latin typeface="Montserrat"/>
                          <a:ea typeface="Montserrat"/>
                          <a:cs typeface="Montserrat"/>
                          <a:sym typeface="Montserrat"/>
                        </a:rPr>
                        <a:t>первых</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1</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3</a:t>
                      </a:r>
                      <a:endParaRPr>
                        <a:latin typeface="Montserrat"/>
                        <a:ea typeface="Montserrat"/>
                        <a:cs typeface="Montserrat"/>
                        <a:sym typeface="Montserrat"/>
                      </a:endParaRPr>
                    </a:p>
                  </a:txBody>
                  <a:tcPr marL="91425" marR="91425" marT="91425" marB="91425">
                    <a:lnR w="9525" cap="flat" cmpd="sng">
                      <a:solidFill>
                        <a:srgbClr val="D9D9D9"/>
                      </a:solidFill>
                      <a:prstDash val="solid"/>
                      <a:round/>
                      <a:headEnd type="none" w="sm" len="sm"/>
                      <a:tailEnd type="none" w="sm" len="sm"/>
                    </a:lnR>
                  </a:tcPr>
                </a:tc>
                <a:tc>
                  <a:txBody>
                    <a:bodyPr/>
                    <a:lstStyle/>
                    <a:p>
                      <a:pPr marL="0" lvl="0" indent="0" algn="l" rtl="0">
                        <a:spcBef>
                          <a:spcPts val="0"/>
                        </a:spcBef>
                        <a:spcAft>
                          <a:spcPts val="0"/>
                        </a:spcAft>
                        <a:buNone/>
                      </a:pPr>
                      <a:endParaRPr>
                        <a:latin typeface="Montserrat"/>
                        <a:ea typeface="Montserrat"/>
                        <a:cs typeface="Montserrat"/>
                        <a:sym typeface="Montserrat"/>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en-US">
                          <a:latin typeface="Montserrat"/>
                          <a:ea typeface="Montserrat"/>
                          <a:cs typeface="Montserrat"/>
                          <a:sym typeface="Montserrat"/>
                        </a:rPr>
                        <a:t>2</a:t>
                      </a:r>
                      <a:endParaRPr>
                        <a:latin typeface="Montserrat"/>
                        <a:ea typeface="Montserrat"/>
                        <a:cs typeface="Montserrat"/>
                        <a:sym typeface="Montserrat"/>
                      </a:endParaRPr>
                    </a:p>
                  </a:txBody>
                  <a:tcPr marL="91425" marR="91425" marT="91425" marB="91425">
                    <a:lnL w="9525" cap="flat" cmpd="sng">
                      <a:solidFill>
                        <a:srgbClr val="D9D9D9"/>
                      </a:solidFill>
                      <a:prstDash val="solid"/>
                      <a:round/>
                      <a:headEnd type="none" w="sm" len="sm"/>
                      <a:tailEnd type="none" w="sm" len="sm"/>
                    </a:lnL>
                  </a:tcPr>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b="1">
                          <a:latin typeface="Montserrat"/>
                          <a:ea typeface="Montserrat"/>
                          <a:cs typeface="Montserrat"/>
                          <a:sym typeface="Montserrat"/>
                        </a:rPr>
                        <a:t>подходов</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0</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1</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2</a:t>
                      </a:r>
                      <a:endParaRPr>
                        <a:latin typeface="Montserrat"/>
                        <a:ea typeface="Montserrat"/>
                        <a:cs typeface="Montserrat"/>
                        <a:sym typeface="Montserrat"/>
                      </a:endParaRPr>
                    </a:p>
                  </a:txBody>
                  <a:tcPr marL="91425" marR="91425" marT="91425" marB="91425">
                    <a:lnT w="9525" cap="flat" cmpd="sng">
                      <a:solidFill>
                        <a:srgbClr val="D9D9D9"/>
                      </a:solidFill>
                      <a:prstDash val="solid"/>
                      <a:round/>
                      <a:headEnd type="none" w="sm" len="sm"/>
                      <a:tailEnd type="none" w="sm" len="sm"/>
                    </a:lnT>
                  </a:tcPr>
                </a:tc>
                <a:tc>
                  <a:txBody>
                    <a:bodyPr/>
                    <a:lstStyle/>
                    <a:p>
                      <a:pPr marL="0" lvl="0" indent="0" algn="l" rtl="0">
                        <a:spcBef>
                          <a:spcPts val="0"/>
                        </a:spcBef>
                        <a:spcAft>
                          <a:spcPts val="0"/>
                        </a:spcAft>
                        <a:buNone/>
                      </a:pPr>
                      <a:endParaRPr>
                        <a:latin typeface="Montserrat"/>
                        <a:ea typeface="Montserrat"/>
                        <a:cs typeface="Montserrat"/>
                        <a:sym typeface="Montserrat"/>
                      </a:endParaRPr>
                    </a:p>
                  </a:txBody>
                  <a:tcPr marL="91425" marR="91425" marT="91425" marB="91425">
                    <a:solidFill>
                      <a:srgbClr val="D9D9D9"/>
                    </a:solidFill>
                  </a:tcPr>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b="1">
                          <a:latin typeface="Montserrat"/>
                          <a:ea typeface="Montserrat"/>
                          <a:cs typeface="Montserrat"/>
                          <a:sym typeface="Montserrat"/>
                        </a:rPr>
                        <a:t>формирования</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0</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4</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0</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1</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US" b="1">
                          <a:latin typeface="Montserrat"/>
                          <a:ea typeface="Montserrat"/>
                          <a:cs typeface="Montserrat"/>
                          <a:sym typeface="Montserrat"/>
                        </a:rPr>
                        <a:t>…</a:t>
                      </a:r>
                      <a:endParaRPr b="1">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US">
                          <a:latin typeface="Montserrat"/>
                          <a:ea typeface="Montserrat"/>
                          <a:cs typeface="Montserrat"/>
                          <a:sym typeface="Montserrat"/>
                        </a:rPr>
                        <a:t>…</a:t>
                      </a:r>
                      <a:endParaRPr>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Как бороться</a:t>
            </a:r>
            <a:endParaRPr sz="1400" b="0" i="0" u="none" strike="noStrike" cap="none">
              <a:solidFill>
                <a:schemeClr val="dk1"/>
              </a:solidFill>
              <a:latin typeface="Calibri"/>
              <a:ea typeface="Calibri"/>
              <a:cs typeface="Calibri"/>
              <a:sym typeface="Calibri"/>
            </a:endParaRPr>
          </a:p>
        </p:txBody>
      </p:sp>
      <p:sp>
        <p:nvSpPr>
          <p:cNvPr id="161" name="Google Shape;161;p11"/>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Word2Vec</a:t>
            </a:r>
            <a:endParaRPr sz="3200" b="1">
              <a:solidFill>
                <a:srgbClr val="1E2761"/>
              </a:solidFill>
              <a:latin typeface="Cambria"/>
              <a:ea typeface="Cambria"/>
              <a:cs typeface="Cambria"/>
              <a:sym typeface="Cambria"/>
            </a:endParaRPr>
          </a:p>
        </p:txBody>
      </p:sp>
      <p:grpSp>
        <p:nvGrpSpPr>
          <p:cNvPr id="162" name="Google Shape;162;p11"/>
          <p:cNvGrpSpPr/>
          <p:nvPr/>
        </p:nvGrpSpPr>
        <p:grpSpPr>
          <a:xfrm>
            <a:off x="6096027" y="4782197"/>
            <a:ext cx="4527241" cy="1705941"/>
            <a:chOff x="906265" y="3790007"/>
            <a:chExt cx="4527241" cy="1705941"/>
          </a:xfrm>
        </p:grpSpPr>
        <p:pic>
          <p:nvPicPr>
            <p:cNvPr id="163" name="Google Shape;163;p11"/>
            <p:cNvPicPr preferRelativeResize="0"/>
            <p:nvPr/>
          </p:nvPicPr>
          <p:blipFill rotWithShape="1">
            <a:blip r:embed="rId3">
              <a:alphaModFix/>
            </a:blip>
            <a:srcRect/>
            <a:stretch/>
          </p:blipFill>
          <p:spPr>
            <a:xfrm flipH="1">
              <a:off x="4158357" y="3880102"/>
              <a:ext cx="766653" cy="1590044"/>
            </a:xfrm>
            <a:prstGeom prst="rect">
              <a:avLst/>
            </a:prstGeom>
            <a:noFill/>
            <a:ln>
              <a:noFill/>
            </a:ln>
          </p:spPr>
        </p:pic>
        <p:pic>
          <p:nvPicPr>
            <p:cNvPr id="164" name="Google Shape;164;p11"/>
            <p:cNvPicPr preferRelativeResize="0"/>
            <p:nvPr/>
          </p:nvPicPr>
          <p:blipFill rotWithShape="1">
            <a:blip r:embed="rId4">
              <a:alphaModFix/>
            </a:blip>
            <a:srcRect/>
            <a:stretch/>
          </p:blipFill>
          <p:spPr>
            <a:xfrm>
              <a:off x="2795938" y="3790007"/>
              <a:ext cx="900652" cy="1705941"/>
            </a:xfrm>
            <a:prstGeom prst="rect">
              <a:avLst/>
            </a:prstGeom>
            <a:noFill/>
            <a:ln>
              <a:noFill/>
            </a:ln>
          </p:spPr>
        </p:pic>
        <p:pic>
          <p:nvPicPr>
            <p:cNvPr id="165" name="Google Shape;165;p11"/>
            <p:cNvPicPr preferRelativeResize="0"/>
            <p:nvPr/>
          </p:nvPicPr>
          <p:blipFill rotWithShape="1">
            <a:blip r:embed="rId5">
              <a:alphaModFix/>
            </a:blip>
            <a:srcRect/>
            <a:stretch/>
          </p:blipFill>
          <p:spPr>
            <a:xfrm>
              <a:off x="906265" y="3793463"/>
              <a:ext cx="1312334" cy="1569134"/>
            </a:xfrm>
            <a:prstGeom prst="rect">
              <a:avLst/>
            </a:prstGeom>
            <a:noFill/>
            <a:ln>
              <a:noFill/>
            </a:ln>
          </p:spPr>
        </p:pic>
        <p:sp>
          <p:nvSpPr>
            <p:cNvPr id="166" name="Google Shape;166;p11"/>
            <p:cNvSpPr txBox="1"/>
            <p:nvPr/>
          </p:nvSpPr>
          <p:spPr>
            <a:xfrm>
              <a:off x="2481993" y="4537381"/>
              <a:ext cx="295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sp>
          <p:nvSpPr>
            <p:cNvPr id="167" name="Google Shape;167;p11"/>
            <p:cNvSpPr txBox="1"/>
            <p:nvPr/>
          </p:nvSpPr>
          <p:spPr>
            <a:xfrm>
              <a:off x="3727714" y="4546068"/>
              <a:ext cx="364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sp>
          <p:nvSpPr>
            <p:cNvPr id="168" name="Google Shape;168;p11"/>
            <p:cNvSpPr txBox="1"/>
            <p:nvPr/>
          </p:nvSpPr>
          <p:spPr>
            <a:xfrm>
              <a:off x="5069306" y="4590412"/>
              <a:ext cx="364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grpSp>
      <p:sp>
        <p:nvSpPr>
          <p:cNvPr id="169" name="Google Shape;169;p11"/>
          <p:cNvSpPr txBox="1"/>
          <p:nvPr/>
        </p:nvSpPr>
        <p:spPr>
          <a:xfrm>
            <a:off x="646725" y="1490600"/>
            <a:ext cx="9445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latin typeface="Montserrat"/>
                <a:ea typeface="Montserrat"/>
                <a:cs typeface="Montserrat"/>
                <a:sym typeface="Montserrat"/>
              </a:rPr>
              <a:t>Ранее вектор шло предложение/документ. Теперь же мы представляем в виде вектора все слово</a:t>
            </a:r>
            <a:endParaRPr sz="1600">
              <a:latin typeface="Montserrat"/>
              <a:ea typeface="Montserrat"/>
              <a:cs typeface="Montserrat"/>
              <a:sym typeface="Montserrat"/>
            </a:endParaRPr>
          </a:p>
        </p:txBody>
      </p:sp>
      <p:pic>
        <p:nvPicPr>
          <p:cNvPr id="170" name="Google Shape;170;p11"/>
          <p:cNvPicPr preferRelativeResize="0"/>
          <p:nvPr/>
        </p:nvPicPr>
        <p:blipFill rotWithShape="1">
          <a:blip r:embed="rId6">
            <a:alphaModFix/>
          </a:blip>
          <a:srcRect/>
          <a:stretch/>
        </p:blipFill>
        <p:spPr>
          <a:xfrm>
            <a:off x="730876" y="2230253"/>
            <a:ext cx="7927724" cy="2602675"/>
          </a:xfrm>
          <a:prstGeom prst="rect">
            <a:avLst/>
          </a:prstGeom>
          <a:noFill/>
          <a:ln>
            <a:noFill/>
          </a:ln>
        </p:spPr>
      </p:pic>
      <p:sp>
        <p:nvSpPr>
          <p:cNvPr id="171" name="Google Shape;171;p11"/>
          <p:cNvSpPr txBox="1"/>
          <p:nvPr/>
        </p:nvSpPr>
        <p:spPr>
          <a:xfrm>
            <a:off x="5720525" y="4212250"/>
            <a:ext cx="6690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latin typeface="Montserrat"/>
                <a:ea typeface="Montserrat"/>
                <a:cs typeface="Montserrat"/>
                <a:sym typeface="Montserrat"/>
              </a:rPr>
              <a:t>Теперь вектор отражает семантическое значение слова</a:t>
            </a:r>
            <a:endParaRPr sz="160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Как бороться</a:t>
            </a:r>
            <a:endParaRPr sz="1400" b="0" i="0" u="none" strike="noStrike" cap="none">
              <a:solidFill>
                <a:schemeClr val="dk1"/>
              </a:solidFill>
              <a:latin typeface="Calibri"/>
              <a:ea typeface="Calibri"/>
              <a:cs typeface="Calibri"/>
              <a:sym typeface="Calibri"/>
            </a:endParaRPr>
          </a:p>
        </p:txBody>
      </p:sp>
      <p:sp>
        <p:nvSpPr>
          <p:cNvPr id="178" name="Google Shape;178;p12"/>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Word2Vec</a:t>
            </a:r>
            <a:endParaRPr sz="3200" b="1">
              <a:solidFill>
                <a:srgbClr val="1E2761"/>
              </a:solidFill>
              <a:latin typeface="Cambria"/>
              <a:ea typeface="Cambria"/>
              <a:cs typeface="Cambria"/>
              <a:sym typeface="Cambria"/>
            </a:endParaRPr>
          </a:p>
        </p:txBody>
      </p:sp>
      <p:grpSp>
        <p:nvGrpSpPr>
          <p:cNvPr id="179" name="Google Shape;179;p12"/>
          <p:cNvGrpSpPr/>
          <p:nvPr/>
        </p:nvGrpSpPr>
        <p:grpSpPr>
          <a:xfrm>
            <a:off x="6096027" y="4782197"/>
            <a:ext cx="4527241" cy="1705941"/>
            <a:chOff x="906265" y="3790007"/>
            <a:chExt cx="4527241" cy="1705941"/>
          </a:xfrm>
        </p:grpSpPr>
        <p:pic>
          <p:nvPicPr>
            <p:cNvPr id="180" name="Google Shape;180;p12"/>
            <p:cNvPicPr preferRelativeResize="0"/>
            <p:nvPr/>
          </p:nvPicPr>
          <p:blipFill rotWithShape="1">
            <a:blip r:embed="rId3">
              <a:alphaModFix/>
            </a:blip>
            <a:srcRect/>
            <a:stretch/>
          </p:blipFill>
          <p:spPr>
            <a:xfrm flipH="1">
              <a:off x="4158357" y="3880102"/>
              <a:ext cx="766653" cy="1590044"/>
            </a:xfrm>
            <a:prstGeom prst="rect">
              <a:avLst/>
            </a:prstGeom>
            <a:noFill/>
            <a:ln>
              <a:noFill/>
            </a:ln>
          </p:spPr>
        </p:pic>
        <p:pic>
          <p:nvPicPr>
            <p:cNvPr id="181" name="Google Shape;181;p12"/>
            <p:cNvPicPr preferRelativeResize="0"/>
            <p:nvPr/>
          </p:nvPicPr>
          <p:blipFill rotWithShape="1">
            <a:blip r:embed="rId4">
              <a:alphaModFix/>
            </a:blip>
            <a:srcRect/>
            <a:stretch/>
          </p:blipFill>
          <p:spPr>
            <a:xfrm>
              <a:off x="2795938" y="3790007"/>
              <a:ext cx="900652" cy="1705941"/>
            </a:xfrm>
            <a:prstGeom prst="rect">
              <a:avLst/>
            </a:prstGeom>
            <a:noFill/>
            <a:ln>
              <a:noFill/>
            </a:ln>
          </p:spPr>
        </p:pic>
        <p:pic>
          <p:nvPicPr>
            <p:cNvPr id="182" name="Google Shape;182;p12"/>
            <p:cNvPicPr preferRelativeResize="0"/>
            <p:nvPr/>
          </p:nvPicPr>
          <p:blipFill rotWithShape="1">
            <a:blip r:embed="rId5">
              <a:alphaModFix/>
            </a:blip>
            <a:srcRect/>
            <a:stretch/>
          </p:blipFill>
          <p:spPr>
            <a:xfrm>
              <a:off x="906265" y="3793463"/>
              <a:ext cx="1312334" cy="1569134"/>
            </a:xfrm>
            <a:prstGeom prst="rect">
              <a:avLst/>
            </a:prstGeom>
            <a:noFill/>
            <a:ln>
              <a:noFill/>
            </a:ln>
          </p:spPr>
        </p:pic>
        <p:sp>
          <p:nvSpPr>
            <p:cNvPr id="183" name="Google Shape;183;p12"/>
            <p:cNvSpPr txBox="1"/>
            <p:nvPr/>
          </p:nvSpPr>
          <p:spPr>
            <a:xfrm>
              <a:off x="2481993" y="4537381"/>
              <a:ext cx="295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sp>
          <p:nvSpPr>
            <p:cNvPr id="184" name="Google Shape;184;p12"/>
            <p:cNvSpPr txBox="1"/>
            <p:nvPr/>
          </p:nvSpPr>
          <p:spPr>
            <a:xfrm>
              <a:off x="3727714" y="4546068"/>
              <a:ext cx="364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sp>
          <p:nvSpPr>
            <p:cNvPr id="185" name="Google Shape;185;p12"/>
            <p:cNvSpPr txBox="1"/>
            <p:nvPr/>
          </p:nvSpPr>
          <p:spPr>
            <a:xfrm>
              <a:off x="5069306" y="4590412"/>
              <a:ext cx="364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grpSp>
      <p:sp>
        <p:nvSpPr>
          <p:cNvPr id="186" name="Google Shape;186;p12"/>
          <p:cNvSpPr txBox="1"/>
          <p:nvPr/>
        </p:nvSpPr>
        <p:spPr>
          <a:xfrm>
            <a:off x="646725" y="1490600"/>
            <a:ext cx="9445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latin typeface="Montserrat"/>
                <a:ea typeface="Montserrat"/>
                <a:cs typeface="Montserrat"/>
                <a:sym typeface="Montserrat"/>
              </a:rPr>
              <a:t>Ранее вектор шло предложение/документ. Теперь же мы представляем в виде вектора все слово</a:t>
            </a:r>
            <a:endParaRPr sz="1600">
              <a:latin typeface="Montserrat"/>
              <a:ea typeface="Montserrat"/>
              <a:cs typeface="Montserrat"/>
              <a:sym typeface="Montserrat"/>
            </a:endParaRPr>
          </a:p>
        </p:txBody>
      </p:sp>
      <p:pic>
        <p:nvPicPr>
          <p:cNvPr id="187" name="Google Shape;187;p12"/>
          <p:cNvPicPr preferRelativeResize="0"/>
          <p:nvPr/>
        </p:nvPicPr>
        <p:blipFill rotWithShape="1">
          <a:blip r:embed="rId6">
            <a:alphaModFix/>
          </a:blip>
          <a:srcRect/>
          <a:stretch/>
        </p:blipFill>
        <p:spPr>
          <a:xfrm>
            <a:off x="730876" y="2230253"/>
            <a:ext cx="7927724" cy="2602675"/>
          </a:xfrm>
          <a:prstGeom prst="rect">
            <a:avLst/>
          </a:prstGeom>
          <a:noFill/>
          <a:ln>
            <a:noFill/>
          </a:ln>
        </p:spPr>
      </p:pic>
      <p:sp>
        <p:nvSpPr>
          <p:cNvPr id="188" name="Google Shape;188;p12"/>
          <p:cNvSpPr txBox="1"/>
          <p:nvPr/>
        </p:nvSpPr>
        <p:spPr>
          <a:xfrm>
            <a:off x="5720525" y="4212250"/>
            <a:ext cx="6690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latin typeface="Montserrat"/>
                <a:ea typeface="Montserrat"/>
                <a:cs typeface="Montserrat"/>
                <a:sym typeface="Montserrat"/>
              </a:rPr>
              <a:t>Теперь вектор отражает семантическое значение слова</a:t>
            </a:r>
            <a:endParaRPr sz="1600">
              <a:latin typeface="Montserrat"/>
              <a:ea typeface="Montserrat"/>
              <a:cs typeface="Montserrat"/>
              <a:sym typeface="Montserrat"/>
            </a:endParaRPr>
          </a:p>
        </p:txBody>
      </p:sp>
      <p:grpSp>
        <p:nvGrpSpPr>
          <p:cNvPr id="189" name="Google Shape;189;p12"/>
          <p:cNvGrpSpPr/>
          <p:nvPr/>
        </p:nvGrpSpPr>
        <p:grpSpPr>
          <a:xfrm>
            <a:off x="6096027" y="4758789"/>
            <a:ext cx="5640812" cy="1729349"/>
            <a:chOff x="906265" y="3766599"/>
            <a:chExt cx="5640812" cy="1729349"/>
          </a:xfrm>
        </p:grpSpPr>
        <p:pic>
          <p:nvPicPr>
            <p:cNvPr id="190" name="Google Shape;190;p12"/>
            <p:cNvPicPr preferRelativeResize="0"/>
            <p:nvPr/>
          </p:nvPicPr>
          <p:blipFill rotWithShape="1">
            <a:blip r:embed="rId3">
              <a:alphaModFix/>
            </a:blip>
            <a:srcRect/>
            <a:stretch/>
          </p:blipFill>
          <p:spPr>
            <a:xfrm flipH="1">
              <a:off x="4158357" y="3880102"/>
              <a:ext cx="766653" cy="1590044"/>
            </a:xfrm>
            <a:prstGeom prst="rect">
              <a:avLst/>
            </a:prstGeom>
            <a:noFill/>
            <a:ln>
              <a:noFill/>
            </a:ln>
          </p:spPr>
        </p:pic>
        <p:pic>
          <p:nvPicPr>
            <p:cNvPr id="191" name="Google Shape;191;p12"/>
            <p:cNvPicPr preferRelativeResize="0"/>
            <p:nvPr/>
          </p:nvPicPr>
          <p:blipFill rotWithShape="1">
            <a:blip r:embed="rId4">
              <a:alphaModFix/>
            </a:blip>
            <a:srcRect/>
            <a:stretch/>
          </p:blipFill>
          <p:spPr>
            <a:xfrm>
              <a:off x="2795938" y="3790007"/>
              <a:ext cx="900652" cy="1705941"/>
            </a:xfrm>
            <a:prstGeom prst="rect">
              <a:avLst/>
            </a:prstGeom>
            <a:noFill/>
            <a:ln>
              <a:noFill/>
            </a:ln>
          </p:spPr>
        </p:pic>
        <p:pic>
          <p:nvPicPr>
            <p:cNvPr id="192" name="Google Shape;192;p12"/>
            <p:cNvPicPr preferRelativeResize="0"/>
            <p:nvPr/>
          </p:nvPicPr>
          <p:blipFill rotWithShape="1">
            <a:blip r:embed="rId5">
              <a:alphaModFix/>
            </a:blip>
            <a:srcRect/>
            <a:stretch/>
          </p:blipFill>
          <p:spPr>
            <a:xfrm>
              <a:off x="906265" y="3793463"/>
              <a:ext cx="1312334" cy="1569134"/>
            </a:xfrm>
            <a:prstGeom prst="rect">
              <a:avLst/>
            </a:prstGeom>
            <a:noFill/>
            <a:ln>
              <a:noFill/>
            </a:ln>
          </p:spPr>
        </p:pic>
        <p:sp>
          <p:nvSpPr>
            <p:cNvPr id="193" name="Google Shape;193;p12"/>
            <p:cNvSpPr txBox="1"/>
            <p:nvPr/>
          </p:nvSpPr>
          <p:spPr>
            <a:xfrm>
              <a:off x="2481993" y="4537381"/>
              <a:ext cx="295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sp>
          <p:nvSpPr>
            <p:cNvPr id="194" name="Google Shape;194;p12"/>
            <p:cNvSpPr txBox="1"/>
            <p:nvPr/>
          </p:nvSpPr>
          <p:spPr>
            <a:xfrm>
              <a:off x="3727714" y="4546068"/>
              <a:ext cx="364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sp>
          <p:nvSpPr>
            <p:cNvPr id="195" name="Google Shape;195;p12"/>
            <p:cNvSpPr txBox="1"/>
            <p:nvPr/>
          </p:nvSpPr>
          <p:spPr>
            <a:xfrm>
              <a:off x="5069306" y="4590412"/>
              <a:ext cx="364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F2C68"/>
                </a:buClr>
                <a:buSzPts val="2800"/>
                <a:buFont typeface="Calibri"/>
                <a:buNone/>
              </a:pPr>
              <a:r>
                <a:rPr lang="en-US" sz="2800" b="1">
                  <a:solidFill>
                    <a:srgbClr val="0F2C68"/>
                  </a:solidFill>
                  <a:latin typeface="Calibri"/>
                  <a:ea typeface="Calibri"/>
                  <a:cs typeface="Calibri"/>
                  <a:sym typeface="Calibri"/>
                </a:rPr>
                <a:t>=</a:t>
              </a:r>
              <a:endParaRPr sz="2800" b="1">
                <a:solidFill>
                  <a:srgbClr val="0F2C68"/>
                </a:solidFill>
                <a:latin typeface="Calibri"/>
                <a:ea typeface="Calibri"/>
                <a:cs typeface="Calibri"/>
                <a:sym typeface="Calibri"/>
              </a:endParaRPr>
            </a:p>
          </p:txBody>
        </p:sp>
        <p:pic>
          <p:nvPicPr>
            <p:cNvPr id="196" name="Google Shape;196;p12"/>
            <p:cNvPicPr preferRelativeResize="0"/>
            <p:nvPr/>
          </p:nvPicPr>
          <p:blipFill rotWithShape="1">
            <a:blip r:embed="rId7">
              <a:alphaModFix/>
            </a:blip>
            <a:srcRect/>
            <a:stretch/>
          </p:blipFill>
          <p:spPr>
            <a:xfrm>
              <a:off x="5407762" y="3766599"/>
              <a:ext cx="1139315" cy="1703547"/>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p:nvPr/>
        </p:nvSpPr>
        <p:spPr>
          <a:xfrm>
            <a:off x="548640" y="292608"/>
            <a:ext cx="9144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A93B"/>
              </a:buClr>
              <a:buSzPts val="1400"/>
              <a:buFont typeface="Calibri"/>
              <a:buNone/>
            </a:pPr>
            <a:r>
              <a:rPr lang="en-US" b="1">
                <a:solidFill>
                  <a:srgbClr val="F2A93B"/>
                </a:solidFill>
                <a:latin typeface="Calibri"/>
                <a:ea typeface="Calibri"/>
                <a:cs typeface="Calibri"/>
                <a:sym typeface="Calibri"/>
              </a:rPr>
              <a:t>Как бороться</a:t>
            </a:r>
            <a:endParaRPr sz="1400" b="0" i="0" u="none" strike="noStrike" cap="none">
              <a:solidFill>
                <a:schemeClr val="dk1"/>
              </a:solidFill>
              <a:latin typeface="Calibri"/>
              <a:ea typeface="Calibri"/>
              <a:cs typeface="Calibri"/>
              <a:sym typeface="Calibri"/>
            </a:endParaRPr>
          </a:p>
        </p:txBody>
      </p:sp>
      <p:sp>
        <p:nvSpPr>
          <p:cNvPr id="203" name="Google Shape;203;p13"/>
          <p:cNvSpPr txBox="1"/>
          <p:nvPr/>
        </p:nvSpPr>
        <p:spPr>
          <a:xfrm>
            <a:off x="548640" y="621792"/>
            <a:ext cx="11094300" cy="86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Word2Vec</a:t>
            </a:r>
            <a:endParaRPr sz="3200" b="1">
              <a:solidFill>
                <a:srgbClr val="1E2761"/>
              </a:solidFill>
              <a:latin typeface="Cambria"/>
              <a:ea typeface="Cambria"/>
              <a:cs typeface="Cambria"/>
              <a:sym typeface="Cambria"/>
            </a:endParaRPr>
          </a:p>
        </p:txBody>
      </p:sp>
      <p:sp>
        <p:nvSpPr>
          <p:cNvPr id="204" name="Google Shape;204;p13"/>
          <p:cNvSpPr txBox="1"/>
          <p:nvPr/>
        </p:nvSpPr>
        <p:spPr>
          <a:xfrm>
            <a:off x="646725" y="1490600"/>
            <a:ext cx="9445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Montserrat"/>
                <a:ea typeface="Montserrat"/>
                <a:cs typeface="Montserrat"/>
                <a:sym typeface="Montserrat"/>
              </a:rPr>
              <a:t>Токен</a:t>
            </a:r>
            <a:r>
              <a:rPr lang="en-US" sz="1600">
                <a:latin typeface="Montserrat"/>
                <a:ea typeface="Montserrat"/>
                <a:cs typeface="Montserrat"/>
                <a:sym typeface="Montserrat"/>
              </a:rPr>
              <a:t> - само слово</a:t>
            </a:r>
            <a:endParaRPr sz="1600">
              <a:latin typeface="Montserrat"/>
              <a:ea typeface="Montserrat"/>
              <a:cs typeface="Montserrat"/>
              <a:sym typeface="Montserrat"/>
            </a:endParaRPr>
          </a:p>
          <a:p>
            <a:pPr marL="0" lvl="0" indent="0" algn="l" rtl="0">
              <a:spcBef>
                <a:spcPts val="0"/>
              </a:spcBef>
              <a:spcAft>
                <a:spcPts val="0"/>
              </a:spcAft>
              <a:buNone/>
            </a:pPr>
            <a:endParaRPr sz="1600">
              <a:latin typeface="Montserrat"/>
              <a:ea typeface="Montserrat"/>
              <a:cs typeface="Montserrat"/>
              <a:sym typeface="Montserrat"/>
            </a:endParaRPr>
          </a:p>
          <a:p>
            <a:pPr marL="0" lvl="0" indent="0" algn="l" rtl="0">
              <a:spcBef>
                <a:spcPts val="0"/>
              </a:spcBef>
              <a:spcAft>
                <a:spcPts val="0"/>
              </a:spcAft>
              <a:buNone/>
            </a:pPr>
            <a:r>
              <a:rPr lang="en-US" sz="1600" b="1">
                <a:latin typeface="Montserrat"/>
                <a:ea typeface="Montserrat"/>
                <a:cs typeface="Montserrat"/>
                <a:sym typeface="Montserrat"/>
              </a:rPr>
              <a:t>Эмбеддинг</a:t>
            </a:r>
            <a:r>
              <a:rPr lang="en-US" sz="1600">
                <a:latin typeface="Montserrat"/>
                <a:ea typeface="Montserrat"/>
                <a:cs typeface="Montserrat"/>
                <a:sym typeface="Montserrat"/>
              </a:rPr>
              <a:t> - векторное представление слова (токена)</a:t>
            </a:r>
            <a:endParaRPr sz="1600">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9"/>
        <p:cNvGrpSpPr/>
        <p:nvPr/>
      </p:nvGrpSpPr>
      <p:grpSpPr>
        <a:xfrm>
          <a:off x="0" y="0"/>
          <a:ext cx="0" cy="0"/>
          <a:chOff x="0" y="0"/>
          <a:chExt cx="0" cy="0"/>
        </a:xfrm>
      </p:grpSpPr>
      <p:sp>
        <p:nvSpPr>
          <p:cNvPr id="210" name="Google Shape;210;p14"/>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211" name="Google Shape;211;p14"/>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Конвейер токенизации</a:t>
            </a:r>
            <a:endParaRPr sz="3200"/>
          </a:p>
        </p:txBody>
      </p:sp>
      <p:graphicFrame>
        <p:nvGraphicFramePr>
          <p:cNvPr id="212" name="Google Shape;212;p14"/>
          <p:cNvGraphicFramePr/>
          <p:nvPr>
            <p:extLst>
              <p:ext uri="{D42A27DB-BD31-4B8C-83A1-F6EECF244321}">
                <p14:modId xmlns:p14="http://schemas.microsoft.com/office/powerpoint/2010/main" val="1687813011"/>
              </p:ext>
            </p:extLst>
          </p:nvPr>
        </p:nvGraphicFramePr>
        <p:xfrm>
          <a:off x="825478" y="1912541"/>
          <a:ext cx="10553400" cy="3221676"/>
        </p:xfrm>
        <a:graphic>
          <a:graphicData uri="http://schemas.openxmlformats.org/drawingml/2006/table">
            <a:tbl>
              <a:tblPr>
                <a:noFill/>
                <a:tableStyleId>{06309EA5-3D61-4596-AA48-24314E58F0C3}</a:tableStyleId>
              </a:tblPr>
              <a:tblGrid>
                <a:gridCol w="2532825">
                  <a:extLst>
                    <a:ext uri="{9D8B030D-6E8A-4147-A177-3AD203B41FA5}">
                      <a16:colId xmlns:a16="http://schemas.microsoft.com/office/drawing/2014/main" val="20000"/>
                    </a:ext>
                  </a:extLst>
                </a:gridCol>
                <a:gridCol w="3765308">
                  <a:extLst>
                    <a:ext uri="{9D8B030D-6E8A-4147-A177-3AD203B41FA5}">
                      <a16:colId xmlns:a16="http://schemas.microsoft.com/office/drawing/2014/main" val="20001"/>
                    </a:ext>
                  </a:extLst>
                </a:gridCol>
                <a:gridCol w="4255267">
                  <a:extLst>
                    <a:ext uri="{9D8B030D-6E8A-4147-A177-3AD203B41FA5}">
                      <a16:colId xmlns:a16="http://schemas.microsoft.com/office/drawing/2014/main" val="20002"/>
                    </a:ext>
                  </a:extLst>
                </a:gridCol>
              </a:tblGrid>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Этап</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Что делает</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dirty="0" err="1">
                          <a:solidFill>
                            <a:srgbClr val="1B2430"/>
                          </a:solidFill>
                          <a:latin typeface="Golos Text"/>
                          <a:ea typeface="Golos Text"/>
                          <a:cs typeface="Golos Text"/>
                          <a:sym typeface="Golos Text"/>
                        </a:rPr>
                        <a:t>Пример</a:t>
                      </a:r>
                      <a:endParaRPr sz="1400" u="none" strike="noStrike" cap="none" dirty="0">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extLst>
                  <a:ext uri="{0D108BD9-81ED-4DB2-BD59-A6C34878D82A}">
                    <a16:rowId xmlns:a16="http://schemas.microsoft.com/office/drawing/2014/main" val="10000"/>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Нормализация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Unicode NFKC, регистр, лишние пробелы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dirty="0">
                          <a:solidFill>
                            <a:srgbClr val="1B2430"/>
                          </a:solidFill>
                          <a:latin typeface="Golos Text"/>
                          <a:ea typeface="Golos Text"/>
                          <a:cs typeface="Golos Text"/>
                          <a:sym typeface="Golos Text"/>
                        </a:rPr>
                        <a:t>«</a:t>
                      </a:r>
                      <a:r>
                        <a:rPr lang="en-US" sz="1400" u="none" strike="noStrike" cap="none" dirty="0" err="1">
                          <a:solidFill>
                            <a:srgbClr val="1B2430"/>
                          </a:solidFill>
                          <a:latin typeface="Golos Text"/>
                          <a:ea typeface="Golos Text"/>
                          <a:cs typeface="Golos Text"/>
                          <a:sym typeface="Golos Text"/>
                        </a:rPr>
                        <a:t>Эмбеддинги</a:t>
                      </a:r>
                      <a:r>
                        <a:rPr lang="en-US" sz="1400" u="none" strike="noStrike" cap="none" dirty="0">
                          <a:solidFill>
                            <a:srgbClr val="1B2430"/>
                          </a:solidFill>
                          <a:latin typeface="Golos Text"/>
                          <a:ea typeface="Golos Text"/>
                          <a:cs typeface="Golos Text"/>
                          <a:sym typeface="Golos Text"/>
                        </a:rPr>
                        <a:t>, ПРИВЕТ!» → «</a:t>
                      </a:r>
                      <a:r>
                        <a:rPr lang="en-US" sz="1400" u="none" strike="noStrike" cap="none" dirty="0" err="1">
                          <a:solidFill>
                            <a:srgbClr val="1B2430"/>
                          </a:solidFill>
                          <a:latin typeface="Golos Text"/>
                          <a:ea typeface="Golos Text"/>
                          <a:cs typeface="Golos Text"/>
                          <a:sym typeface="Golos Text"/>
                        </a:rPr>
                        <a:t>эмбеддинги</a:t>
                      </a:r>
                      <a:r>
                        <a:rPr lang="en-US" sz="1400" u="none" strike="noStrike" cap="none" dirty="0">
                          <a:solidFill>
                            <a:srgbClr val="1B2430"/>
                          </a:solidFill>
                          <a:latin typeface="Golos Text"/>
                          <a:ea typeface="Golos Text"/>
                          <a:cs typeface="Golos Text"/>
                          <a:sym typeface="Golos Text"/>
                        </a:rPr>
                        <a:t>, </a:t>
                      </a:r>
                      <a:r>
                        <a:rPr lang="en-US" sz="1400" u="none" strike="noStrike" cap="none" dirty="0" err="1">
                          <a:solidFill>
                            <a:srgbClr val="1B2430"/>
                          </a:solidFill>
                          <a:latin typeface="Golos Text"/>
                          <a:ea typeface="Golos Text"/>
                          <a:cs typeface="Golos Text"/>
                          <a:sym typeface="Golos Text"/>
                        </a:rPr>
                        <a:t>привет</a:t>
                      </a:r>
                      <a:r>
                        <a:rPr lang="en-US" sz="1400" u="none" strike="noStrike" cap="none" dirty="0">
                          <a:solidFill>
                            <a:srgbClr val="1B2430"/>
                          </a:solidFill>
                          <a:latin typeface="Golos Text"/>
                          <a:ea typeface="Golos Text"/>
                          <a:cs typeface="Golos Text"/>
                          <a:sym typeface="Golos Text"/>
                        </a:rPr>
                        <a:t>!»</a:t>
                      </a:r>
                      <a:endParaRPr sz="1400" u="none" strike="noStrike" cap="none" dirty="0">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1"/>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Претокенизация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Режет по пробелам и пунктуации</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эмбеддинги · , · привет · !</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2"/>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dirty="0" err="1">
                          <a:solidFill>
                            <a:srgbClr val="1B2430"/>
                          </a:solidFill>
                          <a:latin typeface="Golos Text"/>
                          <a:ea typeface="Golos Text"/>
                          <a:cs typeface="Golos Text"/>
                          <a:sym typeface="Golos Text"/>
                        </a:rPr>
                        <a:t>Модель</a:t>
                      </a:r>
                      <a:r>
                        <a:rPr lang="en-US" sz="1400" u="none" strike="noStrike" cap="none" dirty="0">
                          <a:solidFill>
                            <a:srgbClr val="1B2430"/>
                          </a:solidFill>
                          <a:latin typeface="Golos Text"/>
                          <a:ea typeface="Golos Text"/>
                          <a:cs typeface="Golos Text"/>
                          <a:sym typeface="Golos Text"/>
                        </a:rPr>
                        <a:t> </a:t>
                      </a:r>
                      <a:r>
                        <a:rPr lang="en-US" sz="1400" u="none" strike="noStrike" cap="none" dirty="0" err="1">
                          <a:solidFill>
                            <a:srgbClr val="1B2430"/>
                          </a:solidFill>
                          <a:latin typeface="Golos Text"/>
                          <a:ea typeface="Golos Text"/>
                          <a:cs typeface="Golos Text"/>
                          <a:sym typeface="Golos Text"/>
                        </a:rPr>
                        <a:t>токенизации</a:t>
                      </a:r>
                      <a:endParaRPr sz="1400" u="none" strike="noStrike" cap="none" dirty="0">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Делит на подслова по выученному словарю</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dirty="0" err="1">
                          <a:solidFill>
                            <a:srgbClr val="1B2430"/>
                          </a:solidFill>
                          <a:latin typeface="Golos Text"/>
                          <a:ea typeface="Golos Text"/>
                          <a:cs typeface="Golos Text"/>
                          <a:sym typeface="Golos Text"/>
                        </a:rPr>
                        <a:t>эмб</a:t>
                      </a:r>
                      <a:r>
                        <a:rPr lang="en-US" sz="1400" u="none" strike="noStrike" cap="none" dirty="0">
                          <a:solidFill>
                            <a:srgbClr val="1B2430"/>
                          </a:solidFill>
                          <a:latin typeface="Golos Text"/>
                          <a:ea typeface="Golos Text"/>
                          <a:cs typeface="Golos Text"/>
                          <a:sym typeface="Golos Text"/>
                        </a:rPr>
                        <a:t> · </a:t>
                      </a:r>
                      <a:r>
                        <a:rPr lang="en-US" sz="1400" u="none" strike="noStrike" cap="none" dirty="0" err="1">
                          <a:solidFill>
                            <a:srgbClr val="1B2430"/>
                          </a:solidFill>
                          <a:latin typeface="Golos Text"/>
                          <a:ea typeface="Golos Text"/>
                          <a:cs typeface="Golos Text"/>
                          <a:sym typeface="Golos Text"/>
                        </a:rPr>
                        <a:t>ед</a:t>
                      </a:r>
                      <a:r>
                        <a:rPr lang="en-US" sz="1400" u="none" strike="noStrike" cap="none" dirty="0">
                          <a:solidFill>
                            <a:srgbClr val="1B2430"/>
                          </a:solidFill>
                          <a:latin typeface="Golos Text"/>
                          <a:ea typeface="Golos Text"/>
                          <a:cs typeface="Golos Text"/>
                          <a:sym typeface="Golos Text"/>
                        </a:rPr>
                        <a:t> · </a:t>
                      </a:r>
                      <a:r>
                        <a:rPr lang="en-US" sz="1400" u="none" strike="noStrike" cap="none" dirty="0" err="1">
                          <a:solidFill>
                            <a:srgbClr val="1B2430"/>
                          </a:solidFill>
                          <a:latin typeface="Golos Text"/>
                          <a:ea typeface="Golos Text"/>
                          <a:cs typeface="Golos Text"/>
                          <a:sym typeface="Golos Text"/>
                        </a:rPr>
                        <a:t>динги</a:t>
                      </a:r>
                      <a:r>
                        <a:rPr lang="en-US" sz="1400" u="none" strike="noStrike" cap="none" dirty="0">
                          <a:solidFill>
                            <a:srgbClr val="1B2430"/>
                          </a:solidFill>
                          <a:latin typeface="Golos Text"/>
                          <a:ea typeface="Golos Text"/>
                          <a:cs typeface="Golos Text"/>
                          <a:sym typeface="Golos Text"/>
                        </a:rPr>
                        <a:t> · , · </a:t>
                      </a:r>
                      <a:r>
                        <a:rPr lang="en-US" sz="1400" u="none" strike="noStrike" cap="none" dirty="0" err="1">
                          <a:solidFill>
                            <a:srgbClr val="1B2430"/>
                          </a:solidFill>
                          <a:latin typeface="Golos Text"/>
                          <a:ea typeface="Golos Text"/>
                          <a:cs typeface="Golos Text"/>
                          <a:sym typeface="Golos Text"/>
                        </a:rPr>
                        <a:t>привет</a:t>
                      </a:r>
                      <a:r>
                        <a:rPr lang="en-US" sz="1400" u="none" strike="noStrike" cap="none" dirty="0">
                          <a:solidFill>
                            <a:srgbClr val="1B2430"/>
                          </a:solidFill>
                          <a:latin typeface="Golos Text"/>
                          <a:ea typeface="Golos Text"/>
                          <a:cs typeface="Golos Text"/>
                          <a:sym typeface="Golos Text"/>
                        </a:rPr>
                        <a:t> · !</a:t>
                      </a:r>
                      <a:endParaRPr sz="1400" u="none" strike="noStrike" cap="none" dirty="0">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3"/>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Постобработка</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Добавляет служебные токены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&lt;bos&gt; эмб · ед · динги · , · привет · ! &lt;eos&gt;</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4"/>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Индексы → векторы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dirty="0" err="1">
                          <a:solidFill>
                            <a:srgbClr val="1B2430"/>
                          </a:solidFill>
                          <a:latin typeface="Golos Text"/>
                          <a:ea typeface="Golos Text"/>
                          <a:cs typeface="Golos Text"/>
                          <a:sym typeface="Golos Text"/>
                        </a:rPr>
                        <a:t>Номер</a:t>
                      </a:r>
                      <a:r>
                        <a:rPr lang="en-US" sz="1400" u="none" strike="noStrike" cap="none" dirty="0">
                          <a:solidFill>
                            <a:srgbClr val="1B2430"/>
                          </a:solidFill>
                          <a:latin typeface="Golos Text"/>
                          <a:ea typeface="Golos Text"/>
                          <a:cs typeface="Golos Text"/>
                          <a:sym typeface="Golos Text"/>
                        </a:rPr>
                        <a:t> </a:t>
                      </a:r>
                      <a:r>
                        <a:rPr lang="en-US" sz="1400" u="none" strike="noStrike" cap="none" dirty="0" err="1">
                          <a:solidFill>
                            <a:srgbClr val="1B2430"/>
                          </a:solidFill>
                          <a:latin typeface="Golos Text"/>
                          <a:ea typeface="Golos Text"/>
                          <a:cs typeface="Golos Text"/>
                          <a:sym typeface="Golos Text"/>
                        </a:rPr>
                        <a:t>токена</a:t>
                      </a:r>
                      <a:r>
                        <a:rPr lang="en-US" sz="1400" u="none" strike="noStrike" cap="none" dirty="0">
                          <a:solidFill>
                            <a:srgbClr val="1B2430"/>
                          </a:solidFill>
                          <a:latin typeface="Golos Text"/>
                          <a:ea typeface="Golos Text"/>
                          <a:cs typeface="Golos Text"/>
                          <a:sym typeface="Golos Text"/>
                        </a:rPr>
                        <a:t> → </a:t>
                      </a:r>
                      <a:r>
                        <a:rPr lang="en-US" sz="1400" u="none" strike="noStrike" cap="none" dirty="0" err="1">
                          <a:solidFill>
                            <a:srgbClr val="1B2430"/>
                          </a:solidFill>
                          <a:latin typeface="Golos Text"/>
                          <a:ea typeface="Golos Text"/>
                          <a:cs typeface="Golos Text"/>
                          <a:sym typeface="Golos Text"/>
                        </a:rPr>
                        <a:t>строка</a:t>
                      </a:r>
                      <a:r>
                        <a:rPr lang="en-US" sz="1400" u="none" strike="noStrike" cap="none" dirty="0">
                          <a:solidFill>
                            <a:srgbClr val="1B2430"/>
                          </a:solidFill>
                          <a:latin typeface="Golos Text"/>
                          <a:ea typeface="Golos Text"/>
                          <a:cs typeface="Golos Text"/>
                          <a:sym typeface="Golos Text"/>
                        </a:rPr>
                        <a:t> </a:t>
                      </a:r>
                      <a:r>
                        <a:rPr lang="en-US" sz="1400" u="none" strike="noStrike" cap="none" dirty="0" err="1">
                          <a:solidFill>
                            <a:srgbClr val="1B2430"/>
                          </a:solidFill>
                          <a:latin typeface="Golos Text"/>
                          <a:ea typeface="Golos Text"/>
                          <a:cs typeface="Golos Text"/>
                          <a:sym typeface="Golos Text"/>
                        </a:rPr>
                        <a:t>матрицы</a:t>
                      </a:r>
                      <a:r>
                        <a:rPr lang="en-US" sz="1400" u="none" strike="noStrike" cap="none" dirty="0">
                          <a:solidFill>
                            <a:srgbClr val="1B2430"/>
                          </a:solidFill>
                          <a:latin typeface="Golos Text"/>
                          <a:ea typeface="Golos Text"/>
                          <a:cs typeface="Golos Text"/>
                          <a:sym typeface="Golos Text"/>
                        </a:rPr>
                        <a:t> E (V × d)</a:t>
                      </a:r>
                      <a:endParaRPr sz="1400" u="none" strike="noStrike" cap="none" dirty="0">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dirty="0">
                          <a:solidFill>
                            <a:srgbClr val="1B2430"/>
                          </a:solidFill>
                          <a:latin typeface="Golos Text"/>
                          <a:ea typeface="Golos Text"/>
                          <a:cs typeface="Golos Text"/>
                          <a:sym typeface="Golos Text"/>
                        </a:rPr>
                        <a:t>[1, 7012, 388, 9145, 11, 2290, 0, 2] → 8 </a:t>
                      </a:r>
                      <a:r>
                        <a:rPr lang="en-US" sz="1400" u="none" strike="noStrike" cap="none" dirty="0" err="1">
                          <a:solidFill>
                            <a:srgbClr val="1B2430"/>
                          </a:solidFill>
                          <a:latin typeface="Golos Text"/>
                          <a:ea typeface="Golos Text"/>
                          <a:cs typeface="Golos Text"/>
                          <a:sym typeface="Golos Text"/>
                        </a:rPr>
                        <a:t>векторов</a:t>
                      </a:r>
                      <a:endParaRPr sz="1400" u="none" strike="noStrike" cap="none" dirty="0">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13" name="Google Shape;213;p14"/>
          <p:cNvSpPr/>
          <p:nvPr/>
        </p:nvSpPr>
        <p:spPr>
          <a:xfrm>
            <a:off x="812778" y="5279628"/>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Разбиение и номера условные: у каждого токенизатора свой словарь</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15"/>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220" name="Google Shape;220;p15"/>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Почему не разбить текст по пробелам</a:t>
            </a:r>
            <a:endParaRPr sz="3200"/>
          </a:p>
        </p:txBody>
      </p:sp>
      <p:sp>
        <p:nvSpPr>
          <p:cNvPr id="221" name="Google Shape;221;p15"/>
          <p:cNvSpPr/>
          <p:nvPr/>
        </p:nvSpPr>
        <p:spPr>
          <a:xfrm>
            <a:off x="815953" y="1953816"/>
            <a:ext cx="3380400" cy="2762400"/>
          </a:xfrm>
          <a:prstGeom prst="roundRect">
            <a:avLst>
              <a:gd name="adj" fmla="val 3563"/>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5"/>
          <p:cNvSpPr/>
          <p:nvPr/>
        </p:nvSpPr>
        <p:spPr>
          <a:xfrm>
            <a:off x="1073121" y="2693591"/>
            <a:ext cx="2952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Незнакомые слова</a:t>
            </a:r>
            <a:endParaRPr sz="2000" b="0" i="0" u="none" strike="noStrike" cap="none">
              <a:solidFill>
                <a:schemeClr val="dk1"/>
              </a:solidFill>
              <a:latin typeface="Golos Text"/>
              <a:ea typeface="Golos Text"/>
              <a:cs typeface="Golos Text"/>
              <a:sym typeface="Golos Text"/>
            </a:endParaRPr>
          </a:p>
        </p:txBody>
      </p:sp>
      <p:sp>
        <p:nvSpPr>
          <p:cNvPr id="223" name="Google Shape;223;p15"/>
          <p:cNvSpPr/>
          <p:nvPr/>
        </p:nvSpPr>
        <p:spPr>
          <a:xfrm>
            <a:off x="1073121" y="3125391"/>
            <a:ext cx="2952000" cy="1359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dirty="0" err="1">
                <a:solidFill>
                  <a:srgbClr val="4A5361"/>
                </a:solidFill>
                <a:latin typeface="Golos Text"/>
                <a:ea typeface="Golos Text"/>
                <a:cs typeface="Golos Text"/>
                <a:sym typeface="Golos Text"/>
              </a:rPr>
              <a:t>Словарь</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фиксируется</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при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обучении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Новое</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слово</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имя</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или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опечатка</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становится</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одним</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общим</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токеном</a:t>
            </a:r>
            <a:r>
              <a:rPr lang="en-US" sz="1500" b="0" i="0" u="none" strike="noStrike" cap="none" dirty="0">
                <a:solidFill>
                  <a:srgbClr val="4A5361"/>
                </a:solidFill>
                <a:latin typeface="Golos Text"/>
                <a:ea typeface="Golos Text"/>
                <a:cs typeface="Golos Text"/>
                <a:sym typeface="Golos Text"/>
              </a:rPr>
              <a:t> &lt;UNK&gt;, и </a:t>
            </a:r>
            <a:r>
              <a:rPr lang="en-US" sz="1500" b="0" i="0" u="none" strike="noStrike" cap="none" dirty="0" err="1">
                <a:solidFill>
                  <a:srgbClr val="4A5361"/>
                </a:solidFill>
                <a:latin typeface="Golos Text"/>
                <a:ea typeface="Golos Text"/>
                <a:cs typeface="Golos Text"/>
                <a:sym typeface="Golos Text"/>
              </a:rPr>
              <a:t>смысл</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теряется</a:t>
            </a:r>
            <a:r>
              <a:rPr lang="en-US" sz="1500" b="0" i="0" u="none" strike="noStrike" cap="none" dirty="0">
                <a:solidFill>
                  <a:srgbClr val="4A5361"/>
                </a:solidFill>
                <a:latin typeface="Golos Text"/>
                <a:ea typeface="Golos Text"/>
                <a:cs typeface="Golos Text"/>
                <a:sym typeface="Golos Text"/>
              </a:rPr>
              <a:t>.</a:t>
            </a:r>
            <a:endParaRPr sz="1500" b="0" i="0" u="none" strike="noStrike" cap="none" dirty="0">
              <a:solidFill>
                <a:schemeClr val="dk1"/>
              </a:solidFill>
              <a:latin typeface="Golos Text"/>
              <a:ea typeface="Golos Text"/>
              <a:cs typeface="Golos Text"/>
              <a:sym typeface="Golos Text"/>
            </a:endParaRPr>
          </a:p>
        </p:txBody>
      </p:sp>
      <p:sp>
        <p:nvSpPr>
          <p:cNvPr id="224" name="Google Shape;224;p15"/>
          <p:cNvSpPr/>
          <p:nvPr/>
        </p:nvSpPr>
        <p:spPr>
          <a:xfrm>
            <a:off x="4405692" y="1953816"/>
            <a:ext cx="3380400" cy="2762400"/>
          </a:xfrm>
          <a:prstGeom prst="roundRect">
            <a:avLst>
              <a:gd name="adj" fmla="val 3563"/>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5"/>
          <p:cNvSpPr/>
          <p:nvPr/>
        </p:nvSpPr>
        <p:spPr>
          <a:xfrm>
            <a:off x="4662860" y="2693591"/>
            <a:ext cx="2952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Длинный хвост</a:t>
            </a:r>
            <a:endParaRPr sz="2000" b="0" i="0" u="none" strike="noStrike" cap="none">
              <a:solidFill>
                <a:schemeClr val="dk1"/>
              </a:solidFill>
              <a:latin typeface="Golos Text"/>
              <a:ea typeface="Golos Text"/>
              <a:cs typeface="Golos Text"/>
              <a:sym typeface="Golos Text"/>
            </a:endParaRPr>
          </a:p>
        </p:txBody>
      </p:sp>
      <p:sp>
        <p:nvSpPr>
          <p:cNvPr id="226" name="Google Shape;226;p15"/>
          <p:cNvSpPr/>
          <p:nvPr/>
        </p:nvSpPr>
        <p:spPr>
          <a:xfrm>
            <a:off x="4662860" y="3125391"/>
            <a:ext cx="2952000" cy="1092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Закон Ципфа: частота слова ∝ 1 / ранг. Около половины разных слов корпуса встречается всего один раз.</a:t>
            </a:r>
            <a:endParaRPr sz="1500" b="0" i="0" u="none" strike="noStrike" cap="none">
              <a:solidFill>
                <a:schemeClr val="dk1"/>
              </a:solidFill>
              <a:latin typeface="Golos Text"/>
              <a:ea typeface="Golos Text"/>
              <a:cs typeface="Golos Text"/>
              <a:sym typeface="Golos Text"/>
            </a:endParaRPr>
          </a:p>
        </p:txBody>
      </p:sp>
      <p:sp>
        <p:nvSpPr>
          <p:cNvPr id="227" name="Google Shape;227;p15"/>
          <p:cNvSpPr/>
          <p:nvPr/>
        </p:nvSpPr>
        <p:spPr>
          <a:xfrm>
            <a:off x="7995528" y="1953816"/>
            <a:ext cx="3380400" cy="2762400"/>
          </a:xfrm>
          <a:prstGeom prst="roundRect">
            <a:avLst>
              <a:gd name="adj" fmla="val 3563"/>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a:off x="8252696" y="2693591"/>
            <a:ext cx="2952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Морфология</a:t>
            </a:r>
            <a:endParaRPr sz="2000" b="0" i="0" u="none" strike="noStrike" cap="none">
              <a:solidFill>
                <a:schemeClr val="dk1"/>
              </a:solidFill>
              <a:latin typeface="Golos Text"/>
              <a:ea typeface="Golos Text"/>
              <a:cs typeface="Golos Text"/>
              <a:sym typeface="Golos Text"/>
            </a:endParaRPr>
          </a:p>
        </p:txBody>
      </p:sp>
      <p:sp>
        <p:nvSpPr>
          <p:cNvPr id="229" name="Google Shape;229;p15"/>
          <p:cNvSpPr/>
          <p:nvPr/>
        </p:nvSpPr>
        <p:spPr>
          <a:xfrm>
            <a:off x="8252696" y="3125391"/>
            <a:ext cx="2952000" cy="1092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dirty="0" err="1">
                <a:solidFill>
                  <a:srgbClr val="4A5361"/>
                </a:solidFill>
                <a:latin typeface="Golos Text"/>
                <a:ea typeface="Golos Text"/>
                <a:cs typeface="Golos Text"/>
                <a:sym typeface="Golos Text"/>
              </a:rPr>
              <a:t>стол</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стола</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столу</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столом</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столе</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столы</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столов</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столам</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столами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столах</a:t>
            </a:r>
            <a:r>
              <a:rPr lang="en-US" sz="1500" b="0" i="0" u="none" strike="noStrike" cap="none" dirty="0">
                <a:solidFill>
                  <a:srgbClr val="4A5361"/>
                </a:solidFill>
                <a:latin typeface="Golos Text"/>
                <a:ea typeface="Golos Text"/>
                <a:cs typeface="Golos Text"/>
                <a:sym typeface="Golos Text"/>
              </a:rPr>
              <a:t> — 10 </a:t>
            </a:r>
            <a:r>
              <a:rPr lang="en-US" sz="1500" b="0" i="0" u="none" strike="noStrike" cap="none" dirty="0" err="1">
                <a:solidFill>
                  <a:srgbClr val="4A5361"/>
                </a:solidFill>
                <a:latin typeface="Golos Text"/>
                <a:ea typeface="Golos Text"/>
                <a:cs typeface="Golos Text"/>
                <a:sym typeface="Golos Text"/>
              </a:rPr>
              <a:t>разных</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токенов</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для</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одного</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слова</a:t>
            </a:r>
            <a:r>
              <a:rPr lang="en-US" sz="1500" b="0" i="0" u="none" strike="noStrike" cap="none" dirty="0">
                <a:solidFill>
                  <a:srgbClr val="4A5361"/>
                </a:solidFill>
                <a:latin typeface="Golos Text"/>
                <a:ea typeface="Golos Text"/>
                <a:cs typeface="Golos Text"/>
                <a:sym typeface="Golos Text"/>
              </a:rPr>
              <a:t>.</a:t>
            </a:r>
            <a:endParaRPr sz="1500" b="0" i="0" u="none" strike="noStrike" cap="none" dirty="0">
              <a:solidFill>
                <a:schemeClr val="dk1"/>
              </a:solidFill>
              <a:latin typeface="Golos Text"/>
              <a:ea typeface="Golos Text"/>
              <a:cs typeface="Golos Text"/>
              <a:sym typeface="Golos Text"/>
            </a:endParaRPr>
          </a:p>
        </p:txBody>
      </p:sp>
      <p:sp>
        <p:nvSpPr>
          <p:cNvPr id="230" name="Google Shape;230;p15"/>
          <p:cNvSpPr/>
          <p:nvPr/>
        </p:nvSpPr>
        <p:spPr>
          <a:xfrm>
            <a:off x="812778" y="5074841"/>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1" i="0" u="none" strike="noStrike" cap="none">
                <a:solidFill>
                  <a:srgbClr val="1B2430"/>
                </a:solidFill>
                <a:latin typeface="Golos Text"/>
                <a:ea typeface="Golos Text"/>
                <a:cs typeface="Golos Text"/>
                <a:sym typeface="Golos Text"/>
              </a:rPr>
              <a:t>Итог:</a:t>
            </a:r>
            <a:r>
              <a:rPr lang="en-US" sz="1500" b="0" i="0" u="none" strike="noStrike" cap="none">
                <a:solidFill>
                  <a:srgbClr val="1B2430"/>
                </a:solidFill>
                <a:latin typeface="Golos Text"/>
                <a:ea typeface="Golos Text"/>
                <a:cs typeface="Golos Text"/>
                <a:sym typeface="Golos Text"/>
              </a:rPr>
              <a:t> словарь из слов огромен, разрежен и всё равно неполон.</a:t>
            </a:r>
            <a:endParaRPr sz="15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5"/>
        <p:cNvGrpSpPr/>
        <p:nvPr/>
      </p:nvGrpSpPr>
      <p:grpSpPr>
        <a:xfrm>
          <a:off x="0" y="0"/>
          <a:ext cx="0" cy="0"/>
          <a:chOff x="0" y="0"/>
          <a:chExt cx="0" cy="0"/>
        </a:xfrm>
      </p:grpSpPr>
      <p:sp>
        <p:nvSpPr>
          <p:cNvPr id="236" name="Google Shape;236;p16"/>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237" name="Google Shape;237;p16"/>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Лемматизация помогает, но стирает смысл</a:t>
            </a:r>
            <a:endParaRPr sz="3200"/>
          </a:p>
        </p:txBody>
      </p:sp>
      <p:sp>
        <p:nvSpPr>
          <p:cNvPr id="238" name="Google Shape;238;p16"/>
          <p:cNvSpPr/>
          <p:nvPr/>
        </p:nvSpPr>
        <p:spPr>
          <a:xfrm>
            <a:off x="812778" y="1950641"/>
            <a:ext cx="59568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1" u="none" strike="noStrike" cap="none">
                <a:solidFill>
                  <a:srgbClr val="1B2430"/>
                </a:solidFill>
                <a:latin typeface="PT Serif"/>
                <a:ea typeface="PT Serif"/>
                <a:cs typeface="PT Serif"/>
                <a:sym typeface="PT Serif"/>
              </a:rPr>
              <a:t>«Собака укусила человека»</a:t>
            </a:r>
            <a:endParaRPr sz="2000" b="0" i="0" u="none" strike="noStrike" cap="none">
              <a:solidFill>
                <a:schemeClr val="dk1"/>
              </a:solidFill>
              <a:latin typeface="Golos Text"/>
              <a:ea typeface="Golos Text"/>
              <a:cs typeface="Golos Text"/>
              <a:sym typeface="Golos Text"/>
            </a:endParaRPr>
          </a:p>
        </p:txBody>
      </p:sp>
      <p:sp>
        <p:nvSpPr>
          <p:cNvPr id="239" name="Google Shape;239;p16"/>
          <p:cNvSpPr/>
          <p:nvPr/>
        </p:nvSpPr>
        <p:spPr>
          <a:xfrm>
            <a:off x="812778" y="2449711"/>
            <a:ext cx="2412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500"/>
              <a:buFont typeface="Golos Text"/>
              <a:buNone/>
            </a:pPr>
            <a:r>
              <a:rPr lang="en-US" sz="1500" b="0" i="0" u="none" strike="noStrike" cap="none">
                <a:solidFill>
                  <a:srgbClr val="646B78"/>
                </a:solidFill>
                <a:latin typeface="Golos Text"/>
                <a:ea typeface="Golos Text"/>
                <a:cs typeface="Golos Text"/>
                <a:sym typeface="Golos Text"/>
              </a:rPr>
              <a:t>→</a:t>
            </a:r>
            <a:endParaRPr sz="1500" b="0" i="0" u="none" strike="noStrike" cap="none">
              <a:solidFill>
                <a:schemeClr val="dk1"/>
              </a:solidFill>
              <a:latin typeface="Golos Text"/>
              <a:ea typeface="Golos Text"/>
              <a:cs typeface="Golos Text"/>
              <a:sym typeface="Golos Text"/>
            </a:endParaRPr>
          </a:p>
        </p:txBody>
      </p:sp>
      <p:sp>
        <p:nvSpPr>
          <p:cNvPr id="240" name="Google Shape;240;p16"/>
          <p:cNvSpPr/>
          <p:nvPr/>
        </p:nvSpPr>
        <p:spPr>
          <a:xfrm>
            <a:off x="1079471" y="2407841"/>
            <a:ext cx="8943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dirty="0" err="1">
                <a:solidFill>
                  <a:srgbClr val="1B2430"/>
                </a:solidFill>
                <a:latin typeface="JetBrains Mono"/>
                <a:ea typeface="JetBrains Mono"/>
                <a:cs typeface="JetBrains Mono"/>
                <a:sym typeface="JetBrains Mono"/>
              </a:rPr>
              <a:t>собака</a:t>
            </a:r>
            <a:endParaRPr sz="1400" b="0" i="0" u="none" strike="noStrike" cap="none" dirty="0">
              <a:solidFill>
                <a:schemeClr val="dk1"/>
              </a:solidFill>
              <a:latin typeface="Golos Text"/>
              <a:ea typeface="Golos Text"/>
              <a:cs typeface="Golos Text"/>
              <a:sym typeface="Golos Text"/>
            </a:endParaRPr>
          </a:p>
        </p:txBody>
      </p:sp>
      <p:sp>
        <p:nvSpPr>
          <p:cNvPr id="241" name="Google Shape;241;p16"/>
          <p:cNvSpPr/>
          <p:nvPr/>
        </p:nvSpPr>
        <p:spPr>
          <a:xfrm>
            <a:off x="2049804" y="2407841"/>
            <a:ext cx="10008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dirty="0" err="1">
                <a:solidFill>
                  <a:srgbClr val="1B2430"/>
                </a:solidFill>
                <a:latin typeface="JetBrains Mono"/>
                <a:ea typeface="JetBrains Mono"/>
                <a:cs typeface="JetBrains Mono"/>
                <a:sym typeface="JetBrains Mono"/>
              </a:rPr>
              <a:t>укусить</a:t>
            </a:r>
            <a:endParaRPr sz="1400" b="0" i="0" u="none" strike="noStrike" cap="none" dirty="0">
              <a:solidFill>
                <a:schemeClr val="dk1"/>
              </a:solidFill>
              <a:latin typeface="Golos Text"/>
              <a:ea typeface="Golos Text"/>
              <a:cs typeface="Golos Text"/>
              <a:sym typeface="Golos Text"/>
            </a:endParaRPr>
          </a:p>
        </p:txBody>
      </p:sp>
      <p:sp>
        <p:nvSpPr>
          <p:cNvPr id="242" name="Google Shape;242;p16"/>
          <p:cNvSpPr/>
          <p:nvPr/>
        </p:nvSpPr>
        <p:spPr>
          <a:xfrm>
            <a:off x="3126796" y="2407841"/>
            <a:ext cx="10008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человек</a:t>
            </a:r>
            <a:endParaRPr sz="1400" b="0" i="0" u="none" strike="noStrike" cap="none">
              <a:solidFill>
                <a:schemeClr val="dk1"/>
              </a:solidFill>
              <a:latin typeface="Golos Text"/>
              <a:ea typeface="Golos Text"/>
              <a:cs typeface="Golos Text"/>
              <a:sym typeface="Golos Text"/>
            </a:endParaRPr>
          </a:p>
        </p:txBody>
      </p:sp>
      <p:sp>
        <p:nvSpPr>
          <p:cNvPr id="243" name="Google Shape;243;p16"/>
          <p:cNvSpPr/>
          <p:nvPr/>
        </p:nvSpPr>
        <p:spPr>
          <a:xfrm>
            <a:off x="812778" y="3020990"/>
            <a:ext cx="59568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1" u="none" strike="noStrike" cap="none" dirty="0">
                <a:solidFill>
                  <a:srgbClr val="1B2430"/>
                </a:solidFill>
                <a:latin typeface="PT Serif"/>
                <a:ea typeface="PT Serif"/>
                <a:cs typeface="PT Serif"/>
                <a:sym typeface="PT Serif"/>
              </a:rPr>
              <a:t>«</a:t>
            </a:r>
            <a:r>
              <a:rPr lang="en-US" sz="2000" b="0" i="1" u="none" strike="noStrike" cap="none" dirty="0" err="1">
                <a:solidFill>
                  <a:srgbClr val="1B2430"/>
                </a:solidFill>
                <a:latin typeface="PT Serif"/>
                <a:ea typeface="PT Serif"/>
                <a:cs typeface="PT Serif"/>
                <a:sym typeface="PT Serif"/>
              </a:rPr>
              <a:t>Собаку</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укусил</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человек</a:t>
            </a:r>
            <a:r>
              <a:rPr lang="en-US" sz="2000" b="0" i="1" u="none" strike="noStrike" cap="none" dirty="0">
                <a:solidFill>
                  <a:srgbClr val="1B2430"/>
                </a:solidFill>
                <a:latin typeface="PT Serif"/>
                <a:ea typeface="PT Serif"/>
                <a:cs typeface="PT Serif"/>
                <a:sym typeface="PT Serif"/>
              </a:rPr>
              <a:t>»</a:t>
            </a:r>
            <a:endParaRPr sz="2000" b="0" i="0" u="none" strike="noStrike" cap="none" dirty="0">
              <a:solidFill>
                <a:schemeClr val="dk1"/>
              </a:solidFill>
              <a:latin typeface="Golos Text"/>
              <a:ea typeface="Golos Text"/>
              <a:cs typeface="Golos Text"/>
              <a:sym typeface="Golos Text"/>
            </a:endParaRPr>
          </a:p>
        </p:txBody>
      </p:sp>
      <p:sp>
        <p:nvSpPr>
          <p:cNvPr id="244" name="Google Shape;244;p16"/>
          <p:cNvSpPr/>
          <p:nvPr/>
        </p:nvSpPr>
        <p:spPr>
          <a:xfrm>
            <a:off x="812778" y="3511352"/>
            <a:ext cx="2412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500"/>
              <a:buFont typeface="Golos Text"/>
              <a:buNone/>
            </a:pPr>
            <a:r>
              <a:rPr lang="en-US" sz="1500" b="0" i="0" u="none" strike="noStrike" cap="none">
                <a:solidFill>
                  <a:srgbClr val="646B78"/>
                </a:solidFill>
                <a:latin typeface="Golos Text"/>
                <a:ea typeface="Golos Text"/>
                <a:cs typeface="Golos Text"/>
                <a:sym typeface="Golos Text"/>
              </a:rPr>
              <a:t>→</a:t>
            </a:r>
            <a:endParaRPr sz="1500" b="0" i="0" u="none" strike="noStrike" cap="none">
              <a:solidFill>
                <a:schemeClr val="dk1"/>
              </a:solidFill>
              <a:latin typeface="Golos Text"/>
              <a:ea typeface="Golos Text"/>
              <a:cs typeface="Golos Text"/>
              <a:sym typeface="Golos Text"/>
            </a:endParaRPr>
          </a:p>
        </p:txBody>
      </p:sp>
      <p:sp>
        <p:nvSpPr>
          <p:cNvPr id="245" name="Google Shape;245;p16"/>
          <p:cNvSpPr/>
          <p:nvPr/>
        </p:nvSpPr>
        <p:spPr>
          <a:xfrm>
            <a:off x="1079471" y="3469481"/>
            <a:ext cx="8943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собака</a:t>
            </a:r>
            <a:endParaRPr sz="1400" b="0" i="0" u="none" strike="noStrike" cap="none">
              <a:solidFill>
                <a:schemeClr val="dk1"/>
              </a:solidFill>
              <a:latin typeface="Golos Text"/>
              <a:ea typeface="Golos Text"/>
              <a:cs typeface="Golos Text"/>
              <a:sym typeface="Golos Text"/>
            </a:endParaRPr>
          </a:p>
        </p:txBody>
      </p:sp>
      <p:sp>
        <p:nvSpPr>
          <p:cNvPr id="246" name="Google Shape;246;p16"/>
          <p:cNvSpPr/>
          <p:nvPr/>
        </p:nvSpPr>
        <p:spPr>
          <a:xfrm>
            <a:off x="2049804" y="3469481"/>
            <a:ext cx="10008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dirty="0" err="1">
                <a:solidFill>
                  <a:srgbClr val="1B2430"/>
                </a:solidFill>
                <a:latin typeface="JetBrains Mono"/>
                <a:ea typeface="JetBrains Mono"/>
                <a:cs typeface="JetBrains Mono"/>
                <a:sym typeface="JetBrains Mono"/>
              </a:rPr>
              <a:t>укусить</a:t>
            </a:r>
            <a:endParaRPr sz="1400" b="0" i="0" u="none" strike="noStrike" cap="none" dirty="0">
              <a:solidFill>
                <a:schemeClr val="dk1"/>
              </a:solidFill>
              <a:latin typeface="Golos Text"/>
              <a:ea typeface="Golos Text"/>
              <a:cs typeface="Golos Text"/>
              <a:sym typeface="Golos Text"/>
            </a:endParaRPr>
          </a:p>
        </p:txBody>
      </p:sp>
      <p:sp>
        <p:nvSpPr>
          <p:cNvPr id="247" name="Google Shape;247;p16"/>
          <p:cNvSpPr/>
          <p:nvPr/>
        </p:nvSpPr>
        <p:spPr>
          <a:xfrm>
            <a:off x="3126796" y="3469481"/>
            <a:ext cx="10008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человек</a:t>
            </a:r>
            <a:endParaRPr sz="1400" b="0" i="0" u="none" strike="noStrike" cap="none">
              <a:solidFill>
                <a:schemeClr val="dk1"/>
              </a:solidFill>
              <a:latin typeface="Golos Text"/>
              <a:ea typeface="Golos Text"/>
              <a:cs typeface="Golos Text"/>
              <a:sym typeface="Golos Text"/>
            </a:endParaRPr>
          </a:p>
        </p:txBody>
      </p:sp>
      <p:sp>
        <p:nvSpPr>
          <p:cNvPr id="248" name="Google Shape;248;p16"/>
          <p:cNvSpPr/>
          <p:nvPr/>
        </p:nvSpPr>
        <p:spPr>
          <a:xfrm>
            <a:off x="812778" y="4073922"/>
            <a:ext cx="57552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Смысл противоположный, а набор лемм одинаковый. В русском роль слова кодирует падеж — лемматизация его стирает.</a:t>
            </a:r>
            <a:endParaRPr sz="1500" b="0" i="0" u="none" strike="noStrike" cap="none">
              <a:solidFill>
                <a:schemeClr val="dk1"/>
              </a:solidFill>
              <a:latin typeface="Golos Text"/>
              <a:ea typeface="Golos Text"/>
              <a:cs typeface="Golos Text"/>
              <a:sym typeface="Golos Text"/>
            </a:endParaRPr>
          </a:p>
        </p:txBody>
      </p:sp>
      <p:sp>
        <p:nvSpPr>
          <p:cNvPr id="249" name="Google Shape;249;p16"/>
          <p:cNvSpPr/>
          <p:nvPr/>
        </p:nvSpPr>
        <p:spPr>
          <a:xfrm>
            <a:off x="7005748" y="1953816"/>
            <a:ext cx="4370100" cy="3359100"/>
          </a:xfrm>
          <a:prstGeom prst="roundRect">
            <a:avLst>
              <a:gd name="adj" fmla="val 2930"/>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7262916" y="2210991"/>
            <a:ext cx="39714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Два классических приёма</a:t>
            </a:r>
            <a:endParaRPr sz="2000" b="0" i="0" u="none" strike="noStrike" cap="none">
              <a:solidFill>
                <a:schemeClr val="dk1"/>
              </a:solidFill>
              <a:latin typeface="Golos Text"/>
              <a:ea typeface="Golos Text"/>
              <a:cs typeface="Golos Text"/>
              <a:sym typeface="Golos Text"/>
            </a:endParaRPr>
          </a:p>
        </p:txBody>
      </p:sp>
      <p:sp>
        <p:nvSpPr>
          <p:cNvPr id="251" name="Google Shape;251;p16"/>
          <p:cNvSpPr/>
          <p:nvPr/>
        </p:nvSpPr>
        <p:spPr>
          <a:xfrm>
            <a:off x="7262916" y="2668191"/>
            <a:ext cx="39714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500"/>
              <a:buFont typeface="Golos Text"/>
              <a:buNone/>
            </a:pPr>
            <a:r>
              <a:rPr lang="en-US" sz="1500" b="1" i="0" u="none" strike="noStrike" cap="none">
                <a:solidFill>
                  <a:srgbClr val="B34A1C"/>
                </a:solidFill>
                <a:latin typeface="Golos Text"/>
                <a:ea typeface="Golos Text"/>
                <a:cs typeface="Golos Text"/>
                <a:sym typeface="Golos Text"/>
              </a:rPr>
              <a:t>Стемминг</a:t>
            </a:r>
            <a:endParaRPr sz="1500" b="0" i="0" u="none" strike="noStrike" cap="none">
              <a:solidFill>
                <a:schemeClr val="dk1"/>
              </a:solidFill>
              <a:latin typeface="Golos Text"/>
              <a:ea typeface="Golos Text"/>
              <a:cs typeface="Golos Text"/>
              <a:sym typeface="Golos Text"/>
            </a:endParaRPr>
          </a:p>
        </p:txBody>
      </p:sp>
      <p:sp>
        <p:nvSpPr>
          <p:cNvPr id="252" name="Google Shape;252;p16"/>
          <p:cNvSpPr/>
          <p:nvPr/>
        </p:nvSpPr>
        <p:spPr>
          <a:xfrm>
            <a:off x="7262916" y="2985691"/>
            <a:ext cx="39714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dirty="0" err="1">
                <a:solidFill>
                  <a:srgbClr val="4A5361"/>
                </a:solidFill>
                <a:latin typeface="Golos Text"/>
                <a:ea typeface="Golos Text"/>
                <a:cs typeface="Golos Text"/>
                <a:sym typeface="Golos Text"/>
              </a:rPr>
              <a:t>Отрезает</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окончания</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по</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правилам</a:t>
            </a:r>
            <a:r>
              <a:rPr lang="en-US" sz="1500" b="0" i="0" u="none" strike="noStrike" cap="none" dirty="0">
                <a:solidFill>
                  <a:srgbClr val="4A5361"/>
                </a:solidFill>
                <a:latin typeface="Golos Text"/>
                <a:ea typeface="Golos Text"/>
                <a:cs typeface="Golos Text"/>
                <a:sym typeface="Golos Text"/>
              </a:rPr>
              <a:t> (Snowball): «</a:t>
            </a:r>
            <a:r>
              <a:rPr lang="en-US" sz="1500" b="0" i="0" u="none" strike="noStrike" cap="none" dirty="0" err="1">
                <a:solidFill>
                  <a:srgbClr val="4A5361"/>
                </a:solidFill>
                <a:latin typeface="Golos Text"/>
                <a:ea typeface="Golos Text"/>
                <a:cs typeface="Golos Text"/>
                <a:sym typeface="Golos Text"/>
              </a:rPr>
              <a:t>столами</a:t>
            </a:r>
            <a:r>
              <a:rPr lang="en-US" sz="1500" b="0" i="0" u="none" strike="noStrike" cap="none" dirty="0">
                <a:solidFill>
                  <a:srgbClr val="4A5361"/>
                </a:solidFill>
                <a:latin typeface="Golos Text"/>
                <a:ea typeface="Golos Text"/>
                <a:cs typeface="Golos Text"/>
                <a:sym typeface="Golos Text"/>
              </a:rPr>
              <a:t>» → «</a:t>
            </a:r>
            <a:r>
              <a:rPr lang="en-US" sz="1500" b="0" i="0" u="none" strike="noStrike" cap="none" dirty="0" err="1">
                <a:solidFill>
                  <a:srgbClr val="4A5361"/>
                </a:solidFill>
                <a:latin typeface="Golos Text"/>
                <a:ea typeface="Golos Text"/>
                <a:cs typeface="Golos Text"/>
                <a:sym typeface="Golos Text"/>
              </a:rPr>
              <a:t>стол</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но</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шёл</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не</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свяжет</a:t>
            </a:r>
            <a:r>
              <a:rPr lang="en-US" sz="1500" b="0" i="0" u="none" strike="noStrike" cap="none" dirty="0">
                <a:solidFill>
                  <a:srgbClr val="4A5361"/>
                </a:solidFill>
                <a:latin typeface="Golos Text"/>
                <a:ea typeface="Golos Text"/>
                <a:cs typeface="Golos Text"/>
                <a:sym typeface="Golos Text"/>
              </a:rPr>
              <a:t> с «</a:t>
            </a:r>
            <a:r>
              <a:rPr lang="en-US" sz="1500" b="0" i="0" u="none" strike="noStrike" cap="none" dirty="0" err="1">
                <a:solidFill>
                  <a:srgbClr val="4A5361"/>
                </a:solidFill>
                <a:latin typeface="Golos Text"/>
                <a:ea typeface="Golos Text"/>
                <a:cs typeface="Golos Text"/>
                <a:sym typeface="Golos Text"/>
              </a:rPr>
              <a:t>идти</a:t>
            </a:r>
            <a:r>
              <a:rPr lang="en-US" sz="1500" b="0" i="0" u="none" strike="noStrike" cap="none" dirty="0">
                <a:solidFill>
                  <a:srgbClr val="4A5361"/>
                </a:solidFill>
                <a:latin typeface="Golos Text"/>
                <a:ea typeface="Golos Text"/>
                <a:cs typeface="Golos Text"/>
                <a:sym typeface="Golos Text"/>
              </a:rPr>
              <a:t>».</a:t>
            </a:r>
            <a:endParaRPr sz="1500" b="0" i="0" u="none" strike="noStrike" cap="none" dirty="0">
              <a:solidFill>
                <a:schemeClr val="dk1"/>
              </a:solidFill>
              <a:latin typeface="Golos Text"/>
              <a:ea typeface="Golos Text"/>
              <a:cs typeface="Golos Text"/>
              <a:sym typeface="Golos Text"/>
            </a:endParaRPr>
          </a:p>
        </p:txBody>
      </p:sp>
      <p:sp>
        <p:nvSpPr>
          <p:cNvPr id="253" name="Google Shape;253;p16"/>
          <p:cNvSpPr/>
          <p:nvPr/>
        </p:nvSpPr>
        <p:spPr>
          <a:xfrm>
            <a:off x="7262916" y="3938191"/>
            <a:ext cx="39714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500"/>
              <a:buFont typeface="Golos Text"/>
              <a:buNone/>
            </a:pPr>
            <a:r>
              <a:rPr lang="en-US" sz="1500" b="1" i="0" u="none" strike="noStrike" cap="none">
                <a:solidFill>
                  <a:srgbClr val="B34A1C"/>
                </a:solidFill>
                <a:latin typeface="Golos Text"/>
                <a:ea typeface="Golos Text"/>
                <a:cs typeface="Golos Text"/>
                <a:sym typeface="Golos Text"/>
              </a:rPr>
              <a:t>Лемматизация</a:t>
            </a:r>
            <a:endParaRPr sz="1500" b="0" i="0" u="none" strike="noStrike" cap="none">
              <a:solidFill>
                <a:schemeClr val="dk1"/>
              </a:solidFill>
              <a:latin typeface="Golos Text"/>
              <a:ea typeface="Golos Text"/>
              <a:cs typeface="Golos Text"/>
              <a:sym typeface="Golos Text"/>
            </a:endParaRPr>
          </a:p>
        </p:txBody>
      </p:sp>
      <p:sp>
        <p:nvSpPr>
          <p:cNvPr id="254" name="Google Shape;254;p16"/>
          <p:cNvSpPr/>
          <p:nvPr/>
        </p:nvSpPr>
        <p:spPr>
          <a:xfrm>
            <a:off x="7262916" y="4255691"/>
            <a:ext cx="39714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dirty="0" err="1">
                <a:solidFill>
                  <a:srgbClr val="4A5361"/>
                </a:solidFill>
                <a:latin typeface="Golos Text"/>
                <a:ea typeface="Golos Text"/>
                <a:cs typeface="Golos Text"/>
                <a:sym typeface="Golos Text"/>
              </a:rPr>
              <a:t>Словарь</a:t>
            </a:r>
            <a:r>
              <a:rPr lang="en-US" sz="1500" b="0" i="0" u="none" strike="noStrike" cap="none" dirty="0">
                <a:solidFill>
                  <a:srgbClr val="4A5361"/>
                </a:solidFill>
                <a:latin typeface="Golos Text"/>
                <a:ea typeface="Golos Text"/>
                <a:cs typeface="Golos Text"/>
                <a:sym typeface="Golos Text"/>
              </a:rPr>
              <a:t> и </a:t>
            </a:r>
            <a:r>
              <a:rPr lang="en-US" sz="1500" b="0" i="0" u="none" strike="noStrike" cap="none" dirty="0" err="1">
                <a:solidFill>
                  <a:srgbClr val="4A5361"/>
                </a:solidFill>
                <a:latin typeface="Golos Text"/>
                <a:ea typeface="Golos Text"/>
                <a:cs typeface="Golos Text"/>
                <a:sym typeface="Golos Text"/>
              </a:rPr>
              <a:t>морфоанализ</a:t>
            </a:r>
            <a:r>
              <a:rPr lang="en-US" sz="1500" b="0" i="0" u="none" strike="noStrike" cap="none" dirty="0">
                <a:solidFill>
                  <a:srgbClr val="4A5361"/>
                </a:solidFill>
                <a:latin typeface="Golos Text"/>
                <a:ea typeface="Golos Text"/>
                <a:cs typeface="Golos Text"/>
                <a:sym typeface="Golos Text"/>
              </a:rPr>
              <a:t> (pymorphy3, </a:t>
            </a:r>
            <a:r>
              <a:rPr lang="en-US" sz="1500" b="0" i="0" u="none" strike="noStrike" cap="none" dirty="0" err="1">
                <a:solidFill>
                  <a:srgbClr val="4A5361"/>
                </a:solidFill>
                <a:latin typeface="Golos Text"/>
                <a:ea typeface="Golos Text"/>
                <a:cs typeface="Golos Text"/>
                <a:sym typeface="Golos Text"/>
              </a:rPr>
              <a:t>mystem</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шёл</a:t>
            </a:r>
            <a:r>
              <a:rPr lang="en-US" sz="1500" b="0" i="0" u="none" strike="noStrike" cap="none" dirty="0">
                <a:solidFill>
                  <a:srgbClr val="4A5361"/>
                </a:solidFill>
                <a:latin typeface="Golos Text"/>
                <a:ea typeface="Golos Text"/>
                <a:cs typeface="Golos Text"/>
                <a:sym typeface="Golos Text"/>
              </a:rPr>
              <a:t>» → «</a:t>
            </a:r>
            <a:r>
              <a:rPr lang="en-US" sz="1500" b="0" i="0" u="none" strike="noStrike" cap="none" dirty="0" err="1">
                <a:solidFill>
                  <a:srgbClr val="4A5361"/>
                </a:solidFill>
                <a:latin typeface="Golos Text"/>
                <a:ea typeface="Golos Text"/>
                <a:cs typeface="Golos Text"/>
                <a:sym typeface="Golos Text"/>
              </a:rPr>
              <a:t>идти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Ошибается</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на</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омонимах</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стали</a:t>
            </a:r>
            <a:r>
              <a:rPr lang="en-US" sz="1500" b="0" i="0" u="none" strike="noStrike" cap="none" dirty="0">
                <a:solidFill>
                  <a:srgbClr val="4A5361"/>
                </a:solidFill>
                <a:latin typeface="Golos Text"/>
                <a:ea typeface="Golos Text"/>
                <a:cs typeface="Golos Text"/>
                <a:sym typeface="Golos Text"/>
              </a:rPr>
              <a:t>».</a:t>
            </a:r>
            <a:endParaRPr sz="1500" b="0" i="0" u="none" strike="noStrike" cap="none" dirty="0">
              <a:solidFill>
                <a:schemeClr val="dk1"/>
              </a:solidFill>
              <a:latin typeface="Golos Text"/>
              <a:ea typeface="Golos Text"/>
              <a:cs typeface="Golos Text"/>
              <a:sym typeface="Golos Tex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9"/>
        <p:cNvGrpSpPr/>
        <p:nvPr/>
      </p:nvGrpSpPr>
      <p:grpSpPr>
        <a:xfrm>
          <a:off x="0" y="0"/>
          <a:ext cx="0" cy="0"/>
          <a:chOff x="0" y="0"/>
          <a:chExt cx="0" cy="0"/>
        </a:xfrm>
      </p:grpSpPr>
      <p:sp>
        <p:nvSpPr>
          <p:cNvPr id="260" name="Google Shape;260;p17"/>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261" name="Google Shape;261;p17"/>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Три уровня: символы, подслова, слова</a:t>
            </a:r>
            <a:endParaRPr sz="3200"/>
          </a:p>
        </p:txBody>
      </p:sp>
      <p:graphicFrame>
        <p:nvGraphicFramePr>
          <p:cNvPr id="262" name="Google Shape;262;p17"/>
          <p:cNvGraphicFramePr/>
          <p:nvPr/>
        </p:nvGraphicFramePr>
        <p:xfrm>
          <a:off x="825478" y="1912541"/>
          <a:ext cx="10553425" cy="2624268"/>
        </p:xfrm>
        <a:graphic>
          <a:graphicData uri="http://schemas.openxmlformats.org/drawingml/2006/table">
            <a:tbl>
              <a:tblPr>
                <a:noFill/>
                <a:tableStyleId>{06309EA5-3D61-4596-AA48-24314E58F0C3}</a:tableStyleId>
              </a:tblPr>
              <a:tblGrid>
                <a:gridCol w="2954950">
                  <a:extLst>
                    <a:ext uri="{9D8B030D-6E8A-4147-A177-3AD203B41FA5}">
                      <a16:colId xmlns:a16="http://schemas.microsoft.com/office/drawing/2014/main" val="20000"/>
                    </a:ext>
                  </a:extLst>
                </a:gridCol>
                <a:gridCol w="2532825">
                  <a:extLst>
                    <a:ext uri="{9D8B030D-6E8A-4147-A177-3AD203B41FA5}">
                      <a16:colId xmlns:a16="http://schemas.microsoft.com/office/drawing/2014/main" val="20001"/>
                    </a:ext>
                  </a:extLst>
                </a:gridCol>
                <a:gridCol w="2532825">
                  <a:extLst>
                    <a:ext uri="{9D8B030D-6E8A-4147-A177-3AD203B41FA5}">
                      <a16:colId xmlns:a16="http://schemas.microsoft.com/office/drawing/2014/main" val="20002"/>
                    </a:ext>
                  </a:extLst>
                </a:gridCol>
                <a:gridCol w="2532825">
                  <a:extLst>
                    <a:ext uri="{9D8B030D-6E8A-4147-A177-3AD203B41FA5}">
                      <a16:colId xmlns:a16="http://schemas.microsoft.com/office/drawing/2014/main" val="20003"/>
                    </a:ext>
                  </a:extLst>
                </a:gridCol>
              </a:tblGrid>
              <a:tr h="385950">
                <a:tc>
                  <a:txBody>
                    <a:bodyPr/>
                    <a:lstStyle/>
                    <a:p>
                      <a:pPr marL="0" marR="0" lvl="0" indent="0" algn="l" rtl="0">
                        <a:lnSpc>
                          <a:spcPct val="140000"/>
                        </a:lnSpc>
                        <a:spcBef>
                          <a:spcPts val="0"/>
                        </a:spcBef>
                        <a:spcAft>
                          <a:spcPts val="0"/>
                        </a:spcAft>
                        <a:buClr>
                          <a:schemeClr val="dk1"/>
                        </a:buClr>
                        <a:buSzPts val="1400"/>
                        <a:buFont typeface="Golos Text"/>
                        <a:buNone/>
                      </a:pP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Символы</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B34A1C"/>
                        </a:buClr>
                        <a:buSzPts val="1400"/>
                        <a:buFont typeface="Golos Text"/>
                        <a:buNone/>
                      </a:pPr>
                      <a:r>
                        <a:rPr lang="en-US" sz="1400" b="1" u="none" strike="noStrike" cap="none">
                          <a:solidFill>
                            <a:srgbClr val="B34A1C"/>
                          </a:solidFill>
                          <a:latin typeface="Golos Text"/>
                          <a:ea typeface="Golos Text"/>
                          <a:cs typeface="Golos Text"/>
                          <a:sym typeface="Golos Text"/>
                        </a:rPr>
                        <a:t>Подслова</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Слова</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extLst>
                  <a:ext uri="{0D108BD9-81ED-4DB2-BD59-A6C34878D82A}">
                    <a16:rowId xmlns:a16="http://schemas.microsoft.com/office/drawing/2014/main" val="10000"/>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Размер словаря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сотни</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30–200 тыс.</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сотни тысяч и больше</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1"/>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Длина последовательности</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очень большая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средняя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короткая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2"/>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Незнакомые слова</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не бывает</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почти не бывает</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частая проблема</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3"/>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Смысл одного токена</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почти нет</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часть слова или слово</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целое слово</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4"/>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Где используется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CharCNN; ByT5 — байты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GPT, BERT, Llama</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word2vec, классический NLP</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3" name="Google Shape;263;p17"/>
          <p:cNvSpPr/>
          <p:nvPr/>
        </p:nvSpPr>
        <p:spPr>
          <a:xfrm>
            <a:off x="812778" y="4781947"/>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1" i="0" u="none" strike="noStrike" cap="none">
                <a:solidFill>
                  <a:srgbClr val="1B2430"/>
                </a:solidFill>
                <a:latin typeface="Golos Text"/>
                <a:ea typeface="Golos Text"/>
                <a:cs typeface="Golos Text"/>
                <a:sym typeface="Golos Text"/>
              </a:rPr>
              <a:t>Подслова — компромисс:</a:t>
            </a:r>
            <a:r>
              <a:rPr lang="en-US" sz="1500" b="0" i="0" u="none" strike="noStrike" cap="none">
                <a:solidFill>
                  <a:srgbClr val="1B2430"/>
                </a:solidFill>
                <a:latin typeface="Golos Text"/>
                <a:ea typeface="Golos Text"/>
                <a:cs typeface="Golos Text"/>
                <a:sym typeface="Golos Text"/>
              </a:rPr>
              <a:t> частые слова целиком, редкие — по кусочкам.</a:t>
            </a:r>
            <a:endParaRPr sz="15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8"/>
        <p:cNvGrpSpPr/>
        <p:nvPr/>
      </p:nvGrpSpPr>
      <p:grpSpPr>
        <a:xfrm>
          <a:off x="0" y="0"/>
          <a:ext cx="0" cy="0"/>
          <a:chOff x="0" y="0"/>
          <a:chExt cx="0" cy="0"/>
        </a:xfrm>
      </p:grpSpPr>
      <p:sp>
        <p:nvSpPr>
          <p:cNvPr id="269" name="Google Shape;269;p18"/>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270" name="Google Shape;270;p18"/>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Byte Pair Encoding: алгоритм</a:t>
            </a:r>
            <a:endParaRPr sz="3200"/>
          </a:p>
        </p:txBody>
      </p:sp>
      <p:sp>
        <p:nvSpPr>
          <p:cNvPr id="271" name="Google Shape;271;p18"/>
          <p:cNvSpPr/>
          <p:nvPr/>
        </p:nvSpPr>
        <p:spPr>
          <a:xfrm>
            <a:off x="812778" y="1950641"/>
            <a:ext cx="355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1" i="0" u="none" strike="noStrike" cap="none">
                <a:solidFill>
                  <a:srgbClr val="B34A1C"/>
                </a:solidFill>
                <a:latin typeface="PT Serif"/>
                <a:ea typeface="PT Serif"/>
                <a:cs typeface="PT Serif"/>
                <a:sym typeface="PT Serif"/>
              </a:rPr>
              <a:t>1</a:t>
            </a:r>
            <a:endParaRPr sz="2000" b="0" i="0" u="none" strike="noStrike" cap="none">
              <a:solidFill>
                <a:schemeClr val="dk1"/>
              </a:solidFill>
              <a:latin typeface="Golos Text"/>
              <a:ea typeface="Golos Text"/>
              <a:cs typeface="Golos Text"/>
              <a:sym typeface="Golos Text"/>
            </a:endParaRPr>
          </a:p>
        </p:txBody>
      </p:sp>
      <p:sp>
        <p:nvSpPr>
          <p:cNvPr id="272" name="Google Shape;272;p18"/>
          <p:cNvSpPr/>
          <p:nvPr/>
        </p:nvSpPr>
        <p:spPr>
          <a:xfrm>
            <a:off x="1269966" y="1950641"/>
            <a:ext cx="54939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0" i="0" u="none" strike="noStrike" cap="none">
                <a:solidFill>
                  <a:srgbClr val="1B2430"/>
                </a:solidFill>
                <a:latin typeface="Golos Text"/>
                <a:ea typeface="Golos Text"/>
                <a:cs typeface="Golos Text"/>
                <a:sym typeface="Golos Text"/>
              </a:rPr>
              <a:t>Разбить слова корпуса на символы, запомнить частоту каждого слова</a:t>
            </a:r>
            <a:endParaRPr sz="1500" b="0" i="0" u="none" strike="noStrike" cap="none">
              <a:solidFill>
                <a:schemeClr val="dk1"/>
              </a:solidFill>
              <a:latin typeface="Golos Text"/>
              <a:ea typeface="Golos Text"/>
              <a:cs typeface="Golos Text"/>
              <a:sym typeface="Golos Text"/>
            </a:endParaRPr>
          </a:p>
        </p:txBody>
      </p:sp>
      <p:sp>
        <p:nvSpPr>
          <p:cNvPr id="273" name="Google Shape;273;p18"/>
          <p:cNvSpPr/>
          <p:nvPr/>
        </p:nvSpPr>
        <p:spPr>
          <a:xfrm>
            <a:off x="812778" y="2661841"/>
            <a:ext cx="355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1" i="0" u="none" strike="noStrike" cap="none">
                <a:solidFill>
                  <a:srgbClr val="B34A1C"/>
                </a:solidFill>
                <a:latin typeface="PT Serif"/>
                <a:ea typeface="PT Serif"/>
                <a:cs typeface="PT Serif"/>
                <a:sym typeface="PT Serif"/>
              </a:rPr>
              <a:t>2</a:t>
            </a:r>
            <a:endParaRPr sz="2000" b="0" i="0" u="none" strike="noStrike" cap="none">
              <a:solidFill>
                <a:schemeClr val="dk1"/>
              </a:solidFill>
              <a:latin typeface="Golos Text"/>
              <a:ea typeface="Golos Text"/>
              <a:cs typeface="Golos Text"/>
              <a:sym typeface="Golos Text"/>
            </a:endParaRPr>
          </a:p>
        </p:txBody>
      </p:sp>
      <p:sp>
        <p:nvSpPr>
          <p:cNvPr id="274" name="Google Shape;274;p18"/>
          <p:cNvSpPr/>
          <p:nvPr/>
        </p:nvSpPr>
        <p:spPr>
          <a:xfrm>
            <a:off x="1269966" y="2661841"/>
            <a:ext cx="54939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0" i="0" u="none" strike="noStrike" cap="none">
                <a:solidFill>
                  <a:srgbClr val="1B2430"/>
                </a:solidFill>
                <a:latin typeface="Golos Text"/>
                <a:ea typeface="Golos Text"/>
                <a:cs typeface="Golos Text"/>
                <a:sym typeface="Golos Text"/>
              </a:rPr>
              <a:t>Посчитать, сколько раз встречается каждая пара соседних токенов</a:t>
            </a:r>
            <a:endParaRPr sz="1500" b="0" i="0" u="none" strike="noStrike" cap="none">
              <a:solidFill>
                <a:schemeClr val="dk1"/>
              </a:solidFill>
              <a:latin typeface="Golos Text"/>
              <a:ea typeface="Golos Text"/>
              <a:cs typeface="Golos Text"/>
              <a:sym typeface="Golos Text"/>
            </a:endParaRPr>
          </a:p>
        </p:txBody>
      </p:sp>
      <p:sp>
        <p:nvSpPr>
          <p:cNvPr id="275" name="Google Shape;275;p18"/>
          <p:cNvSpPr/>
          <p:nvPr/>
        </p:nvSpPr>
        <p:spPr>
          <a:xfrm>
            <a:off x="812778" y="3373041"/>
            <a:ext cx="355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1" i="0" u="none" strike="noStrike" cap="none">
                <a:solidFill>
                  <a:srgbClr val="B34A1C"/>
                </a:solidFill>
                <a:latin typeface="PT Serif"/>
                <a:ea typeface="PT Serif"/>
                <a:cs typeface="PT Serif"/>
                <a:sym typeface="PT Serif"/>
              </a:rPr>
              <a:t>3</a:t>
            </a:r>
            <a:endParaRPr sz="2000" b="0" i="0" u="none" strike="noStrike" cap="none">
              <a:solidFill>
                <a:schemeClr val="dk1"/>
              </a:solidFill>
              <a:latin typeface="Golos Text"/>
              <a:ea typeface="Golos Text"/>
              <a:cs typeface="Golos Text"/>
              <a:sym typeface="Golos Text"/>
            </a:endParaRPr>
          </a:p>
        </p:txBody>
      </p:sp>
      <p:sp>
        <p:nvSpPr>
          <p:cNvPr id="276" name="Google Shape;276;p18"/>
          <p:cNvSpPr/>
          <p:nvPr/>
        </p:nvSpPr>
        <p:spPr>
          <a:xfrm>
            <a:off x="1269966" y="3373041"/>
            <a:ext cx="54939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0" i="0" u="none" strike="noStrike" cap="none">
                <a:solidFill>
                  <a:srgbClr val="1B2430"/>
                </a:solidFill>
                <a:latin typeface="Golos Text"/>
                <a:ea typeface="Golos Text"/>
                <a:cs typeface="Golos Text"/>
                <a:sym typeface="Golos Text"/>
              </a:rPr>
              <a:t>Самую частую пару слить в новый токен и записать правило слияния</a:t>
            </a:r>
            <a:endParaRPr sz="1500" b="0" i="0" u="none" strike="noStrike" cap="none">
              <a:solidFill>
                <a:schemeClr val="dk1"/>
              </a:solidFill>
              <a:latin typeface="Golos Text"/>
              <a:ea typeface="Golos Text"/>
              <a:cs typeface="Golos Text"/>
              <a:sym typeface="Golos Text"/>
            </a:endParaRPr>
          </a:p>
        </p:txBody>
      </p:sp>
      <p:sp>
        <p:nvSpPr>
          <p:cNvPr id="277" name="Google Shape;277;p18"/>
          <p:cNvSpPr/>
          <p:nvPr/>
        </p:nvSpPr>
        <p:spPr>
          <a:xfrm>
            <a:off x="812778" y="4084241"/>
            <a:ext cx="355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1" i="0" u="none" strike="noStrike" cap="none">
                <a:solidFill>
                  <a:srgbClr val="B34A1C"/>
                </a:solidFill>
                <a:latin typeface="PT Serif"/>
                <a:ea typeface="PT Serif"/>
                <a:cs typeface="PT Serif"/>
                <a:sym typeface="PT Serif"/>
              </a:rPr>
              <a:t>4</a:t>
            </a:r>
            <a:endParaRPr sz="2000" b="0" i="0" u="none" strike="noStrike" cap="none">
              <a:solidFill>
                <a:schemeClr val="dk1"/>
              </a:solidFill>
              <a:latin typeface="Golos Text"/>
              <a:ea typeface="Golos Text"/>
              <a:cs typeface="Golos Text"/>
              <a:sym typeface="Golos Text"/>
            </a:endParaRPr>
          </a:p>
        </p:txBody>
      </p:sp>
      <p:sp>
        <p:nvSpPr>
          <p:cNvPr id="278" name="Google Shape;278;p18"/>
          <p:cNvSpPr/>
          <p:nvPr/>
        </p:nvSpPr>
        <p:spPr>
          <a:xfrm>
            <a:off x="1269966" y="4084241"/>
            <a:ext cx="54939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0" i="0" u="none" strike="noStrike" cap="none">
                <a:solidFill>
                  <a:srgbClr val="1B2430"/>
                </a:solidFill>
                <a:latin typeface="Golos Text"/>
                <a:ea typeface="Golos Text"/>
                <a:cs typeface="Golos Text"/>
                <a:sym typeface="Golos Text"/>
              </a:rPr>
              <a:t>Повторять шаги 2–3, пока словарь не достигнет нужного размера</a:t>
            </a:r>
            <a:endParaRPr sz="1500" b="0" i="0" u="none" strike="noStrike" cap="none">
              <a:solidFill>
                <a:schemeClr val="dk1"/>
              </a:solidFill>
              <a:latin typeface="Golos Text"/>
              <a:ea typeface="Golos Text"/>
              <a:cs typeface="Golos Text"/>
              <a:sym typeface="Golos Text"/>
            </a:endParaRPr>
          </a:p>
        </p:txBody>
      </p:sp>
      <p:sp>
        <p:nvSpPr>
          <p:cNvPr id="279" name="Google Shape;279;p18"/>
          <p:cNvSpPr/>
          <p:nvPr/>
        </p:nvSpPr>
        <p:spPr>
          <a:xfrm>
            <a:off x="7010213" y="1950641"/>
            <a:ext cx="4368900" cy="3029100"/>
          </a:xfrm>
          <a:prstGeom prst="roundRect">
            <a:avLst>
              <a:gd name="adj" fmla="val 3354"/>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8"/>
          <p:cNvSpPr/>
          <p:nvPr/>
        </p:nvSpPr>
        <p:spPr>
          <a:xfrm>
            <a:off x="7264206" y="2204641"/>
            <a:ext cx="39765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2EEE6"/>
              </a:buClr>
              <a:buSzPts val="2000"/>
              <a:buFont typeface="PT Serif"/>
              <a:buNone/>
            </a:pPr>
            <a:r>
              <a:rPr lang="en-US" sz="2000" b="1" i="0" u="none" strike="noStrike" cap="none">
                <a:solidFill>
                  <a:srgbClr val="F2EEE6"/>
                </a:solidFill>
                <a:latin typeface="PT Serif"/>
                <a:ea typeface="PT Serif"/>
                <a:cs typeface="PT Serif"/>
                <a:sym typeface="PT Serif"/>
              </a:rPr>
              <a:t>Откуда взялся</a:t>
            </a:r>
            <a:endParaRPr sz="2000" b="0" i="0" u="none" strike="noStrike" cap="none">
              <a:solidFill>
                <a:schemeClr val="dk1"/>
              </a:solidFill>
              <a:latin typeface="Golos Text"/>
              <a:ea typeface="Golos Text"/>
              <a:cs typeface="Golos Text"/>
              <a:sym typeface="Golos Text"/>
            </a:endParaRPr>
          </a:p>
        </p:txBody>
      </p:sp>
      <p:sp>
        <p:nvSpPr>
          <p:cNvPr id="281" name="Google Shape;281;p18"/>
          <p:cNvSpPr/>
          <p:nvPr/>
        </p:nvSpPr>
        <p:spPr>
          <a:xfrm>
            <a:off x="7264206" y="2661841"/>
            <a:ext cx="3976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0905A"/>
              </a:buClr>
              <a:buSzPts val="1500"/>
              <a:buFont typeface="Golos Text"/>
              <a:buNone/>
            </a:pPr>
            <a:r>
              <a:rPr lang="en-US" sz="1500" b="0" i="0" u="none" strike="noStrike" cap="none">
                <a:solidFill>
                  <a:srgbClr val="F0905A"/>
                </a:solidFill>
                <a:latin typeface="Golos Text"/>
                <a:ea typeface="Golos Text"/>
                <a:cs typeface="Golos Text"/>
                <a:sym typeface="Golos Text"/>
              </a:rPr>
              <a:t>1994</a:t>
            </a:r>
            <a:r>
              <a:rPr lang="en-US" sz="1500" b="0" i="0" u="none" strike="noStrike" cap="none">
                <a:solidFill>
                  <a:srgbClr val="B9C3CF"/>
                </a:solidFill>
                <a:latin typeface="Golos Text"/>
                <a:ea typeface="Golos Text"/>
                <a:cs typeface="Golos Text"/>
                <a:sym typeface="Golos Text"/>
              </a:rPr>
              <a:t> — алгоритм сжатия данных (Ф. Гейдж)</a:t>
            </a:r>
            <a:endParaRPr sz="1500" b="0" i="0" u="none" strike="noStrike" cap="none">
              <a:solidFill>
                <a:schemeClr val="dk1"/>
              </a:solidFill>
              <a:latin typeface="Golos Text"/>
              <a:ea typeface="Golos Text"/>
              <a:cs typeface="Golos Text"/>
              <a:sym typeface="Golos Text"/>
            </a:endParaRPr>
          </a:p>
        </p:txBody>
      </p:sp>
      <p:sp>
        <p:nvSpPr>
          <p:cNvPr id="282" name="Google Shape;282;p18"/>
          <p:cNvSpPr/>
          <p:nvPr/>
        </p:nvSpPr>
        <p:spPr>
          <a:xfrm>
            <a:off x="7264206" y="3347641"/>
            <a:ext cx="3976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0905A"/>
              </a:buClr>
              <a:buSzPts val="1500"/>
              <a:buFont typeface="Golos Text"/>
              <a:buNone/>
            </a:pPr>
            <a:r>
              <a:rPr lang="en-US" sz="1500" b="0" i="0" u="none" strike="noStrike" cap="none">
                <a:solidFill>
                  <a:srgbClr val="F0905A"/>
                </a:solidFill>
                <a:latin typeface="Golos Text"/>
                <a:ea typeface="Golos Text"/>
                <a:cs typeface="Golos Text"/>
                <a:sym typeface="Golos Text"/>
              </a:rPr>
              <a:t>2016</a:t>
            </a:r>
            <a:r>
              <a:rPr lang="en-US" sz="1500" b="0" i="0" u="none" strike="noStrike" cap="none">
                <a:solidFill>
                  <a:srgbClr val="B9C3CF"/>
                </a:solidFill>
                <a:latin typeface="Golos Text"/>
                <a:ea typeface="Golos Text"/>
                <a:cs typeface="Golos Text"/>
                <a:sym typeface="Golos Text"/>
              </a:rPr>
              <a:t> — Зеннрих и соавторы применили его к машинному переводу редких слов</a:t>
            </a:r>
            <a:endParaRPr sz="1500" b="0" i="0" u="none" strike="noStrike" cap="none">
              <a:solidFill>
                <a:schemeClr val="dk1"/>
              </a:solidFill>
              <a:latin typeface="Golos Text"/>
              <a:ea typeface="Golos Text"/>
              <a:cs typeface="Golos Text"/>
              <a:sym typeface="Golos Text"/>
            </a:endParaRPr>
          </a:p>
        </p:txBody>
      </p:sp>
      <p:pic>
        <p:nvPicPr>
          <p:cNvPr id="283" name="Google Shape;283;p18" descr="line"/>
          <p:cNvPicPr preferRelativeResize="0"/>
          <p:nvPr/>
        </p:nvPicPr>
        <p:blipFill rotWithShape="1">
          <a:blip r:embed="rId3">
            <a:alphaModFix/>
          </a:blip>
          <a:srcRect/>
          <a:stretch/>
        </p:blipFill>
        <p:spPr>
          <a:xfrm>
            <a:off x="7264206" y="4033441"/>
            <a:ext cx="3860697" cy="6350"/>
          </a:xfrm>
          <a:prstGeom prst="rect">
            <a:avLst/>
          </a:prstGeom>
          <a:noFill/>
          <a:ln>
            <a:noFill/>
          </a:ln>
        </p:spPr>
      </p:pic>
      <p:sp>
        <p:nvSpPr>
          <p:cNvPr id="284" name="Google Shape;284;p18"/>
          <p:cNvSpPr/>
          <p:nvPr/>
        </p:nvSpPr>
        <p:spPr>
          <a:xfrm>
            <a:off x="7264206" y="4192191"/>
            <a:ext cx="39765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2EEE6"/>
              </a:buClr>
              <a:buSzPts val="1500"/>
              <a:buFont typeface="Golos Text"/>
              <a:buNone/>
            </a:pPr>
            <a:r>
              <a:rPr lang="en-US" sz="1500" b="0" i="0" u="none" strike="noStrike" cap="none">
                <a:solidFill>
                  <a:srgbClr val="F2EEE6"/>
                </a:solidFill>
                <a:latin typeface="Golos Text"/>
                <a:ea typeface="Golos Text"/>
                <a:cs typeface="Golos Text"/>
                <a:sym typeface="Golos Text"/>
              </a:rPr>
              <a:t>Результат обучения — упорядоченный список слияний. Он и есть токенизатор.</a:t>
            </a:r>
            <a:endParaRPr sz="15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sp>
        <p:nvSpPr>
          <p:cNvPr id="290" name="Google Shape;290;p19"/>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291" name="Google Shape;291;p19"/>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BPE на доске: игрушечный корпус</a:t>
            </a:r>
            <a:endParaRPr sz="3200"/>
          </a:p>
        </p:txBody>
      </p:sp>
      <p:sp>
        <p:nvSpPr>
          <p:cNvPr id="292" name="Google Shape;292;p19"/>
          <p:cNvSpPr/>
          <p:nvPr/>
        </p:nvSpPr>
        <p:spPr>
          <a:xfrm>
            <a:off x="812778" y="1890911"/>
            <a:ext cx="8409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Корпус:</a:t>
            </a:r>
            <a:endParaRPr sz="1500" b="0" i="0" u="none" strike="noStrike" cap="none">
              <a:solidFill>
                <a:schemeClr val="dk1"/>
              </a:solidFill>
              <a:latin typeface="Golos Text"/>
              <a:ea typeface="Golos Text"/>
              <a:cs typeface="Golos Text"/>
              <a:sym typeface="Golos Text"/>
            </a:endParaRPr>
          </a:p>
        </p:txBody>
      </p:sp>
      <p:sp>
        <p:nvSpPr>
          <p:cNvPr id="293" name="Google Shape;293;p19"/>
          <p:cNvSpPr/>
          <p:nvPr/>
        </p:nvSpPr>
        <p:spPr>
          <a:xfrm>
            <a:off x="1653536" y="1849041"/>
            <a:ext cx="8943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кот ×5</a:t>
            </a:r>
            <a:endParaRPr sz="1400" b="0" i="0" u="none" strike="noStrike" cap="none">
              <a:solidFill>
                <a:schemeClr val="dk1"/>
              </a:solidFill>
              <a:latin typeface="Golos Text"/>
              <a:ea typeface="Golos Text"/>
              <a:cs typeface="Golos Text"/>
              <a:sym typeface="Golos Text"/>
            </a:endParaRPr>
          </a:p>
        </p:txBody>
      </p:sp>
      <p:sp>
        <p:nvSpPr>
          <p:cNvPr id="294" name="Google Shape;294;p19"/>
          <p:cNvSpPr/>
          <p:nvPr/>
        </p:nvSpPr>
        <p:spPr>
          <a:xfrm>
            <a:off x="2649268" y="1849041"/>
            <a:ext cx="10008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коты ×3</a:t>
            </a:r>
            <a:endParaRPr sz="1400" b="0" i="0" u="none" strike="noStrike" cap="none">
              <a:solidFill>
                <a:schemeClr val="dk1"/>
              </a:solidFill>
              <a:latin typeface="Golos Text"/>
              <a:ea typeface="Golos Text"/>
              <a:cs typeface="Golos Text"/>
              <a:sym typeface="Golos Text"/>
            </a:endParaRPr>
          </a:p>
        </p:txBody>
      </p:sp>
      <p:sp>
        <p:nvSpPr>
          <p:cNvPr id="295" name="Google Shape;295;p19"/>
          <p:cNvSpPr/>
          <p:nvPr/>
        </p:nvSpPr>
        <p:spPr>
          <a:xfrm>
            <a:off x="3751659" y="1849041"/>
            <a:ext cx="11076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котик ×2</a:t>
            </a:r>
            <a:endParaRPr sz="1400" b="0" i="0" u="none" strike="noStrike" cap="none">
              <a:solidFill>
                <a:schemeClr val="dk1"/>
              </a:solidFill>
              <a:latin typeface="Golos Text"/>
              <a:ea typeface="Golos Text"/>
              <a:cs typeface="Golos Text"/>
              <a:sym typeface="Golos Text"/>
            </a:endParaRPr>
          </a:p>
        </p:txBody>
      </p:sp>
      <p:sp>
        <p:nvSpPr>
          <p:cNvPr id="296" name="Google Shape;296;p19"/>
          <p:cNvSpPr/>
          <p:nvPr/>
        </p:nvSpPr>
        <p:spPr>
          <a:xfrm>
            <a:off x="4960706" y="1849041"/>
            <a:ext cx="8943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рот ×4</a:t>
            </a:r>
            <a:endParaRPr sz="1400" b="0" i="0" u="none" strike="noStrike" cap="none">
              <a:solidFill>
                <a:schemeClr val="dk1"/>
              </a:solidFill>
              <a:latin typeface="Golos Text"/>
              <a:ea typeface="Golos Text"/>
              <a:cs typeface="Golos Text"/>
              <a:sym typeface="Golos Text"/>
            </a:endParaRPr>
          </a:p>
        </p:txBody>
      </p:sp>
      <p:sp>
        <p:nvSpPr>
          <p:cNvPr id="297" name="Google Shape;297;p19"/>
          <p:cNvSpPr/>
          <p:nvPr/>
        </p:nvSpPr>
        <p:spPr>
          <a:xfrm>
            <a:off x="5956439" y="1849041"/>
            <a:ext cx="10008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роты ×2</a:t>
            </a:r>
            <a:endParaRPr sz="1400" b="0" i="0" u="none" strike="noStrike" cap="none">
              <a:solidFill>
                <a:schemeClr val="dk1"/>
              </a:solidFill>
              <a:latin typeface="Golos Text"/>
              <a:ea typeface="Golos Text"/>
              <a:cs typeface="Golos Text"/>
              <a:sym typeface="Golos Text"/>
            </a:endParaRPr>
          </a:p>
        </p:txBody>
      </p:sp>
      <p:graphicFrame>
        <p:nvGraphicFramePr>
          <p:cNvPr id="298" name="Google Shape;298;p19"/>
          <p:cNvGraphicFramePr/>
          <p:nvPr/>
        </p:nvGraphicFramePr>
        <p:xfrm>
          <a:off x="825478" y="2466181"/>
          <a:ext cx="10553400" cy="2325564"/>
        </p:xfrm>
        <a:graphic>
          <a:graphicData uri="http://schemas.openxmlformats.org/drawingml/2006/table">
            <a:tbl>
              <a:tblPr>
                <a:noFill/>
                <a:tableStyleId>{06309EA5-3D61-4596-AA48-24314E58F0C3}</a:tableStyleId>
              </a:tblPr>
              <a:tblGrid>
                <a:gridCol w="949800">
                  <a:extLst>
                    <a:ext uri="{9D8B030D-6E8A-4147-A177-3AD203B41FA5}">
                      <a16:colId xmlns:a16="http://schemas.microsoft.com/office/drawing/2014/main" val="20000"/>
                    </a:ext>
                  </a:extLst>
                </a:gridCol>
                <a:gridCol w="2532825">
                  <a:extLst>
                    <a:ext uri="{9D8B030D-6E8A-4147-A177-3AD203B41FA5}">
                      <a16:colId xmlns:a16="http://schemas.microsoft.com/office/drawing/2014/main" val="20001"/>
                    </a:ext>
                  </a:extLst>
                </a:gridCol>
                <a:gridCol w="7070775">
                  <a:extLst>
                    <a:ext uri="{9D8B030D-6E8A-4147-A177-3AD203B41FA5}">
                      <a16:colId xmlns:a16="http://schemas.microsoft.com/office/drawing/2014/main" val="20002"/>
                    </a:ext>
                  </a:extLst>
                </a:gridCol>
              </a:tblGrid>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Шаг</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Сливаем пару</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Корпус после слияния</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extLst>
                  <a:ext uri="{0D108BD9-81ED-4DB2-BD59-A6C34878D82A}">
                    <a16:rowId xmlns:a16="http://schemas.microsoft.com/office/drawing/2014/main" val="10000"/>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0</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к·о·т   к·о·т·ы   к·о·т·и·к   р·о·т   р·о·т·ы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1"/>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1</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о + т (16)</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к·от   к·от·ы   к·от·и·к   р·от   р·от·ы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2"/>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2</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 + от (10)</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кот   кот·ы   кот·и·к   р·от   р·от·ы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3"/>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3</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р + от (6)</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кот   кот·ы   кот·и·к   рот   рот·ы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4"/>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4</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кот + ы (3)</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кот   коты   кот·и·к   рот   рот·ы</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99" name="Google Shape;299;p19"/>
          <p:cNvSpPr/>
          <p:nvPr/>
        </p:nvSpPr>
        <p:spPr>
          <a:xfrm>
            <a:off x="812778" y="5035947"/>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Шаг 1: пары (о, т) = 5 + 3 + 2 + 4 + 2 = 16 · (к, о) = 10 · (р, о) = 6 · (т, ы) = 5 · (т, и) = 2 · (и, к) = 2</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4"/>
        <p:cNvGrpSpPr/>
        <p:nvPr/>
      </p:nvGrpSpPr>
      <p:grpSpPr>
        <a:xfrm>
          <a:off x="0" y="0"/>
          <a:ext cx="0" cy="0"/>
          <a:chOff x="0" y="0"/>
          <a:chExt cx="0" cy="0"/>
        </a:xfrm>
      </p:grpSpPr>
      <p:sp>
        <p:nvSpPr>
          <p:cNvPr id="305" name="Google Shape;305;p20"/>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306" name="Google Shape;306;p20"/>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Как BPE режет новые слова</a:t>
            </a:r>
            <a:endParaRPr sz="3200"/>
          </a:p>
        </p:txBody>
      </p:sp>
      <p:sp>
        <p:nvSpPr>
          <p:cNvPr id="307" name="Google Shape;307;p20"/>
          <p:cNvSpPr/>
          <p:nvPr/>
        </p:nvSpPr>
        <p:spPr>
          <a:xfrm>
            <a:off x="812778" y="1899841"/>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Применяем выученные слияния по порядку: </a:t>
            </a:r>
            <a:r>
              <a:rPr lang="en-US" sz="1500" b="1" i="0" u="none" strike="noStrike" cap="none">
                <a:solidFill>
                  <a:srgbClr val="4A5361"/>
                </a:solidFill>
                <a:latin typeface="Golos Text"/>
                <a:ea typeface="Golos Text"/>
                <a:cs typeface="Golos Text"/>
                <a:sym typeface="Golos Text"/>
              </a:rPr>
              <a:t>о+т → к+от → р+от → кот+ы</a:t>
            </a:r>
            <a:endParaRPr sz="1500" b="0" i="0" u="none" strike="noStrike" cap="none">
              <a:solidFill>
                <a:schemeClr val="dk1"/>
              </a:solidFill>
              <a:latin typeface="Golos Text"/>
              <a:ea typeface="Golos Text"/>
              <a:cs typeface="Golos Text"/>
              <a:sym typeface="Golos Text"/>
            </a:endParaRPr>
          </a:p>
        </p:txBody>
      </p:sp>
      <p:sp>
        <p:nvSpPr>
          <p:cNvPr id="308" name="Google Shape;308;p20"/>
          <p:cNvSpPr/>
          <p:nvPr/>
        </p:nvSpPr>
        <p:spPr>
          <a:xfrm>
            <a:off x="812778" y="2477691"/>
            <a:ext cx="13209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JetBrains Mono"/>
              <a:buNone/>
            </a:pPr>
            <a:r>
              <a:rPr lang="en-US" sz="2000" b="0" i="0" u="none" strike="noStrike" cap="none">
                <a:solidFill>
                  <a:srgbClr val="1B2430"/>
                </a:solidFill>
                <a:latin typeface="JetBrains Mono"/>
                <a:ea typeface="JetBrains Mono"/>
                <a:cs typeface="JetBrains Mono"/>
                <a:sym typeface="JetBrains Mono"/>
              </a:rPr>
              <a:t>котов</a:t>
            </a:r>
            <a:endParaRPr sz="2000" b="0" i="0" u="none" strike="noStrike" cap="none">
              <a:solidFill>
                <a:schemeClr val="dk1"/>
              </a:solidFill>
              <a:latin typeface="Golos Text"/>
              <a:ea typeface="Golos Text"/>
              <a:cs typeface="Golos Text"/>
              <a:sym typeface="Golos Text"/>
            </a:endParaRPr>
          </a:p>
        </p:txBody>
      </p:sp>
      <p:pic>
        <p:nvPicPr>
          <p:cNvPr id="309" name="Google Shape;309;p20" descr="arrow-right"/>
          <p:cNvPicPr preferRelativeResize="0"/>
          <p:nvPr/>
        </p:nvPicPr>
        <p:blipFill rotWithShape="1">
          <a:blip r:embed="rId3">
            <a:alphaModFix/>
          </a:blip>
          <a:srcRect/>
          <a:stretch/>
        </p:blipFill>
        <p:spPr>
          <a:xfrm>
            <a:off x="2235140" y="2553891"/>
            <a:ext cx="406389" cy="203195"/>
          </a:xfrm>
          <a:prstGeom prst="rect">
            <a:avLst/>
          </a:prstGeom>
          <a:noFill/>
          <a:ln>
            <a:noFill/>
          </a:ln>
        </p:spPr>
      </p:pic>
      <p:sp>
        <p:nvSpPr>
          <p:cNvPr id="310" name="Google Shape;310;p20"/>
          <p:cNvSpPr/>
          <p:nvPr/>
        </p:nvSpPr>
        <p:spPr>
          <a:xfrm>
            <a:off x="2793926" y="2471341"/>
            <a:ext cx="597000" cy="368400"/>
          </a:xfrm>
          <a:prstGeom prst="roundRect">
            <a:avLst>
              <a:gd name="adj" fmla="val 20690"/>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500"/>
              <a:buFont typeface="JetBrains Mono"/>
              <a:buNone/>
            </a:pPr>
            <a:r>
              <a:rPr lang="en-US" sz="1500" b="0" i="0" u="none" strike="noStrike" cap="none">
                <a:solidFill>
                  <a:srgbClr val="FBF3EC"/>
                </a:solidFill>
                <a:latin typeface="JetBrains Mono"/>
                <a:ea typeface="JetBrains Mono"/>
                <a:cs typeface="JetBrains Mono"/>
                <a:sym typeface="JetBrains Mono"/>
              </a:rPr>
              <a:t>кот</a:t>
            </a:r>
            <a:endParaRPr sz="1500" b="0" i="0" u="none" strike="noStrike" cap="none">
              <a:solidFill>
                <a:schemeClr val="dk1"/>
              </a:solidFill>
              <a:latin typeface="Golos Text"/>
              <a:ea typeface="Golos Text"/>
              <a:cs typeface="Golos Text"/>
              <a:sym typeface="Golos Text"/>
            </a:endParaRPr>
          </a:p>
        </p:txBody>
      </p:sp>
      <p:sp>
        <p:nvSpPr>
          <p:cNvPr id="311" name="Google Shape;311;p20"/>
          <p:cNvSpPr/>
          <p:nvPr/>
        </p:nvSpPr>
        <p:spPr>
          <a:xfrm>
            <a:off x="3454308" y="24713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о</a:t>
            </a:r>
            <a:endParaRPr sz="1500" b="0" i="0" u="none" strike="noStrike" cap="none">
              <a:solidFill>
                <a:schemeClr val="dk1"/>
              </a:solidFill>
              <a:latin typeface="Golos Text"/>
              <a:ea typeface="Golos Text"/>
              <a:cs typeface="Golos Text"/>
              <a:sym typeface="Golos Text"/>
            </a:endParaRPr>
          </a:p>
        </p:txBody>
      </p:sp>
      <p:sp>
        <p:nvSpPr>
          <p:cNvPr id="312" name="Google Shape;312;p20"/>
          <p:cNvSpPr/>
          <p:nvPr/>
        </p:nvSpPr>
        <p:spPr>
          <a:xfrm>
            <a:off x="3886096" y="24713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в</a:t>
            </a:r>
            <a:endParaRPr sz="1500" b="0" i="0" u="none" strike="noStrike" cap="none">
              <a:solidFill>
                <a:schemeClr val="dk1"/>
              </a:solidFill>
              <a:latin typeface="Golos Text"/>
              <a:ea typeface="Golos Text"/>
              <a:cs typeface="Golos Text"/>
              <a:sym typeface="Golos Text"/>
            </a:endParaRPr>
          </a:p>
        </p:txBody>
      </p:sp>
      <p:sp>
        <p:nvSpPr>
          <p:cNvPr id="313" name="Google Shape;313;p20"/>
          <p:cNvSpPr/>
          <p:nvPr/>
        </p:nvSpPr>
        <p:spPr>
          <a:xfrm>
            <a:off x="5740247" y="2522141"/>
            <a:ext cx="58077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знакомая основа и отдельные символы</a:t>
            </a:r>
            <a:endParaRPr sz="1500" b="0" i="0" u="none" strike="noStrike" cap="none">
              <a:solidFill>
                <a:schemeClr val="dk1"/>
              </a:solidFill>
              <a:latin typeface="Golos Text"/>
              <a:ea typeface="Golos Text"/>
              <a:cs typeface="Golos Text"/>
              <a:sym typeface="Golos Text"/>
            </a:endParaRPr>
          </a:p>
        </p:txBody>
      </p:sp>
      <p:sp>
        <p:nvSpPr>
          <p:cNvPr id="314" name="Google Shape;314;p20"/>
          <p:cNvSpPr/>
          <p:nvPr/>
        </p:nvSpPr>
        <p:spPr>
          <a:xfrm>
            <a:off x="812778" y="3023791"/>
            <a:ext cx="13209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JetBrains Mono"/>
              <a:buNone/>
            </a:pPr>
            <a:r>
              <a:rPr lang="en-US" sz="2000" b="0" i="0" u="none" strike="noStrike" cap="none">
                <a:solidFill>
                  <a:srgbClr val="1B2430"/>
                </a:solidFill>
                <a:latin typeface="JetBrains Mono"/>
                <a:ea typeface="JetBrains Mono"/>
                <a:cs typeface="JetBrains Mono"/>
                <a:sym typeface="JetBrains Mono"/>
              </a:rPr>
              <a:t>ротик</a:t>
            </a:r>
            <a:endParaRPr sz="2000" b="0" i="0" u="none" strike="noStrike" cap="none">
              <a:solidFill>
                <a:schemeClr val="dk1"/>
              </a:solidFill>
              <a:latin typeface="Golos Text"/>
              <a:ea typeface="Golos Text"/>
              <a:cs typeface="Golos Text"/>
              <a:sym typeface="Golos Text"/>
            </a:endParaRPr>
          </a:p>
        </p:txBody>
      </p:sp>
      <p:pic>
        <p:nvPicPr>
          <p:cNvPr id="315" name="Google Shape;315;p20" descr="arrow-right"/>
          <p:cNvPicPr preferRelativeResize="0"/>
          <p:nvPr/>
        </p:nvPicPr>
        <p:blipFill rotWithShape="1">
          <a:blip r:embed="rId3">
            <a:alphaModFix/>
          </a:blip>
          <a:srcRect/>
          <a:stretch/>
        </p:blipFill>
        <p:spPr>
          <a:xfrm>
            <a:off x="2235140" y="3099991"/>
            <a:ext cx="406389" cy="203195"/>
          </a:xfrm>
          <a:prstGeom prst="rect">
            <a:avLst/>
          </a:prstGeom>
          <a:noFill/>
          <a:ln>
            <a:noFill/>
          </a:ln>
        </p:spPr>
      </p:pic>
      <p:sp>
        <p:nvSpPr>
          <p:cNvPr id="316" name="Google Shape;316;p20"/>
          <p:cNvSpPr/>
          <p:nvPr/>
        </p:nvSpPr>
        <p:spPr>
          <a:xfrm>
            <a:off x="2793926" y="3017441"/>
            <a:ext cx="597000" cy="368400"/>
          </a:xfrm>
          <a:prstGeom prst="roundRect">
            <a:avLst>
              <a:gd name="adj" fmla="val 20690"/>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500"/>
              <a:buFont typeface="JetBrains Mono"/>
              <a:buNone/>
            </a:pPr>
            <a:r>
              <a:rPr lang="en-US" sz="1500" b="0" i="0" u="none" strike="noStrike" cap="none">
                <a:solidFill>
                  <a:srgbClr val="FBF3EC"/>
                </a:solidFill>
                <a:latin typeface="JetBrains Mono"/>
                <a:ea typeface="JetBrains Mono"/>
                <a:cs typeface="JetBrains Mono"/>
                <a:sym typeface="JetBrains Mono"/>
              </a:rPr>
              <a:t>рот</a:t>
            </a:r>
            <a:endParaRPr sz="1500" b="0" i="0" u="none" strike="noStrike" cap="none">
              <a:solidFill>
                <a:schemeClr val="dk1"/>
              </a:solidFill>
              <a:latin typeface="Golos Text"/>
              <a:ea typeface="Golos Text"/>
              <a:cs typeface="Golos Text"/>
              <a:sym typeface="Golos Text"/>
            </a:endParaRPr>
          </a:p>
        </p:txBody>
      </p:sp>
      <p:sp>
        <p:nvSpPr>
          <p:cNvPr id="317" name="Google Shape;317;p20"/>
          <p:cNvSpPr/>
          <p:nvPr/>
        </p:nvSpPr>
        <p:spPr>
          <a:xfrm>
            <a:off x="3454308" y="30174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и</a:t>
            </a:r>
            <a:endParaRPr sz="1500" b="0" i="0" u="none" strike="noStrike" cap="none">
              <a:solidFill>
                <a:schemeClr val="dk1"/>
              </a:solidFill>
              <a:latin typeface="Golos Text"/>
              <a:ea typeface="Golos Text"/>
              <a:cs typeface="Golos Text"/>
              <a:sym typeface="Golos Text"/>
            </a:endParaRPr>
          </a:p>
        </p:txBody>
      </p:sp>
      <p:sp>
        <p:nvSpPr>
          <p:cNvPr id="318" name="Google Shape;318;p20"/>
          <p:cNvSpPr/>
          <p:nvPr/>
        </p:nvSpPr>
        <p:spPr>
          <a:xfrm>
            <a:off x="3886096" y="30174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к</a:t>
            </a:r>
            <a:endParaRPr sz="1500" b="0" i="0" u="none" strike="noStrike" cap="none">
              <a:solidFill>
                <a:schemeClr val="dk1"/>
              </a:solidFill>
              <a:latin typeface="Golos Text"/>
              <a:ea typeface="Golos Text"/>
              <a:cs typeface="Golos Text"/>
              <a:sym typeface="Golos Text"/>
            </a:endParaRPr>
          </a:p>
        </p:txBody>
      </p:sp>
      <p:sp>
        <p:nvSpPr>
          <p:cNvPr id="319" name="Google Shape;319;p20"/>
          <p:cNvSpPr/>
          <p:nvPr/>
        </p:nvSpPr>
        <p:spPr>
          <a:xfrm>
            <a:off x="5740247" y="3068241"/>
            <a:ext cx="58077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слова не было в корпусе, но &lt;UNK&gt; не нужен</a:t>
            </a:r>
            <a:endParaRPr sz="1500" b="0" i="0" u="none" strike="noStrike" cap="none">
              <a:solidFill>
                <a:schemeClr val="dk1"/>
              </a:solidFill>
              <a:latin typeface="Golos Text"/>
              <a:ea typeface="Golos Text"/>
              <a:cs typeface="Golos Text"/>
              <a:sym typeface="Golos Text"/>
            </a:endParaRPr>
          </a:p>
        </p:txBody>
      </p:sp>
      <p:sp>
        <p:nvSpPr>
          <p:cNvPr id="320" name="Google Shape;320;p20"/>
          <p:cNvSpPr/>
          <p:nvPr/>
        </p:nvSpPr>
        <p:spPr>
          <a:xfrm>
            <a:off x="812778" y="3569891"/>
            <a:ext cx="13209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JetBrains Mono"/>
              <a:buNone/>
            </a:pPr>
            <a:r>
              <a:rPr lang="en-US" sz="2000" b="0" i="0" u="none" strike="noStrike" cap="none">
                <a:solidFill>
                  <a:srgbClr val="1B2430"/>
                </a:solidFill>
                <a:latin typeface="JetBrains Mono"/>
                <a:ea typeface="JetBrains Mono"/>
                <a:cs typeface="JetBrains Mono"/>
                <a:sym typeface="JetBrains Mono"/>
              </a:rPr>
              <a:t>коты</a:t>
            </a:r>
            <a:endParaRPr sz="2000" b="0" i="0" u="none" strike="noStrike" cap="none">
              <a:solidFill>
                <a:schemeClr val="dk1"/>
              </a:solidFill>
              <a:latin typeface="Golos Text"/>
              <a:ea typeface="Golos Text"/>
              <a:cs typeface="Golos Text"/>
              <a:sym typeface="Golos Text"/>
            </a:endParaRPr>
          </a:p>
        </p:txBody>
      </p:sp>
      <p:pic>
        <p:nvPicPr>
          <p:cNvPr id="321" name="Google Shape;321;p20" descr="arrow-right"/>
          <p:cNvPicPr preferRelativeResize="0"/>
          <p:nvPr/>
        </p:nvPicPr>
        <p:blipFill rotWithShape="1">
          <a:blip r:embed="rId3">
            <a:alphaModFix/>
          </a:blip>
          <a:srcRect/>
          <a:stretch/>
        </p:blipFill>
        <p:spPr>
          <a:xfrm>
            <a:off x="2235140" y="3646091"/>
            <a:ext cx="406389" cy="203195"/>
          </a:xfrm>
          <a:prstGeom prst="rect">
            <a:avLst/>
          </a:prstGeom>
          <a:noFill/>
          <a:ln>
            <a:noFill/>
          </a:ln>
        </p:spPr>
      </p:pic>
      <p:sp>
        <p:nvSpPr>
          <p:cNvPr id="322" name="Google Shape;322;p20"/>
          <p:cNvSpPr/>
          <p:nvPr/>
        </p:nvSpPr>
        <p:spPr>
          <a:xfrm>
            <a:off x="2793926" y="3563541"/>
            <a:ext cx="711300" cy="368400"/>
          </a:xfrm>
          <a:prstGeom prst="roundRect">
            <a:avLst>
              <a:gd name="adj" fmla="val 20690"/>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500"/>
              <a:buFont typeface="JetBrains Mono"/>
              <a:buNone/>
            </a:pPr>
            <a:r>
              <a:rPr lang="en-US" sz="1500" b="0" i="0" u="none" strike="noStrike" cap="none">
                <a:solidFill>
                  <a:srgbClr val="FBF3EC"/>
                </a:solidFill>
                <a:latin typeface="JetBrains Mono"/>
                <a:ea typeface="JetBrains Mono"/>
                <a:cs typeface="JetBrains Mono"/>
                <a:sym typeface="JetBrains Mono"/>
              </a:rPr>
              <a:t>коты</a:t>
            </a:r>
            <a:endParaRPr sz="1500" b="0" i="0" u="none" strike="noStrike" cap="none">
              <a:solidFill>
                <a:schemeClr val="dk1"/>
              </a:solidFill>
              <a:latin typeface="Golos Text"/>
              <a:ea typeface="Golos Text"/>
              <a:cs typeface="Golos Text"/>
              <a:sym typeface="Golos Text"/>
            </a:endParaRPr>
          </a:p>
        </p:txBody>
      </p:sp>
      <p:sp>
        <p:nvSpPr>
          <p:cNvPr id="323" name="Google Shape;323;p20"/>
          <p:cNvSpPr/>
          <p:nvPr/>
        </p:nvSpPr>
        <p:spPr>
          <a:xfrm>
            <a:off x="5740247" y="3614341"/>
            <a:ext cx="58077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частое слово — один токен</a:t>
            </a:r>
            <a:endParaRPr sz="1500" b="0" i="0" u="none" strike="noStrike" cap="none">
              <a:solidFill>
                <a:schemeClr val="dk1"/>
              </a:solidFill>
              <a:latin typeface="Golos Text"/>
              <a:ea typeface="Golos Text"/>
              <a:cs typeface="Golos Text"/>
              <a:sym typeface="Golos Text"/>
            </a:endParaRPr>
          </a:p>
        </p:txBody>
      </p:sp>
      <p:sp>
        <p:nvSpPr>
          <p:cNvPr id="324" name="Google Shape;324;p20"/>
          <p:cNvSpPr/>
          <p:nvPr/>
        </p:nvSpPr>
        <p:spPr>
          <a:xfrm>
            <a:off x="812778" y="4115991"/>
            <a:ext cx="13209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JetBrains Mono"/>
              <a:buNone/>
            </a:pPr>
            <a:r>
              <a:rPr lang="en-US" sz="2000" b="0" i="0" u="none" strike="noStrike" cap="none">
                <a:solidFill>
                  <a:srgbClr val="1B2430"/>
                </a:solidFill>
                <a:latin typeface="JetBrains Mono"/>
                <a:ea typeface="JetBrains Mono"/>
                <a:cs typeface="JetBrains Mono"/>
                <a:sym typeface="JetBrains Mono"/>
              </a:rPr>
              <a:t>торт</a:t>
            </a:r>
            <a:endParaRPr sz="2000" b="0" i="0" u="none" strike="noStrike" cap="none">
              <a:solidFill>
                <a:schemeClr val="dk1"/>
              </a:solidFill>
              <a:latin typeface="Golos Text"/>
              <a:ea typeface="Golos Text"/>
              <a:cs typeface="Golos Text"/>
              <a:sym typeface="Golos Text"/>
            </a:endParaRPr>
          </a:p>
        </p:txBody>
      </p:sp>
      <p:pic>
        <p:nvPicPr>
          <p:cNvPr id="325" name="Google Shape;325;p20" descr="arrow-right"/>
          <p:cNvPicPr preferRelativeResize="0"/>
          <p:nvPr/>
        </p:nvPicPr>
        <p:blipFill rotWithShape="1">
          <a:blip r:embed="rId3">
            <a:alphaModFix/>
          </a:blip>
          <a:srcRect/>
          <a:stretch/>
        </p:blipFill>
        <p:spPr>
          <a:xfrm>
            <a:off x="2235140" y="4192191"/>
            <a:ext cx="406389" cy="203195"/>
          </a:xfrm>
          <a:prstGeom prst="rect">
            <a:avLst/>
          </a:prstGeom>
          <a:noFill/>
          <a:ln>
            <a:noFill/>
          </a:ln>
        </p:spPr>
      </p:pic>
      <p:sp>
        <p:nvSpPr>
          <p:cNvPr id="326" name="Google Shape;326;p20"/>
          <p:cNvSpPr/>
          <p:nvPr/>
        </p:nvSpPr>
        <p:spPr>
          <a:xfrm>
            <a:off x="2793926" y="41096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т</a:t>
            </a:r>
            <a:endParaRPr sz="1500" b="0" i="0" u="none" strike="noStrike" cap="none">
              <a:solidFill>
                <a:schemeClr val="dk1"/>
              </a:solidFill>
              <a:latin typeface="Golos Text"/>
              <a:ea typeface="Golos Text"/>
              <a:cs typeface="Golos Text"/>
              <a:sym typeface="Golos Text"/>
            </a:endParaRPr>
          </a:p>
        </p:txBody>
      </p:sp>
      <p:sp>
        <p:nvSpPr>
          <p:cNvPr id="327" name="Google Shape;327;p20"/>
          <p:cNvSpPr/>
          <p:nvPr/>
        </p:nvSpPr>
        <p:spPr>
          <a:xfrm>
            <a:off x="3225714" y="41096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о</a:t>
            </a:r>
            <a:endParaRPr sz="1500" b="0" i="0" u="none" strike="noStrike" cap="none">
              <a:solidFill>
                <a:schemeClr val="dk1"/>
              </a:solidFill>
              <a:latin typeface="Golos Text"/>
              <a:ea typeface="Golos Text"/>
              <a:cs typeface="Golos Text"/>
              <a:sym typeface="Golos Text"/>
            </a:endParaRPr>
          </a:p>
        </p:txBody>
      </p:sp>
      <p:sp>
        <p:nvSpPr>
          <p:cNvPr id="328" name="Google Shape;328;p20"/>
          <p:cNvSpPr/>
          <p:nvPr/>
        </p:nvSpPr>
        <p:spPr>
          <a:xfrm>
            <a:off x="3657503" y="41096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р</a:t>
            </a:r>
            <a:endParaRPr sz="1500" b="0" i="0" u="none" strike="noStrike" cap="none">
              <a:solidFill>
                <a:schemeClr val="dk1"/>
              </a:solidFill>
              <a:latin typeface="Golos Text"/>
              <a:ea typeface="Golos Text"/>
              <a:cs typeface="Golos Text"/>
              <a:sym typeface="Golos Text"/>
            </a:endParaRPr>
          </a:p>
        </p:txBody>
      </p:sp>
      <p:sp>
        <p:nvSpPr>
          <p:cNvPr id="329" name="Google Shape;329;p20"/>
          <p:cNvSpPr/>
          <p:nvPr/>
        </p:nvSpPr>
        <p:spPr>
          <a:xfrm>
            <a:off x="4089291" y="4109641"/>
            <a:ext cx="368400" cy="368400"/>
          </a:xfrm>
          <a:prstGeom prst="roundRect">
            <a:avLst>
              <a:gd name="adj" fmla="val 2069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т</a:t>
            </a:r>
            <a:endParaRPr sz="1500" b="0" i="0" u="none" strike="noStrike" cap="none">
              <a:solidFill>
                <a:schemeClr val="dk1"/>
              </a:solidFill>
              <a:latin typeface="Golos Text"/>
              <a:ea typeface="Golos Text"/>
              <a:cs typeface="Golos Text"/>
              <a:sym typeface="Golos Text"/>
            </a:endParaRPr>
          </a:p>
        </p:txBody>
      </p:sp>
      <p:sp>
        <p:nvSpPr>
          <p:cNvPr id="330" name="Google Shape;330;p20"/>
          <p:cNvSpPr/>
          <p:nvPr/>
        </p:nvSpPr>
        <p:spPr>
          <a:xfrm>
            <a:off x="5740247" y="4160441"/>
            <a:ext cx="58077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ни одно слияние не подошло — распалось на символы</a:t>
            </a:r>
            <a:endParaRPr sz="15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5"/>
        <p:cNvGrpSpPr/>
        <p:nvPr/>
      </p:nvGrpSpPr>
      <p:grpSpPr>
        <a:xfrm>
          <a:off x="0" y="0"/>
          <a:ext cx="0" cy="0"/>
          <a:chOff x="0" y="0"/>
          <a:chExt cx="0" cy="0"/>
        </a:xfrm>
      </p:grpSpPr>
      <p:sp>
        <p:nvSpPr>
          <p:cNvPr id="336" name="Google Shape;336;p21"/>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337" name="Google Shape;337;p21"/>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Семейство subword-токенизаторов</a:t>
            </a:r>
            <a:endParaRPr sz="3200"/>
          </a:p>
        </p:txBody>
      </p:sp>
      <p:graphicFrame>
        <p:nvGraphicFramePr>
          <p:cNvPr id="338" name="Google Shape;338;p21"/>
          <p:cNvGraphicFramePr/>
          <p:nvPr/>
        </p:nvGraphicFramePr>
        <p:xfrm>
          <a:off x="825478" y="1861741"/>
          <a:ext cx="10553425" cy="3031434"/>
        </p:xfrm>
        <a:graphic>
          <a:graphicData uri="http://schemas.openxmlformats.org/drawingml/2006/table">
            <a:tbl>
              <a:tblPr>
                <a:noFill/>
                <a:tableStyleId>{06309EA5-3D61-4596-AA48-24314E58F0C3}</a:tableStyleId>
              </a:tblPr>
              <a:tblGrid>
                <a:gridCol w="2005150">
                  <a:extLst>
                    <a:ext uri="{9D8B030D-6E8A-4147-A177-3AD203B41FA5}">
                      <a16:colId xmlns:a16="http://schemas.microsoft.com/office/drawing/2014/main" val="20000"/>
                    </a:ext>
                  </a:extLst>
                </a:gridCol>
                <a:gridCol w="2849425">
                  <a:extLst>
                    <a:ext uri="{9D8B030D-6E8A-4147-A177-3AD203B41FA5}">
                      <a16:colId xmlns:a16="http://schemas.microsoft.com/office/drawing/2014/main" val="20001"/>
                    </a:ext>
                  </a:extLst>
                </a:gridCol>
                <a:gridCol w="2849425">
                  <a:extLst>
                    <a:ext uri="{9D8B030D-6E8A-4147-A177-3AD203B41FA5}">
                      <a16:colId xmlns:a16="http://schemas.microsoft.com/office/drawing/2014/main" val="20002"/>
                    </a:ext>
                  </a:extLst>
                </a:gridCol>
                <a:gridCol w="2849425">
                  <a:extLst>
                    <a:ext uri="{9D8B030D-6E8A-4147-A177-3AD203B41FA5}">
                      <a16:colId xmlns:a16="http://schemas.microsoft.com/office/drawing/2014/main" val="20003"/>
                    </a:ext>
                  </a:extLst>
                </a:gridCol>
              </a:tblGrid>
              <a:tr h="385950">
                <a:tc>
                  <a:txBody>
                    <a:bodyPr/>
                    <a:lstStyle/>
                    <a:p>
                      <a:pPr marL="0" marR="0" lvl="0" indent="0" algn="l" rtl="0">
                        <a:lnSpc>
                          <a:spcPct val="140000"/>
                        </a:lnSpc>
                        <a:spcBef>
                          <a:spcPts val="0"/>
                        </a:spcBef>
                        <a:spcAft>
                          <a:spcPts val="0"/>
                        </a:spcAft>
                        <a:buClr>
                          <a:schemeClr val="dk1"/>
                        </a:buClr>
                        <a:buSzPts val="1400"/>
                        <a:buFont typeface="Golos Text"/>
                        <a:buNone/>
                      </a:pP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BPE</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WordPiece</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Unigram LM</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extLst>
                  <a:ext uri="{0D108BD9-81ED-4DB2-BD59-A6C34878D82A}">
                    <a16:rowId xmlns:a16="http://schemas.microsoft.com/office/drawing/2014/main" val="10000"/>
                  </a:ext>
                </a:extLst>
              </a:tr>
              <a:tr h="8836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Идея</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Сливает самую частую пару</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Сливает пару, сильнее всего повышающую правдоподобие</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Начинает с большого словаря и удаляет лишнее</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1"/>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Критерий</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freq(a, b)</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freq(ab) / (freq(a) · freq(b))</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Потеря правдоподобия без токена</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2"/>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Новое слово</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Слияния по порядку</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Жадно, самый длинный префикс</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Самое вероятное разбиение</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3"/>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Где</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GPT-2…4, RoBERTa, Llama 3</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BERT, DistilBERT</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T5, ALBERT, XLNet</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39" name="Google Shape;339;p21"/>
          <p:cNvSpPr/>
          <p:nvPr/>
        </p:nvSpPr>
        <p:spPr>
          <a:xfrm>
            <a:off x="812778" y="5040908"/>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1" i="0" u="none" strike="noStrike" cap="none">
                <a:solidFill>
                  <a:srgbClr val="646B78"/>
                </a:solidFill>
                <a:latin typeface="Golos Text"/>
                <a:ea typeface="Golos Text"/>
                <a:cs typeface="Golos Text"/>
                <a:sym typeface="Golos Text"/>
              </a:rPr>
              <a:t>SentencePiece</a:t>
            </a:r>
            <a:r>
              <a:rPr lang="en-US" sz="1200" b="0" i="0" u="none" strike="noStrike" cap="none">
                <a:solidFill>
                  <a:srgbClr val="646B78"/>
                </a:solidFill>
                <a:latin typeface="Golos Text"/>
                <a:ea typeface="Golos Text"/>
                <a:cs typeface="Golos Text"/>
                <a:sym typeface="Golos Text"/>
              </a:rPr>
              <a:t> — библиотека, а не алгоритм: внутри BPE или Unigram, работает с сырым текстом, пробел — обычный символ «▁»</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4"/>
        <p:cNvGrpSpPr/>
        <p:nvPr/>
      </p:nvGrpSpPr>
      <p:grpSpPr>
        <a:xfrm>
          <a:off x="0" y="0"/>
          <a:ext cx="0" cy="0"/>
          <a:chOff x="0" y="0"/>
          <a:chExt cx="0" cy="0"/>
        </a:xfrm>
      </p:grpSpPr>
      <p:sp>
        <p:nvSpPr>
          <p:cNvPr id="345" name="Google Shape;345;p22"/>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346" name="Google Shape;346;p22"/>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Byte-level BPE: незнакомых символов нет</a:t>
            </a:r>
            <a:endParaRPr sz="3200"/>
          </a:p>
        </p:txBody>
      </p:sp>
      <p:sp>
        <p:nvSpPr>
          <p:cNvPr id="347" name="Google Shape;347;p22"/>
          <p:cNvSpPr/>
          <p:nvPr/>
        </p:nvSpPr>
        <p:spPr>
          <a:xfrm>
            <a:off x="812778" y="1950641"/>
            <a:ext cx="52323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0" i="0" u="none" strike="noStrike" cap="none">
                <a:solidFill>
                  <a:srgbClr val="1B2430"/>
                </a:solidFill>
                <a:latin typeface="Golos Text"/>
                <a:ea typeface="Golos Text"/>
                <a:cs typeface="Golos Text"/>
                <a:sym typeface="Golos Text"/>
              </a:rPr>
              <a:t>Базовый алфавит — не символы Юникода, а </a:t>
            </a:r>
            <a:r>
              <a:rPr lang="en-US" sz="1500" b="1" i="0" u="none" strike="noStrike" cap="none">
                <a:solidFill>
                  <a:srgbClr val="1B2430"/>
                </a:solidFill>
                <a:latin typeface="Golos Text"/>
                <a:ea typeface="Golos Text"/>
                <a:cs typeface="Golos Text"/>
                <a:sym typeface="Golos Text"/>
              </a:rPr>
              <a:t>256 байтов UTF-8</a:t>
            </a:r>
            <a:r>
              <a:rPr lang="en-US" sz="1500" b="0" i="0" u="none" strike="noStrike" cap="none">
                <a:solidFill>
                  <a:srgbClr val="1B2430"/>
                </a:solidFill>
                <a:latin typeface="Golos Text"/>
                <a:ea typeface="Golos Text"/>
                <a:cs typeface="Golos Text"/>
                <a:sym typeface="Golos Text"/>
              </a:rPr>
              <a:t>. Любая строка записывается байтами, поэтому &lt;UNK&gt; не нужен — даже для эмодзи.</a:t>
            </a:r>
            <a:endParaRPr sz="1500" b="0" i="0" u="none" strike="noStrike" cap="none">
              <a:solidFill>
                <a:schemeClr val="dk1"/>
              </a:solidFill>
              <a:latin typeface="Golos Text"/>
              <a:ea typeface="Golos Text"/>
              <a:cs typeface="Golos Text"/>
              <a:sym typeface="Golos Text"/>
            </a:endParaRPr>
          </a:p>
        </p:txBody>
      </p:sp>
      <p:sp>
        <p:nvSpPr>
          <p:cNvPr id="348" name="Google Shape;348;p22"/>
          <p:cNvSpPr/>
          <p:nvPr/>
        </p:nvSpPr>
        <p:spPr>
          <a:xfrm>
            <a:off x="812778" y="2953941"/>
            <a:ext cx="5079900" cy="1251900"/>
          </a:xfrm>
          <a:prstGeom prst="roundRect">
            <a:avLst>
              <a:gd name="adj" fmla="val 8115"/>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1015973" y="3157141"/>
            <a:ext cx="48138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300"/>
              <a:buFont typeface="JetBrains Mono"/>
              <a:buNone/>
            </a:pPr>
            <a:r>
              <a:rPr lang="en-US" sz="1300" b="0" i="0" u="none" strike="noStrike" cap="none">
                <a:solidFill>
                  <a:srgbClr val="E8E4DA"/>
                </a:solidFill>
                <a:latin typeface="JetBrains Mono"/>
                <a:ea typeface="JetBrains Mono"/>
                <a:cs typeface="JetBrains Mono"/>
                <a:sym typeface="JetBrains Mono"/>
              </a:rPr>
              <a:t>«Ж»     → U+0416 → байты </a:t>
            </a:r>
            <a:r>
              <a:rPr lang="en-US" sz="1300" b="0" i="0" u="none" strike="noStrike" cap="none">
                <a:solidFill>
                  <a:srgbClr val="F0905A"/>
                </a:solidFill>
                <a:latin typeface="JetBrains Mono"/>
                <a:ea typeface="JetBrains Mono"/>
                <a:cs typeface="JetBrains Mono"/>
                <a:sym typeface="JetBrains Mono"/>
              </a:rPr>
              <a:t>D0 96</a:t>
            </a:r>
            <a:endParaRPr sz="1300" b="0" i="0" u="none" strike="noStrike" cap="none">
              <a:solidFill>
                <a:schemeClr val="dk1"/>
              </a:solidFill>
              <a:latin typeface="Golos Text"/>
              <a:ea typeface="Golos Text"/>
              <a:cs typeface="Golos Text"/>
              <a:sym typeface="Golos Text"/>
            </a:endParaRPr>
          </a:p>
        </p:txBody>
      </p:sp>
      <p:sp>
        <p:nvSpPr>
          <p:cNvPr id="350" name="Google Shape;350;p22"/>
          <p:cNvSpPr/>
          <p:nvPr/>
        </p:nvSpPr>
        <p:spPr>
          <a:xfrm>
            <a:off x="1015973" y="3464421"/>
            <a:ext cx="48138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300"/>
              <a:buFont typeface="JetBrains Mono"/>
              <a:buNone/>
            </a:pPr>
            <a:r>
              <a:rPr lang="en-US" sz="1300" b="0" i="0" u="none" strike="noStrike" cap="none">
                <a:solidFill>
                  <a:srgbClr val="E8E4DA"/>
                </a:solidFill>
                <a:latin typeface="JetBrains Mono"/>
                <a:ea typeface="JetBrains Mono"/>
                <a:cs typeface="JetBrains Mono"/>
                <a:sym typeface="JetBrains Mono"/>
              </a:rPr>
              <a:t>Привет → 6 букв → </a:t>
            </a:r>
            <a:r>
              <a:rPr lang="en-US" sz="1300" b="0" i="0" u="none" strike="noStrike" cap="none">
                <a:solidFill>
                  <a:srgbClr val="F0905A"/>
                </a:solidFill>
                <a:latin typeface="JetBrains Mono"/>
                <a:ea typeface="JetBrains Mono"/>
                <a:cs typeface="JetBrains Mono"/>
                <a:sym typeface="JetBrains Mono"/>
              </a:rPr>
              <a:t>12 байтов</a:t>
            </a:r>
            <a:endParaRPr sz="1300" b="0" i="0" u="none" strike="noStrike" cap="none">
              <a:solidFill>
                <a:schemeClr val="dk1"/>
              </a:solidFill>
              <a:latin typeface="Golos Text"/>
              <a:ea typeface="Golos Text"/>
              <a:cs typeface="Golos Text"/>
              <a:sym typeface="Golos Text"/>
            </a:endParaRPr>
          </a:p>
        </p:txBody>
      </p:sp>
      <p:sp>
        <p:nvSpPr>
          <p:cNvPr id="351" name="Google Shape;351;p22"/>
          <p:cNvSpPr/>
          <p:nvPr/>
        </p:nvSpPr>
        <p:spPr>
          <a:xfrm>
            <a:off x="1015973" y="3771702"/>
            <a:ext cx="48138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300"/>
              <a:buFont typeface="JetBrains Mono"/>
              <a:buNone/>
            </a:pPr>
            <a:r>
              <a:rPr lang="en-US" sz="1300" b="0" i="0" u="none" strike="noStrike" cap="none">
                <a:solidFill>
                  <a:srgbClr val="E8E4DA"/>
                </a:solidFill>
                <a:latin typeface="JetBrains Mono"/>
                <a:ea typeface="JetBrains Mono"/>
                <a:cs typeface="JetBrains Mono"/>
                <a:sym typeface="JetBrains Mono"/>
              </a:rPr>
              <a:t>Hello  → 5 букв → </a:t>
            </a:r>
            <a:r>
              <a:rPr lang="en-US" sz="1300" b="0" i="0" u="none" strike="noStrike" cap="none">
                <a:solidFill>
                  <a:srgbClr val="F0905A"/>
                </a:solidFill>
                <a:latin typeface="JetBrains Mono"/>
                <a:ea typeface="JetBrains Mono"/>
                <a:cs typeface="JetBrains Mono"/>
                <a:sym typeface="JetBrains Mono"/>
              </a:rPr>
              <a:t>5 байтов</a:t>
            </a:r>
            <a:endParaRPr sz="1300" b="0" i="0" u="none" strike="noStrike" cap="none">
              <a:solidFill>
                <a:schemeClr val="dk1"/>
              </a:solidFill>
              <a:latin typeface="Golos Text"/>
              <a:ea typeface="Golos Text"/>
              <a:cs typeface="Golos Text"/>
              <a:sym typeface="Golos Text"/>
            </a:endParaRPr>
          </a:p>
        </p:txBody>
      </p:sp>
      <p:sp>
        <p:nvSpPr>
          <p:cNvPr id="352" name="Google Shape;352;p22"/>
          <p:cNvSpPr/>
          <p:nvPr/>
        </p:nvSpPr>
        <p:spPr>
          <a:xfrm>
            <a:off x="812778" y="4409182"/>
            <a:ext cx="52323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Если русского в корпусе токенизатора мало, слияний для кириллицы мало — и слова распадаются на много токенов.</a:t>
            </a:r>
            <a:endParaRPr sz="1500" b="0" i="0" u="none" strike="noStrike" cap="none">
              <a:solidFill>
                <a:schemeClr val="dk1"/>
              </a:solidFill>
              <a:latin typeface="Golos Text"/>
              <a:ea typeface="Golos Text"/>
              <a:cs typeface="Golos Text"/>
              <a:sym typeface="Golos Text"/>
            </a:endParaRPr>
          </a:p>
        </p:txBody>
      </p:sp>
      <p:sp>
        <p:nvSpPr>
          <p:cNvPr id="353" name="Google Shape;353;p22"/>
          <p:cNvSpPr/>
          <p:nvPr/>
        </p:nvSpPr>
        <p:spPr>
          <a:xfrm>
            <a:off x="6299032" y="1950641"/>
            <a:ext cx="52323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Размеры словарей</a:t>
            </a:r>
            <a:endParaRPr sz="2000" b="0" i="0" u="none" strike="noStrike" cap="none">
              <a:solidFill>
                <a:schemeClr val="dk1"/>
              </a:solidFill>
              <a:latin typeface="Golos Text"/>
              <a:ea typeface="Golos Text"/>
              <a:cs typeface="Golos Text"/>
              <a:sym typeface="Golos Text"/>
            </a:endParaRPr>
          </a:p>
        </p:txBody>
      </p:sp>
      <p:graphicFrame>
        <p:nvGraphicFramePr>
          <p:cNvPr id="354" name="Google Shape;354;p22"/>
          <p:cNvGraphicFramePr/>
          <p:nvPr/>
        </p:nvGraphicFramePr>
        <p:xfrm>
          <a:off x="6311732" y="2420541"/>
          <a:ext cx="5067150" cy="2236674"/>
        </p:xfrm>
        <a:graphic>
          <a:graphicData uri="http://schemas.openxmlformats.org/drawingml/2006/table">
            <a:tbl>
              <a:tblPr>
                <a:noFill/>
                <a:tableStyleId>{06309EA5-3D61-4596-AA48-24314E58F0C3}</a:tableStyleId>
              </a:tblPr>
              <a:tblGrid>
                <a:gridCol w="1722825">
                  <a:extLst>
                    <a:ext uri="{9D8B030D-6E8A-4147-A177-3AD203B41FA5}">
                      <a16:colId xmlns:a16="http://schemas.microsoft.com/office/drawing/2014/main" val="20000"/>
                    </a:ext>
                  </a:extLst>
                </a:gridCol>
                <a:gridCol w="1925525">
                  <a:extLst>
                    <a:ext uri="{9D8B030D-6E8A-4147-A177-3AD203B41FA5}">
                      <a16:colId xmlns:a16="http://schemas.microsoft.com/office/drawing/2014/main" val="20001"/>
                    </a:ext>
                  </a:extLst>
                </a:gridCol>
                <a:gridCol w="1418800">
                  <a:extLst>
                    <a:ext uri="{9D8B030D-6E8A-4147-A177-3AD203B41FA5}">
                      <a16:colId xmlns:a16="http://schemas.microsoft.com/office/drawing/2014/main" val="20002"/>
                    </a:ext>
                  </a:extLst>
                </a:gridCol>
              </a:tblGrid>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Модель</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Алгоритм</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Токенов</a:t>
                      </a:r>
                      <a:endParaRPr sz="1400" u="none" strike="noStrike" cap="none">
                        <a:latin typeface="Golos Text"/>
                        <a:ea typeface="Golos Text"/>
                        <a:cs typeface="Golos Text"/>
                        <a:sym typeface="Golos Text"/>
                      </a:endParaRPr>
                    </a:p>
                  </a:txBody>
                  <a:tcPr marL="62225" marR="62225" marT="62225" marB="6222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extLst>
                  <a:ext uri="{0D108BD9-81ED-4DB2-BD59-A6C34878D82A}">
                    <a16:rowId xmlns:a16="http://schemas.microsoft.com/office/drawing/2014/main" val="10000"/>
                  </a:ext>
                </a:extLst>
              </a:tr>
              <a:tr h="63480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BERT-base uncased</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WordPiece</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30 522</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1"/>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GPT-2</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byte-level BPE</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50 257</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2"/>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Llama 3</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byte-level BPE</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128 256</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3"/>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GPT-4o</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byte-level BPE</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 200 тыс.</a:t>
                      </a:r>
                      <a:endParaRPr sz="1400" u="none" strike="noStrike" cap="none">
                        <a:latin typeface="Golos Text"/>
                        <a:ea typeface="Golos Text"/>
                        <a:cs typeface="Golos Text"/>
                        <a:sym typeface="Golos Text"/>
                      </a:endParaRPr>
                    </a:p>
                  </a:txBody>
                  <a:tcPr marL="62225" marR="62225" marT="62225" marB="6222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9"/>
        <p:cNvGrpSpPr/>
        <p:nvPr/>
      </p:nvGrpSpPr>
      <p:grpSpPr>
        <a:xfrm>
          <a:off x="0" y="0"/>
          <a:ext cx="0" cy="0"/>
          <a:chOff x="0" y="0"/>
          <a:chExt cx="0" cy="0"/>
        </a:xfrm>
      </p:grpSpPr>
      <p:sp>
        <p:nvSpPr>
          <p:cNvPr id="360" name="Google Shape;360;p23"/>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361" name="Google Shape;361;p23"/>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Налог на язык: один текст — разная длина</a:t>
            </a:r>
            <a:endParaRPr sz="3200"/>
          </a:p>
        </p:txBody>
      </p:sp>
      <p:sp>
        <p:nvSpPr>
          <p:cNvPr id="362" name="Google Shape;362;p23"/>
          <p:cNvSpPr/>
          <p:nvPr/>
        </p:nvSpPr>
        <p:spPr>
          <a:xfrm>
            <a:off x="812778" y="1950641"/>
            <a:ext cx="3971400" cy="6960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B34A1C"/>
              </a:buClr>
              <a:buSzPts val="4800"/>
              <a:buFont typeface="PT Serif"/>
              <a:buNone/>
            </a:pPr>
            <a:r>
              <a:rPr lang="en-US" sz="4800" b="1" i="0" u="none" strike="noStrike" cap="none">
                <a:solidFill>
                  <a:srgbClr val="B34A1C"/>
                </a:solidFill>
                <a:latin typeface="PT Serif"/>
                <a:ea typeface="PT Serif"/>
                <a:cs typeface="PT Serif"/>
                <a:sym typeface="PT Serif"/>
              </a:rPr>
              <a:t>до 15×</a:t>
            </a:r>
            <a:endParaRPr sz="4800" b="0" i="0" u="none" strike="noStrike" cap="none">
              <a:solidFill>
                <a:schemeClr val="dk1"/>
              </a:solidFill>
              <a:latin typeface="Golos Text"/>
              <a:ea typeface="Golos Text"/>
              <a:cs typeface="Golos Text"/>
              <a:sym typeface="Golos Text"/>
            </a:endParaRPr>
          </a:p>
        </p:txBody>
      </p:sp>
      <p:sp>
        <p:nvSpPr>
          <p:cNvPr id="363" name="Google Shape;363;p23"/>
          <p:cNvSpPr/>
          <p:nvPr/>
        </p:nvSpPr>
        <p:spPr>
          <a:xfrm>
            <a:off x="812778" y="2773561"/>
            <a:ext cx="3971400" cy="558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0" i="0" u="none" strike="noStrike" cap="none">
                <a:solidFill>
                  <a:srgbClr val="1B2430"/>
                </a:solidFill>
                <a:latin typeface="Golos Text"/>
                <a:ea typeface="Golos Text"/>
                <a:cs typeface="Golos Text"/>
                <a:sym typeface="Golos Text"/>
              </a:rPr>
              <a:t>разница в длине токенизации одного и того же текста на разных языках</a:t>
            </a:r>
            <a:endParaRPr sz="1500" b="0" i="0" u="none" strike="noStrike" cap="none">
              <a:solidFill>
                <a:schemeClr val="dk1"/>
              </a:solidFill>
              <a:latin typeface="Golos Text"/>
              <a:ea typeface="Golos Text"/>
              <a:cs typeface="Golos Text"/>
              <a:sym typeface="Golos Text"/>
            </a:endParaRPr>
          </a:p>
        </p:txBody>
      </p:sp>
      <p:sp>
        <p:nvSpPr>
          <p:cNvPr id="364" name="Google Shape;364;p23"/>
          <p:cNvSpPr/>
          <p:nvPr/>
        </p:nvSpPr>
        <p:spPr>
          <a:xfrm>
            <a:off x="812778" y="3459361"/>
            <a:ext cx="3971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Petrov et al., NeurIPS 2023</a:t>
            </a:r>
            <a:endParaRPr sz="1200" b="0" i="0" u="none" strike="noStrike" cap="none">
              <a:solidFill>
                <a:schemeClr val="dk1"/>
              </a:solidFill>
              <a:latin typeface="Golos Text"/>
              <a:ea typeface="Golos Text"/>
              <a:cs typeface="Golos Text"/>
              <a:sym typeface="Golos Text"/>
            </a:endParaRPr>
          </a:p>
        </p:txBody>
      </p:sp>
      <p:sp>
        <p:nvSpPr>
          <p:cNvPr id="365" name="Google Shape;365;p23"/>
          <p:cNvSpPr/>
          <p:nvPr/>
        </p:nvSpPr>
        <p:spPr>
          <a:xfrm>
            <a:off x="812778" y="3825081"/>
            <a:ext cx="39714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 дороже: API считает токены</a:t>
            </a:r>
            <a:endParaRPr sz="1500" b="0" i="0" u="none" strike="noStrike" cap="none">
              <a:solidFill>
                <a:schemeClr val="dk1"/>
              </a:solidFill>
              <a:latin typeface="Golos Text"/>
              <a:ea typeface="Golos Text"/>
              <a:cs typeface="Golos Text"/>
              <a:sym typeface="Golos Text"/>
            </a:endParaRPr>
          </a:p>
        </p:txBody>
      </p:sp>
      <p:sp>
        <p:nvSpPr>
          <p:cNvPr id="366" name="Google Shape;366;p23"/>
          <p:cNvSpPr/>
          <p:nvPr/>
        </p:nvSpPr>
        <p:spPr>
          <a:xfrm>
            <a:off x="812778" y="4167981"/>
            <a:ext cx="39714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 меньше текста в контекстном окне</a:t>
            </a:r>
            <a:endParaRPr sz="1500" b="0" i="0" u="none" strike="noStrike" cap="none">
              <a:solidFill>
                <a:schemeClr val="dk1"/>
              </a:solidFill>
              <a:latin typeface="Golos Text"/>
              <a:ea typeface="Golos Text"/>
              <a:cs typeface="Golos Text"/>
              <a:sym typeface="Golos Text"/>
            </a:endParaRPr>
          </a:p>
        </p:txBody>
      </p:sp>
      <p:sp>
        <p:nvSpPr>
          <p:cNvPr id="367" name="Google Shape;367;p23"/>
          <p:cNvSpPr/>
          <p:nvPr/>
        </p:nvSpPr>
        <p:spPr>
          <a:xfrm>
            <a:off x="812778" y="4510881"/>
            <a:ext cx="39714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 дольше генерация</a:t>
            </a:r>
            <a:endParaRPr sz="1500" b="0" i="0" u="none" strike="noStrike" cap="none">
              <a:solidFill>
                <a:schemeClr val="dk1"/>
              </a:solidFill>
              <a:latin typeface="Golos Text"/>
              <a:ea typeface="Golos Text"/>
              <a:cs typeface="Golos Text"/>
              <a:sym typeface="Golos Text"/>
            </a:endParaRPr>
          </a:p>
        </p:txBody>
      </p:sp>
      <p:sp>
        <p:nvSpPr>
          <p:cNvPr id="368" name="Google Shape;368;p23"/>
          <p:cNvSpPr/>
          <p:nvPr/>
        </p:nvSpPr>
        <p:spPr>
          <a:xfrm>
            <a:off x="5077980" y="1953816"/>
            <a:ext cx="6297600" cy="3107100"/>
          </a:xfrm>
          <a:prstGeom prst="roundRect">
            <a:avLst>
              <a:gd name="adj" fmla="val 3168"/>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3"/>
          <p:cNvSpPr/>
          <p:nvPr/>
        </p:nvSpPr>
        <p:spPr>
          <a:xfrm>
            <a:off x="5335148" y="2210991"/>
            <a:ext cx="59568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Измерим прямо на лекции</a:t>
            </a:r>
            <a:endParaRPr sz="2000" b="0" i="0" u="none" strike="noStrike" cap="none">
              <a:solidFill>
                <a:schemeClr val="dk1"/>
              </a:solidFill>
              <a:latin typeface="Golos Text"/>
              <a:ea typeface="Golos Text"/>
              <a:cs typeface="Golos Text"/>
              <a:sym typeface="Golos Text"/>
            </a:endParaRPr>
          </a:p>
        </p:txBody>
      </p:sp>
      <p:sp>
        <p:nvSpPr>
          <p:cNvPr id="370" name="Google Shape;370;p23"/>
          <p:cNvSpPr/>
          <p:nvPr/>
        </p:nvSpPr>
        <p:spPr>
          <a:xfrm>
            <a:off x="5335148" y="2668191"/>
            <a:ext cx="5956800" cy="45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200"/>
              <a:buFont typeface="Golos Text"/>
              <a:buNone/>
            </a:pPr>
            <a:r>
              <a:rPr lang="en-US" sz="1200" b="0" i="0" u="none" strike="noStrike" cap="none">
                <a:solidFill>
                  <a:srgbClr val="4A5361"/>
                </a:solidFill>
                <a:latin typeface="Golos Text"/>
                <a:ea typeface="Golos Text"/>
                <a:cs typeface="Golos Text"/>
                <a:sym typeface="Golos Text"/>
              </a:rPr>
              <a:t>«The cat is sleeping on the warm windowsill» / «Кошка спит на тёплом подоконнике»</a:t>
            </a:r>
            <a:endParaRPr sz="1200" b="0" i="0" u="none" strike="noStrike" cap="none">
              <a:solidFill>
                <a:schemeClr val="dk1"/>
              </a:solidFill>
              <a:latin typeface="Golos Text"/>
              <a:ea typeface="Golos Text"/>
              <a:cs typeface="Golos Text"/>
              <a:sym typeface="Golos Text"/>
            </a:endParaRPr>
          </a:p>
        </p:txBody>
      </p:sp>
      <p:graphicFrame>
        <p:nvGraphicFramePr>
          <p:cNvPr id="371" name="Google Shape;371;p23"/>
          <p:cNvGraphicFramePr/>
          <p:nvPr/>
        </p:nvGraphicFramePr>
        <p:xfrm>
          <a:off x="5347847" y="3259931"/>
          <a:ext cx="5770750" cy="1550376"/>
        </p:xfrm>
        <a:graphic>
          <a:graphicData uri="http://schemas.openxmlformats.org/drawingml/2006/table">
            <a:tbl>
              <a:tblPr>
                <a:noFill/>
                <a:tableStyleId>{06309EA5-3D61-4596-AA48-24314E58F0C3}</a:tableStyleId>
              </a:tblPr>
              <a:tblGrid>
                <a:gridCol w="2308300">
                  <a:extLst>
                    <a:ext uri="{9D8B030D-6E8A-4147-A177-3AD203B41FA5}">
                      <a16:colId xmlns:a16="http://schemas.microsoft.com/office/drawing/2014/main" val="20000"/>
                    </a:ext>
                  </a:extLst>
                </a:gridCol>
                <a:gridCol w="923325">
                  <a:extLst>
                    <a:ext uri="{9D8B030D-6E8A-4147-A177-3AD203B41FA5}">
                      <a16:colId xmlns:a16="http://schemas.microsoft.com/office/drawing/2014/main" val="20001"/>
                    </a:ext>
                  </a:extLst>
                </a:gridCol>
                <a:gridCol w="923325">
                  <a:extLst>
                    <a:ext uri="{9D8B030D-6E8A-4147-A177-3AD203B41FA5}">
                      <a16:colId xmlns:a16="http://schemas.microsoft.com/office/drawing/2014/main" val="20002"/>
                    </a:ext>
                  </a:extLst>
                </a:gridCol>
                <a:gridCol w="1615800">
                  <a:extLst>
                    <a:ext uri="{9D8B030D-6E8A-4147-A177-3AD203B41FA5}">
                      <a16:colId xmlns:a16="http://schemas.microsoft.com/office/drawing/2014/main" val="20003"/>
                    </a:ext>
                  </a:extLst>
                </a:gridCol>
              </a:tblGrid>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Токенизатор</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BABAB8"/>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BABAB8"/>
                      </a:solidFill>
                      <a:prstDash val="solid"/>
                      <a:round/>
                      <a:headEnd type="none" w="sm" len="sm"/>
                      <a:tailEnd type="none" w="sm" len="sm"/>
                    </a:lnB>
                    <a:solidFill>
                      <a:srgbClr val="E9E9E6"/>
                    </a:solidFill>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EN</a:t>
                      </a:r>
                      <a:endParaRPr sz="1400" u="none" strike="noStrike" cap="none">
                        <a:latin typeface="Golos Text"/>
                        <a:ea typeface="Golos Text"/>
                        <a:cs typeface="Golos Text"/>
                        <a:sym typeface="Golos Text"/>
                      </a:endParaRPr>
                    </a:p>
                  </a:txBody>
                  <a:tcPr marL="62225" marR="62225" marT="62225" marB="62225">
                    <a:lnL w="12700" cap="flat" cmpd="sng">
                      <a:solidFill>
                        <a:srgbClr val="BABAB8"/>
                      </a:solidFill>
                      <a:prstDash val="solid"/>
                      <a:round/>
                      <a:headEnd type="none" w="sm" len="sm"/>
                      <a:tailEnd type="none" w="sm" len="sm"/>
                    </a:lnL>
                    <a:lnR w="12700" cap="flat" cmpd="sng">
                      <a:solidFill>
                        <a:srgbClr val="BABAB8"/>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BABAB8"/>
                      </a:solidFill>
                      <a:prstDash val="solid"/>
                      <a:round/>
                      <a:headEnd type="none" w="sm" len="sm"/>
                      <a:tailEnd type="none" w="sm" len="sm"/>
                    </a:lnB>
                    <a:solidFill>
                      <a:srgbClr val="E9E9E6"/>
                    </a:solidFill>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RU</a:t>
                      </a:r>
                      <a:endParaRPr sz="1400" u="none" strike="noStrike" cap="none">
                        <a:latin typeface="Golos Text"/>
                        <a:ea typeface="Golos Text"/>
                        <a:cs typeface="Golos Text"/>
                        <a:sym typeface="Golos Text"/>
                      </a:endParaRPr>
                    </a:p>
                  </a:txBody>
                  <a:tcPr marL="62225" marR="62225" marT="62225" marB="62225">
                    <a:lnL w="12700" cap="flat" cmpd="sng">
                      <a:solidFill>
                        <a:srgbClr val="BABAB8"/>
                      </a:solidFill>
                      <a:prstDash val="solid"/>
                      <a:round/>
                      <a:headEnd type="none" w="sm" len="sm"/>
                      <a:tailEnd type="none" w="sm" len="sm"/>
                    </a:lnL>
                    <a:lnR w="12700" cap="flat" cmpd="sng">
                      <a:solidFill>
                        <a:srgbClr val="BABAB8"/>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BABAB8"/>
                      </a:solidFill>
                      <a:prstDash val="solid"/>
                      <a:round/>
                      <a:headEnd type="none" w="sm" len="sm"/>
                      <a:tailEnd type="none" w="sm" len="sm"/>
                    </a:lnB>
                    <a:solidFill>
                      <a:srgbClr val="E9E9E6"/>
                    </a:solidFill>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b="1" u="none" strike="noStrike" cap="none">
                          <a:solidFill>
                            <a:srgbClr val="1B2430"/>
                          </a:solidFill>
                          <a:latin typeface="Golos Text"/>
                          <a:ea typeface="Golos Text"/>
                          <a:cs typeface="Golos Text"/>
                          <a:sym typeface="Golos Text"/>
                        </a:rPr>
                        <a:t>RU / EN</a:t>
                      </a:r>
                      <a:endParaRPr sz="1400" u="none" strike="noStrike" cap="none">
                        <a:latin typeface="Golos Text"/>
                        <a:ea typeface="Golos Text"/>
                        <a:cs typeface="Golos Text"/>
                        <a:sym typeface="Golos Text"/>
                      </a:endParaRPr>
                    </a:p>
                  </a:txBody>
                  <a:tcPr marL="62225" marR="62225" marT="62225" marB="62225">
                    <a:lnL w="12700" cap="flat" cmpd="sng">
                      <a:solidFill>
                        <a:srgbClr val="BABAB8"/>
                      </a:solidFill>
                      <a:prstDash val="solid"/>
                      <a:round/>
                      <a:headEnd type="none" w="sm" len="sm"/>
                      <a:tailEnd type="none" w="sm" len="sm"/>
                    </a:lnL>
                    <a:lnR w="12700" cap="flat" cmpd="sng">
                      <a:solidFill>
                        <a:srgbClr val="BABAB8"/>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BABAB8"/>
                      </a:solidFill>
                      <a:prstDash val="solid"/>
                      <a:round/>
                      <a:headEnd type="none" w="sm" len="sm"/>
                      <a:tailEnd type="none" w="sm" len="sm"/>
                    </a:lnB>
                    <a:solidFill>
                      <a:srgbClr val="E9E9E6"/>
                    </a:solidFill>
                  </a:tcPr>
                </a:tc>
                <a:extLst>
                  <a:ext uri="{0D108BD9-81ED-4DB2-BD59-A6C34878D82A}">
                    <a16:rowId xmlns:a16="http://schemas.microsoft.com/office/drawing/2014/main" val="10000"/>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GPT-2</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BABAB8"/>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BABAB8"/>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BABAB8"/>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BABAB8"/>
                      </a:solidFill>
                      <a:prstDash val="solid"/>
                      <a:round/>
                      <a:headEnd type="none" w="sm" len="sm"/>
                      <a:tailEnd type="none" w="sm" len="sm"/>
                    </a:lnT>
                    <a:lnB w="12700" cap="flat" cmpd="sng">
                      <a:solidFill>
                        <a:srgbClr val="C9C8C6"/>
                      </a:solidFill>
                      <a:prstDash val="solid"/>
                      <a:round/>
                      <a:headEnd type="none" w="sm" len="sm"/>
                      <a:tailEnd type="none" w="sm" len="sm"/>
                    </a:lnB>
                  </a:tcPr>
                </a:tc>
                <a:extLst>
                  <a:ext uri="{0D108BD9-81ED-4DB2-BD59-A6C34878D82A}">
                    <a16:rowId xmlns:a16="http://schemas.microsoft.com/office/drawing/2014/main" val="10001"/>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GPT-4o (o200k)</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extLst>
                  <a:ext uri="{0D108BD9-81ED-4DB2-BD59-A6C34878D82A}">
                    <a16:rowId xmlns:a16="http://schemas.microsoft.com/office/drawing/2014/main" val="10002"/>
                  </a:ext>
                </a:extLst>
              </a:tr>
              <a:tr h="385950">
                <a:tc>
                  <a:txBody>
                    <a:bodyPr/>
                    <a:lstStyle/>
                    <a:p>
                      <a:pPr marL="0" marR="0" lvl="0" indent="0" algn="l"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[ещё один]</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B2430"/>
                        </a:buClr>
                        <a:buSzPts val="1400"/>
                        <a:buFont typeface="Golos Text"/>
                        <a:buNone/>
                      </a:pPr>
                      <a:r>
                        <a:rPr lang="en-US" sz="1400" u="none" strike="noStrike" cap="none">
                          <a:solidFill>
                            <a:srgbClr val="1B2430"/>
                          </a:solidFill>
                          <a:latin typeface="Golos Text"/>
                          <a:ea typeface="Golos Text"/>
                          <a:cs typeface="Golos Text"/>
                          <a:sym typeface="Golos Text"/>
                        </a:rPr>
                        <a:t>__</a:t>
                      </a:r>
                      <a:endParaRPr sz="1400" u="none" strike="noStrike" cap="none">
                        <a:latin typeface="Golos Text"/>
                        <a:ea typeface="Golos Text"/>
                        <a:cs typeface="Golos Text"/>
                        <a:sym typeface="Golos Text"/>
                      </a:endParaRPr>
                    </a:p>
                  </a:txBody>
                  <a:tcPr marL="62225" marR="62225" marT="62225" marB="62225">
                    <a:lnL w="12700" cap="flat" cmpd="sng">
                      <a:solidFill>
                        <a:srgbClr val="C9C8C6"/>
                      </a:solidFill>
                      <a:prstDash val="solid"/>
                      <a:round/>
                      <a:headEnd type="none" w="sm" len="sm"/>
                      <a:tailEnd type="none" w="sm" len="sm"/>
                    </a:lnL>
                    <a:lnR w="12700" cap="flat" cmpd="sng">
                      <a:solidFill>
                        <a:srgbClr val="C9C8C6"/>
                      </a:solidFill>
                      <a:prstDash val="solid"/>
                      <a:round/>
                      <a:headEnd type="none" w="sm" len="sm"/>
                      <a:tailEnd type="none" w="sm" len="sm"/>
                    </a:lnR>
                    <a:lnT w="12700" cap="flat" cmpd="sng">
                      <a:solidFill>
                        <a:srgbClr val="C9C8C6"/>
                      </a:solidFill>
                      <a:prstDash val="solid"/>
                      <a:round/>
                      <a:headEnd type="none" w="sm" len="sm"/>
                      <a:tailEnd type="none" w="sm" len="sm"/>
                    </a:lnT>
                    <a:lnB w="12700" cap="flat" cmpd="sng">
                      <a:solidFill>
                        <a:srgbClr val="C9C8C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24"/>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01 · ТОКЕНИЗАЦИЯ</a:t>
            </a:r>
            <a:endParaRPr sz="1200" b="0" i="0" u="none" strike="noStrike" cap="none">
              <a:solidFill>
                <a:schemeClr val="dk1"/>
              </a:solidFill>
              <a:latin typeface="Golos Text"/>
              <a:ea typeface="Golos Text"/>
              <a:cs typeface="Golos Text"/>
              <a:sym typeface="Golos Text"/>
            </a:endParaRPr>
          </a:p>
        </p:txBody>
      </p:sp>
      <p:sp>
        <p:nvSpPr>
          <p:cNvPr id="378" name="Google Shape;378;p24"/>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Странности, которые объясняет токенизация</a:t>
            </a:r>
            <a:endParaRPr sz="3200"/>
          </a:p>
        </p:txBody>
      </p:sp>
      <p:sp>
        <p:nvSpPr>
          <p:cNvPr id="379" name="Google Shape;379;p24"/>
          <p:cNvSpPr/>
          <p:nvPr/>
        </p:nvSpPr>
        <p:spPr>
          <a:xfrm>
            <a:off x="815953" y="1852216"/>
            <a:ext cx="5175300" cy="1565700"/>
          </a:xfrm>
          <a:prstGeom prst="roundRect">
            <a:avLst>
              <a:gd name="adj" fmla="val 6286"/>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4"/>
          <p:cNvSpPr/>
          <p:nvPr/>
        </p:nvSpPr>
        <p:spPr>
          <a:xfrm>
            <a:off x="1022323" y="2058591"/>
            <a:ext cx="49053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Сколько «r» в strawberry?</a:t>
            </a:r>
            <a:endParaRPr sz="2000" b="0" i="0" u="none" strike="noStrike" cap="none">
              <a:solidFill>
                <a:schemeClr val="dk1"/>
              </a:solidFill>
              <a:latin typeface="Golos Text"/>
              <a:ea typeface="Golos Text"/>
              <a:cs typeface="Golos Text"/>
              <a:sym typeface="Golos Text"/>
            </a:endParaRPr>
          </a:p>
        </p:txBody>
      </p:sp>
      <p:sp>
        <p:nvSpPr>
          <p:cNvPr id="381" name="Google Shape;381;p24"/>
          <p:cNvSpPr/>
          <p:nvPr/>
        </p:nvSpPr>
        <p:spPr>
          <a:xfrm>
            <a:off x="1022323" y="2464991"/>
            <a:ext cx="49053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Модель видит несколько токенов, а не буквы. Что внутри токена, ей напрямую не видно — это приходится «помнить».</a:t>
            </a:r>
            <a:endParaRPr sz="1400" b="0" i="0" u="none" strike="noStrike" cap="none">
              <a:solidFill>
                <a:schemeClr val="dk1"/>
              </a:solidFill>
              <a:latin typeface="Golos Text"/>
              <a:ea typeface="Golos Text"/>
              <a:cs typeface="Golos Text"/>
              <a:sym typeface="Golos Text"/>
            </a:endParaRPr>
          </a:p>
        </p:txBody>
      </p:sp>
      <p:sp>
        <p:nvSpPr>
          <p:cNvPr id="382" name="Google Shape;382;p24"/>
          <p:cNvSpPr/>
          <p:nvPr/>
        </p:nvSpPr>
        <p:spPr>
          <a:xfrm>
            <a:off x="6200610" y="1852216"/>
            <a:ext cx="5175300" cy="1565700"/>
          </a:xfrm>
          <a:prstGeom prst="roundRect">
            <a:avLst>
              <a:gd name="adj" fmla="val 6286"/>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4"/>
          <p:cNvSpPr/>
          <p:nvPr/>
        </p:nvSpPr>
        <p:spPr>
          <a:xfrm>
            <a:off x="6406979" y="2058591"/>
            <a:ext cx="49053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Числа и арифметика</a:t>
            </a:r>
            <a:endParaRPr sz="2000" b="0" i="0" u="none" strike="noStrike" cap="none">
              <a:solidFill>
                <a:schemeClr val="dk1"/>
              </a:solidFill>
              <a:latin typeface="Golos Text"/>
              <a:ea typeface="Golos Text"/>
              <a:cs typeface="Golos Text"/>
              <a:sym typeface="Golos Text"/>
            </a:endParaRPr>
          </a:p>
        </p:txBody>
      </p:sp>
      <p:sp>
        <p:nvSpPr>
          <p:cNvPr id="384" name="Google Shape;384;p24"/>
          <p:cNvSpPr/>
          <p:nvPr/>
        </p:nvSpPr>
        <p:spPr>
          <a:xfrm>
            <a:off x="6406979" y="2464991"/>
            <a:ext cx="49053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В GPT-4 «1234567» режется как 123 · 456 · 7. Llama 1 и 2 делят числа на отдельные цифры, чтобы упростить арифметику.</a:t>
            </a:r>
            <a:endParaRPr sz="1400" b="0" i="0" u="none" strike="noStrike" cap="none">
              <a:solidFill>
                <a:schemeClr val="dk1"/>
              </a:solidFill>
              <a:latin typeface="Golos Text"/>
              <a:ea typeface="Golos Text"/>
              <a:cs typeface="Golos Text"/>
              <a:sym typeface="Golos Text"/>
            </a:endParaRPr>
          </a:p>
        </p:txBody>
      </p:sp>
      <p:sp>
        <p:nvSpPr>
          <p:cNvPr id="385" name="Google Shape;385;p24"/>
          <p:cNvSpPr/>
          <p:nvPr/>
        </p:nvSpPr>
        <p:spPr>
          <a:xfrm>
            <a:off x="815953" y="3627438"/>
            <a:ext cx="5175300" cy="1565700"/>
          </a:xfrm>
          <a:prstGeom prst="roundRect">
            <a:avLst>
              <a:gd name="adj" fmla="val 6286"/>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4"/>
          <p:cNvSpPr/>
          <p:nvPr/>
        </p:nvSpPr>
        <p:spPr>
          <a:xfrm>
            <a:off x="1022323" y="3833812"/>
            <a:ext cx="49053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Пробел — часть токена</a:t>
            </a:r>
            <a:endParaRPr sz="2000" b="0" i="0" u="none" strike="noStrike" cap="none">
              <a:solidFill>
                <a:schemeClr val="dk1"/>
              </a:solidFill>
              <a:latin typeface="Golos Text"/>
              <a:ea typeface="Golos Text"/>
              <a:cs typeface="Golos Text"/>
              <a:sym typeface="Golos Text"/>
            </a:endParaRPr>
          </a:p>
        </p:txBody>
      </p:sp>
      <p:sp>
        <p:nvSpPr>
          <p:cNvPr id="387" name="Google Shape;387;p24"/>
          <p:cNvSpPr/>
          <p:nvPr/>
        </p:nvSpPr>
        <p:spPr>
          <a:xfrm>
            <a:off x="1022323" y="4240213"/>
            <a:ext cx="49053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hello» и «hello» — разные токены. Лишний пробел в конце промпта меняет то, какое продолжение модель считает вероятным.</a:t>
            </a:r>
            <a:endParaRPr sz="1400" b="0" i="0" u="none" strike="noStrike" cap="none">
              <a:solidFill>
                <a:schemeClr val="dk1"/>
              </a:solidFill>
              <a:latin typeface="Golos Text"/>
              <a:ea typeface="Golos Text"/>
              <a:cs typeface="Golos Text"/>
              <a:sym typeface="Golos Text"/>
            </a:endParaRPr>
          </a:p>
        </p:txBody>
      </p:sp>
      <p:sp>
        <p:nvSpPr>
          <p:cNvPr id="388" name="Google Shape;388;p24"/>
          <p:cNvSpPr/>
          <p:nvPr/>
        </p:nvSpPr>
        <p:spPr>
          <a:xfrm>
            <a:off x="6200610" y="3627438"/>
            <a:ext cx="5175300" cy="1565700"/>
          </a:xfrm>
          <a:prstGeom prst="roundRect">
            <a:avLst>
              <a:gd name="adj" fmla="val 6286"/>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4"/>
          <p:cNvSpPr/>
          <p:nvPr/>
        </p:nvSpPr>
        <p:spPr>
          <a:xfrm>
            <a:off x="6406979" y="3833812"/>
            <a:ext cx="49053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Glitch-токены</a:t>
            </a:r>
            <a:endParaRPr sz="2000" b="0" i="0" u="none" strike="noStrike" cap="none">
              <a:solidFill>
                <a:schemeClr val="dk1"/>
              </a:solidFill>
              <a:latin typeface="Golos Text"/>
              <a:ea typeface="Golos Text"/>
              <a:cs typeface="Golos Text"/>
              <a:sym typeface="Golos Text"/>
            </a:endParaRPr>
          </a:p>
        </p:txBody>
      </p:sp>
      <p:sp>
        <p:nvSpPr>
          <p:cNvPr id="390" name="Google Shape;390;p24"/>
          <p:cNvSpPr/>
          <p:nvPr/>
        </p:nvSpPr>
        <p:spPr>
          <a:xfrm>
            <a:off x="6406979" y="4240213"/>
            <a:ext cx="49053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SolidGoldMagikarp» есть в словаре, но почти не встречался при обучении модели: эмбеддинг не выучился, GPT-3 на нём «сбоила».</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5"/>
        <p:cNvGrpSpPr/>
        <p:nvPr/>
      </p:nvGrpSpPr>
      <p:grpSpPr>
        <a:xfrm>
          <a:off x="0" y="0"/>
          <a:ext cx="0" cy="0"/>
          <a:chOff x="0" y="0"/>
          <a:chExt cx="0" cy="0"/>
        </a:xfrm>
      </p:grpSpPr>
      <p:sp>
        <p:nvSpPr>
          <p:cNvPr id="396" name="Google Shape;396;p25"/>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02 · ОТ ПОДСЧЁТОВ К ПРЕДСКАЗАНИЮ</a:t>
            </a:r>
            <a:endParaRPr sz="1200" b="0" i="0" u="none" strike="noStrike" cap="none">
              <a:solidFill>
                <a:schemeClr val="dk1"/>
              </a:solidFill>
              <a:latin typeface="Golos Text"/>
              <a:ea typeface="Golos Text"/>
              <a:cs typeface="Golos Text"/>
              <a:sym typeface="Golos Text"/>
            </a:endParaRPr>
          </a:p>
        </p:txBody>
      </p:sp>
      <p:sp>
        <p:nvSpPr>
          <p:cNvPr id="397" name="Google Shape;397;p25"/>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Слово определяется своим окружением</a:t>
            </a:r>
            <a:endParaRPr sz="3200"/>
          </a:p>
        </p:txBody>
      </p:sp>
      <p:sp>
        <p:nvSpPr>
          <p:cNvPr id="398" name="Google Shape;398;p25"/>
          <p:cNvSpPr/>
          <p:nvPr/>
        </p:nvSpPr>
        <p:spPr>
          <a:xfrm>
            <a:off x="812778" y="3052961"/>
            <a:ext cx="4064100" cy="1714200"/>
          </a:xfrm>
          <a:prstGeom prst="roundRect">
            <a:avLst>
              <a:gd name="adj" fmla="val 5927"/>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5"/>
          <p:cNvSpPr/>
          <p:nvPr/>
        </p:nvSpPr>
        <p:spPr>
          <a:xfrm>
            <a:off x="1015973" y="3256161"/>
            <a:ext cx="37674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300"/>
              <a:buFont typeface="JetBrains Mono"/>
              <a:buNone/>
            </a:pPr>
            <a:r>
              <a:rPr lang="en-US" sz="1300" b="0" i="0" u="none" strike="noStrike" cap="none" dirty="0" err="1">
                <a:solidFill>
                  <a:srgbClr val="1B2430"/>
                </a:solidFill>
                <a:latin typeface="JetBrains Mono"/>
                <a:ea typeface="JetBrains Mono"/>
                <a:cs typeface="JetBrains Mono"/>
                <a:sym typeface="JetBrains Mono"/>
              </a:rPr>
              <a:t>кот</a:t>
            </a:r>
            <a:r>
              <a:rPr lang="en-US" sz="1300" b="0" i="0" u="none" strike="noStrike" cap="none" dirty="0">
                <a:solidFill>
                  <a:srgbClr val="1B2430"/>
                </a:solidFill>
                <a:latin typeface="JetBrains Mono"/>
                <a:ea typeface="JetBrains Mono"/>
                <a:cs typeface="JetBrains Mono"/>
                <a:sym typeface="JetBrains Mono"/>
              </a:rPr>
              <a:t> </a:t>
            </a:r>
            <a:r>
              <a:rPr lang="en-US" sz="1300" b="0" i="0" u="none" strike="noStrike" cap="none" dirty="0" err="1">
                <a:solidFill>
                  <a:srgbClr val="1B2430"/>
                </a:solidFill>
                <a:latin typeface="JetBrains Mono"/>
                <a:ea typeface="JetBrains Mono"/>
                <a:cs typeface="JetBrains Mono"/>
                <a:sym typeface="JetBrains Mono"/>
              </a:rPr>
              <a:t>пьёт</a:t>
            </a:r>
            <a:r>
              <a:rPr lang="en-US" sz="1300" b="0" i="0" u="none" strike="noStrike" cap="none" dirty="0">
                <a:solidFill>
                  <a:srgbClr val="1B2430"/>
                </a:solidFill>
                <a:latin typeface="JetBrains Mono"/>
                <a:ea typeface="JetBrains Mono"/>
                <a:cs typeface="JetBrains Mono"/>
                <a:sym typeface="JetBrains Mono"/>
              </a:rPr>
              <a:t> </a:t>
            </a:r>
            <a:r>
              <a:rPr lang="en-US" sz="1300" b="0" i="0" u="none" strike="noStrike" cap="none" dirty="0" err="1">
                <a:solidFill>
                  <a:srgbClr val="1B2430"/>
                </a:solidFill>
                <a:latin typeface="JetBrains Mono"/>
                <a:ea typeface="JetBrains Mono"/>
                <a:cs typeface="JetBrains Mono"/>
                <a:sym typeface="JetBrains Mono"/>
              </a:rPr>
              <a:t>молоко</a:t>
            </a:r>
            <a:endParaRPr sz="1300" b="0" i="0" u="none" strike="noStrike" cap="none" dirty="0">
              <a:solidFill>
                <a:schemeClr val="dk1"/>
              </a:solidFill>
              <a:latin typeface="Golos Text"/>
              <a:ea typeface="Golos Text"/>
              <a:cs typeface="Golos Text"/>
              <a:sym typeface="Golos Text"/>
            </a:endParaRPr>
          </a:p>
        </p:txBody>
      </p:sp>
      <p:sp>
        <p:nvSpPr>
          <p:cNvPr id="400" name="Google Shape;400;p25"/>
          <p:cNvSpPr/>
          <p:nvPr/>
        </p:nvSpPr>
        <p:spPr>
          <a:xfrm>
            <a:off x="1015973" y="3525341"/>
            <a:ext cx="37674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300"/>
              <a:buFont typeface="JetBrains Mono"/>
              <a:buNone/>
            </a:pPr>
            <a:r>
              <a:rPr lang="en-US" sz="1300" b="0" i="0" u="none" strike="noStrike" cap="none">
                <a:solidFill>
                  <a:srgbClr val="1B2430"/>
                </a:solidFill>
                <a:latin typeface="JetBrains Mono"/>
                <a:ea typeface="JetBrains Mono"/>
                <a:cs typeface="JetBrains Mono"/>
                <a:sym typeface="JetBrains Mono"/>
              </a:rPr>
              <a:t>кошка пьёт молоко</a:t>
            </a:r>
            <a:endParaRPr sz="1300" b="0" i="0" u="none" strike="noStrike" cap="none">
              <a:solidFill>
                <a:schemeClr val="dk1"/>
              </a:solidFill>
              <a:latin typeface="Golos Text"/>
              <a:ea typeface="Golos Text"/>
              <a:cs typeface="Golos Text"/>
              <a:sym typeface="Golos Text"/>
            </a:endParaRPr>
          </a:p>
        </p:txBody>
      </p:sp>
      <p:sp>
        <p:nvSpPr>
          <p:cNvPr id="401" name="Google Shape;401;p25"/>
          <p:cNvSpPr/>
          <p:nvPr/>
        </p:nvSpPr>
        <p:spPr>
          <a:xfrm>
            <a:off x="1015973" y="3794522"/>
            <a:ext cx="37674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300"/>
              <a:buFont typeface="JetBrains Mono"/>
              <a:buNone/>
            </a:pPr>
            <a:r>
              <a:rPr lang="en-US" sz="1300" b="0" i="0" u="none" strike="noStrike" cap="none">
                <a:solidFill>
                  <a:srgbClr val="1B2430"/>
                </a:solidFill>
                <a:latin typeface="JetBrains Mono"/>
                <a:ea typeface="JetBrains Mono"/>
                <a:cs typeface="JetBrains Mono"/>
                <a:sym typeface="JetBrains Mono"/>
              </a:rPr>
              <a:t>кот ловит мышь</a:t>
            </a:r>
            <a:endParaRPr sz="1300" b="0" i="0" u="none" strike="noStrike" cap="none">
              <a:solidFill>
                <a:schemeClr val="dk1"/>
              </a:solidFill>
              <a:latin typeface="Golos Text"/>
              <a:ea typeface="Golos Text"/>
              <a:cs typeface="Golos Text"/>
              <a:sym typeface="Golos Text"/>
            </a:endParaRPr>
          </a:p>
        </p:txBody>
      </p:sp>
      <p:sp>
        <p:nvSpPr>
          <p:cNvPr id="402" name="Google Shape;402;p25"/>
          <p:cNvSpPr/>
          <p:nvPr/>
        </p:nvSpPr>
        <p:spPr>
          <a:xfrm>
            <a:off x="1015973" y="4063702"/>
            <a:ext cx="37674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300"/>
              <a:buFont typeface="JetBrains Mono"/>
              <a:buNone/>
            </a:pPr>
            <a:r>
              <a:rPr lang="en-US" sz="1300" b="0" i="0" u="none" strike="noStrike" cap="none">
                <a:solidFill>
                  <a:srgbClr val="1B2430"/>
                </a:solidFill>
                <a:latin typeface="JetBrains Mono"/>
                <a:ea typeface="JetBrains Mono"/>
                <a:cs typeface="JetBrains Mono"/>
                <a:sym typeface="JetBrains Mono"/>
              </a:rPr>
              <a:t>кошка ловит мышь</a:t>
            </a:r>
            <a:endParaRPr sz="1300" b="0" i="0" u="none" strike="noStrike" cap="none">
              <a:solidFill>
                <a:schemeClr val="dk1"/>
              </a:solidFill>
              <a:latin typeface="Golos Text"/>
              <a:ea typeface="Golos Text"/>
              <a:cs typeface="Golos Text"/>
              <a:sym typeface="Golos Text"/>
            </a:endParaRPr>
          </a:p>
        </p:txBody>
      </p:sp>
      <p:sp>
        <p:nvSpPr>
          <p:cNvPr id="403" name="Google Shape;403;p25"/>
          <p:cNvSpPr/>
          <p:nvPr/>
        </p:nvSpPr>
        <p:spPr>
          <a:xfrm>
            <a:off x="1015973" y="4332883"/>
            <a:ext cx="37674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300"/>
              <a:buFont typeface="JetBrains Mono"/>
              <a:buNone/>
            </a:pPr>
            <a:r>
              <a:rPr lang="en-US" sz="1300" b="0" i="0" u="none" strike="noStrike" cap="none">
                <a:solidFill>
                  <a:srgbClr val="1B2430"/>
                </a:solidFill>
                <a:latin typeface="JetBrains Mono"/>
                <a:ea typeface="JetBrains Mono"/>
                <a:cs typeface="JetBrains Mono"/>
                <a:sym typeface="JetBrains Mono"/>
              </a:rPr>
              <a:t>студент пьёт кофе</a:t>
            </a:r>
            <a:endParaRPr sz="1300" b="0" i="0" u="none" strike="noStrike" cap="none">
              <a:solidFill>
                <a:schemeClr val="dk1"/>
              </a:solidFill>
              <a:latin typeface="Golos Text"/>
              <a:ea typeface="Golos Text"/>
              <a:cs typeface="Golos Text"/>
              <a:sym typeface="Golos Text"/>
            </a:endParaRPr>
          </a:p>
        </p:txBody>
      </p:sp>
      <p:sp>
        <p:nvSpPr>
          <p:cNvPr id="404" name="Google Shape;404;p25"/>
          <p:cNvSpPr/>
          <p:nvPr/>
        </p:nvSpPr>
        <p:spPr>
          <a:xfrm>
            <a:off x="5283059" y="1950641"/>
            <a:ext cx="6278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Матрица «слово × контекст», окно ±2</a:t>
            </a:r>
            <a:endParaRPr sz="1200" b="0" i="0" u="none" strike="noStrike" cap="none">
              <a:solidFill>
                <a:schemeClr val="dk1"/>
              </a:solidFill>
              <a:latin typeface="Golos Text"/>
              <a:ea typeface="Golos Text"/>
              <a:cs typeface="Golos Text"/>
              <a:sym typeface="Golos Text"/>
            </a:endParaRPr>
          </a:p>
        </p:txBody>
      </p:sp>
      <p:graphicFrame>
        <p:nvGraphicFramePr>
          <p:cNvPr id="405" name="Google Shape;405;p25"/>
          <p:cNvGraphicFramePr/>
          <p:nvPr/>
        </p:nvGraphicFramePr>
        <p:xfrm>
          <a:off x="5295759" y="2379861"/>
          <a:ext cx="6083125" cy="1661160"/>
        </p:xfrm>
        <a:graphic>
          <a:graphicData uri="http://schemas.openxmlformats.org/drawingml/2006/table">
            <a:tbl>
              <a:tblPr>
                <a:noFill/>
                <a:tableStyleId>{06309EA5-3D61-4596-AA48-24314E58F0C3}</a:tableStyleId>
              </a:tblPr>
              <a:tblGrid>
                <a:gridCol w="1216625">
                  <a:extLst>
                    <a:ext uri="{9D8B030D-6E8A-4147-A177-3AD203B41FA5}">
                      <a16:colId xmlns:a16="http://schemas.microsoft.com/office/drawing/2014/main" val="20000"/>
                    </a:ext>
                  </a:extLst>
                </a:gridCol>
                <a:gridCol w="973300">
                  <a:extLst>
                    <a:ext uri="{9D8B030D-6E8A-4147-A177-3AD203B41FA5}">
                      <a16:colId xmlns:a16="http://schemas.microsoft.com/office/drawing/2014/main" val="20001"/>
                    </a:ext>
                  </a:extLst>
                </a:gridCol>
                <a:gridCol w="973300">
                  <a:extLst>
                    <a:ext uri="{9D8B030D-6E8A-4147-A177-3AD203B41FA5}">
                      <a16:colId xmlns:a16="http://schemas.microsoft.com/office/drawing/2014/main" val="20002"/>
                    </a:ext>
                  </a:extLst>
                </a:gridCol>
                <a:gridCol w="973300">
                  <a:extLst>
                    <a:ext uri="{9D8B030D-6E8A-4147-A177-3AD203B41FA5}">
                      <a16:colId xmlns:a16="http://schemas.microsoft.com/office/drawing/2014/main" val="20003"/>
                    </a:ext>
                  </a:extLst>
                </a:gridCol>
                <a:gridCol w="973300">
                  <a:extLst>
                    <a:ext uri="{9D8B030D-6E8A-4147-A177-3AD203B41FA5}">
                      <a16:colId xmlns:a16="http://schemas.microsoft.com/office/drawing/2014/main" val="20004"/>
                    </a:ext>
                  </a:extLst>
                </a:gridCol>
                <a:gridCol w="973300">
                  <a:extLst>
                    <a:ext uri="{9D8B030D-6E8A-4147-A177-3AD203B41FA5}">
                      <a16:colId xmlns:a16="http://schemas.microsoft.com/office/drawing/2014/main" val="20005"/>
                    </a:ext>
                  </a:extLst>
                </a:gridCol>
              </a:tblGrid>
              <a:tr h="412750">
                <a:tc>
                  <a:txBody>
                    <a:bodyPr/>
                    <a:lstStyle/>
                    <a:p>
                      <a:pPr marL="0" marR="0" lvl="0" indent="0" algn="l" rtl="0">
                        <a:lnSpc>
                          <a:spcPct val="140000"/>
                        </a:lnSpc>
                        <a:spcBef>
                          <a:spcPts val="0"/>
                        </a:spcBef>
                        <a:spcAft>
                          <a:spcPts val="0"/>
                        </a:spcAft>
                        <a:buClr>
                          <a:schemeClr val="dk1"/>
                        </a:buClr>
                        <a:buSzPts val="1500"/>
                        <a:buFont typeface="Golos Text"/>
                        <a:buNone/>
                      </a:pP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b="1" u="none" strike="noStrike" cap="none">
                          <a:solidFill>
                            <a:srgbClr val="1B2430"/>
                          </a:solidFill>
                          <a:latin typeface="Golos Text"/>
                          <a:ea typeface="Golos Text"/>
                          <a:cs typeface="Golos Text"/>
                          <a:sym typeface="Golos Text"/>
                        </a:rPr>
                        <a:t>пьёт</a:t>
                      </a:r>
                      <a:endParaRPr sz="1500" u="none" strike="noStrike" cap="none">
                        <a:latin typeface="Golos Text"/>
                        <a:ea typeface="Golos Text"/>
                        <a:cs typeface="Golos Text"/>
                        <a:sym typeface="Golos Text"/>
                      </a:endParaRPr>
                    </a:p>
                  </a:txBody>
                  <a:tcPr marL="66675" marR="66675" marT="66675" marB="6667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b="1" u="none" strike="noStrike" cap="none">
                          <a:solidFill>
                            <a:srgbClr val="1B2430"/>
                          </a:solidFill>
                          <a:latin typeface="Golos Text"/>
                          <a:ea typeface="Golos Text"/>
                          <a:cs typeface="Golos Text"/>
                          <a:sym typeface="Golos Text"/>
                        </a:rPr>
                        <a:t>молоко</a:t>
                      </a:r>
                      <a:endParaRPr sz="1500" u="none" strike="noStrike" cap="none">
                        <a:latin typeface="Golos Text"/>
                        <a:ea typeface="Golos Text"/>
                        <a:cs typeface="Golos Text"/>
                        <a:sym typeface="Golos Text"/>
                      </a:endParaRPr>
                    </a:p>
                  </a:txBody>
                  <a:tcPr marL="66675" marR="66675" marT="66675" marB="6667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b="1" u="none" strike="noStrike" cap="none">
                          <a:solidFill>
                            <a:srgbClr val="1B2430"/>
                          </a:solidFill>
                          <a:latin typeface="Golos Text"/>
                          <a:ea typeface="Golos Text"/>
                          <a:cs typeface="Golos Text"/>
                          <a:sym typeface="Golos Text"/>
                        </a:rPr>
                        <a:t>ловит</a:t>
                      </a:r>
                      <a:endParaRPr sz="1500" u="none" strike="noStrike" cap="none">
                        <a:latin typeface="Golos Text"/>
                        <a:ea typeface="Golos Text"/>
                        <a:cs typeface="Golos Text"/>
                        <a:sym typeface="Golos Text"/>
                      </a:endParaRPr>
                    </a:p>
                  </a:txBody>
                  <a:tcPr marL="66675" marR="66675" marT="66675" marB="6667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b="1" u="none" strike="noStrike" cap="none">
                          <a:solidFill>
                            <a:srgbClr val="1B2430"/>
                          </a:solidFill>
                          <a:latin typeface="Golos Text"/>
                          <a:ea typeface="Golos Text"/>
                          <a:cs typeface="Golos Text"/>
                          <a:sym typeface="Golos Text"/>
                        </a:rPr>
                        <a:t>мышь</a:t>
                      </a:r>
                      <a:endParaRPr sz="1500" u="none" strike="noStrike" cap="none">
                        <a:latin typeface="Golos Text"/>
                        <a:ea typeface="Golos Text"/>
                        <a:cs typeface="Golos Text"/>
                        <a:sym typeface="Golos Text"/>
                      </a:endParaRPr>
                    </a:p>
                  </a:txBody>
                  <a:tcPr marL="66675" marR="66675" marT="66675" marB="6667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b="1" u="none" strike="noStrike" cap="none">
                          <a:solidFill>
                            <a:srgbClr val="1B2430"/>
                          </a:solidFill>
                          <a:latin typeface="Golos Text"/>
                          <a:ea typeface="Golos Text"/>
                          <a:cs typeface="Golos Text"/>
                          <a:sym typeface="Golos Text"/>
                        </a:rPr>
                        <a:t>кофе</a:t>
                      </a:r>
                      <a:endParaRPr sz="1500" u="none" strike="noStrike" cap="none">
                        <a:latin typeface="Golos Text"/>
                        <a:ea typeface="Golos Text"/>
                        <a:cs typeface="Golos Text"/>
                        <a:sym typeface="Golos Text"/>
                      </a:endParaRPr>
                    </a:p>
                  </a:txBody>
                  <a:tcPr marL="66675" marR="66675" marT="66675" marB="66675">
                    <a:lnL w="12700" cap="flat" cmpd="sng">
                      <a:solidFill>
                        <a:srgbClr val="B7B5B1"/>
                      </a:solidFill>
                      <a:prstDash val="solid"/>
                      <a:round/>
                      <a:headEnd type="none" w="sm" len="sm"/>
                      <a:tailEnd type="none" w="sm" len="sm"/>
                    </a:lnL>
                    <a:lnR w="12700" cap="flat" cmpd="sng">
                      <a:solidFill>
                        <a:srgbClr val="B7B5B1"/>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B7B5B1"/>
                      </a:solidFill>
                      <a:prstDash val="solid"/>
                      <a:round/>
                      <a:headEnd type="none" w="sm" len="sm"/>
                      <a:tailEnd type="none" w="sm" len="sm"/>
                    </a:lnB>
                    <a:solidFill>
                      <a:srgbClr val="E5E3DE"/>
                    </a:solidFill>
                  </a:tcPr>
                </a:tc>
                <a:extLst>
                  <a:ext uri="{0D108BD9-81ED-4DB2-BD59-A6C34878D82A}">
                    <a16:rowId xmlns:a16="http://schemas.microsoft.com/office/drawing/2014/main" val="10000"/>
                  </a:ext>
                </a:extLst>
              </a:tr>
              <a:tr h="412750">
                <a:tc>
                  <a:txBody>
                    <a:bodyPr/>
                    <a:lstStyle/>
                    <a:p>
                      <a:pPr marL="0" marR="0" lvl="0" indent="0" algn="l"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кот</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1</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1</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1</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1</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0</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B7B5B1"/>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1"/>
                  </a:ext>
                </a:extLst>
              </a:tr>
              <a:tr h="412750">
                <a:tc>
                  <a:txBody>
                    <a:bodyPr/>
                    <a:lstStyle/>
                    <a:p>
                      <a:pPr marL="0" marR="0" lvl="0" indent="0" algn="l"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кошка</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1</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1</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1</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1</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0</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2"/>
                  </a:ext>
                </a:extLst>
              </a:tr>
              <a:tr h="412750">
                <a:tc>
                  <a:txBody>
                    <a:bodyPr/>
                    <a:lstStyle/>
                    <a:p>
                      <a:pPr marL="0" marR="0" lvl="0" indent="0" algn="l"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студент</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1</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0</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0</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a:solidFill>
                            <a:srgbClr val="1B2430"/>
                          </a:solidFill>
                          <a:latin typeface="Golos Text"/>
                          <a:ea typeface="Golos Text"/>
                          <a:cs typeface="Golos Text"/>
                          <a:sym typeface="Golos Text"/>
                        </a:rPr>
                        <a:t>0</a:t>
                      </a:r>
                      <a:endParaRPr sz="1500" u="none" strike="noStrike" cap="none">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tc>
                  <a:txBody>
                    <a:bodyPr/>
                    <a:lstStyle/>
                    <a:p>
                      <a:pPr marL="0" marR="0" lvl="0" indent="0" algn="ctr" rtl="0">
                        <a:lnSpc>
                          <a:spcPct val="140000"/>
                        </a:lnSpc>
                        <a:spcBef>
                          <a:spcPts val="0"/>
                        </a:spcBef>
                        <a:spcAft>
                          <a:spcPts val="0"/>
                        </a:spcAft>
                        <a:buClr>
                          <a:srgbClr val="1B2430"/>
                        </a:buClr>
                        <a:buSzPts val="1500"/>
                        <a:buFont typeface="Golos Text"/>
                        <a:buNone/>
                      </a:pPr>
                      <a:r>
                        <a:rPr lang="en-US" sz="1500" u="none" strike="noStrike" cap="none" dirty="0">
                          <a:solidFill>
                            <a:srgbClr val="1B2430"/>
                          </a:solidFill>
                          <a:latin typeface="Golos Text"/>
                          <a:ea typeface="Golos Text"/>
                          <a:cs typeface="Golos Text"/>
                          <a:sym typeface="Golos Text"/>
                        </a:rPr>
                        <a:t>1</a:t>
                      </a:r>
                      <a:endParaRPr sz="1500" u="none" strike="noStrike" cap="none" dirty="0">
                        <a:latin typeface="Golos Text"/>
                        <a:ea typeface="Golos Text"/>
                        <a:cs typeface="Golos Text"/>
                        <a:sym typeface="Golos Text"/>
                      </a:endParaRPr>
                    </a:p>
                  </a:txBody>
                  <a:tcPr marL="66675" marR="66675" marT="66675" marB="66675">
                    <a:lnL w="12700" cap="flat" cmpd="sng">
                      <a:solidFill>
                        <a:srgbClr val="C5C4BF"/>
                      </a:solidFill>
                      <a:prstDash val="solid"/>
                      <a:round/>
                      <a:headEnd type="none" w="sm" len="sm"/>
                      <a:tailEnd type="none" w="sm" len="sm"/>
                    </a:lnL>
                    <a:lnR w="12700" cap="flat" cmpd="sng">
                      <a:solidFill>
                        <a:srgbClr val="C5C4BF"/>
                      </a:solidFill>
                      <a:prstDash val="solid"/>
                      <a:round/>
                      <a:headEnd type="none" w="sm" len="sm"/>
                      <a:tailEnd type="none" w="sm" len="sm"/>
                    </a:lnR>
                    <a:lnT w="12700" cap="flat" cmpd="sng">
                      <a:solidFill>
                        <a:srgbClr val="C5C4BF"/>
                      </a:solidFill>
                      <a:prstDash val="solid"/>
                      <a:round/>
                      <a:headEnd type="none" w="sm" len="sm"/>
                      <a:tailEnd type="none" w="sm" len="sm"/>
                    </a:lnT>
                    <a:lnB w="12700" cap="flat" cmpd="sng">
                      <a:solidFill>
                        <a:srgbClr val="C5C4B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06" name="Google Shape;406;p25"/>
          <p:cNvSpPr/>
          <p:nvPr/>
        </p:nvSpPr>
        <p:spPr>
          <a:xfrm>
            <a:off x="5286234" y="4237236"/>
            <a:ext cx="2965500" cy="1169700"/>
          </a:xfrm>
          <a:prstGeom prst="roundRect">
            <a:avLst>
              <a:gd name="adj" fmla="val 8415"/>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5"/>
          <p:cNvSpPr/>
          <p:nvPr/>
        </p:nvSpPr>
        <p:spPr>
          <a:xfrm>
            <a:off x="5467204" y="4418211"/>
            <a:ext cx="2681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cos(кот, кошка)</a:t>
            </a:r>
            <a:endParaRPr sz="1200" b="0" i="0" u="none" strike="noStrike" cap="none">
              <a:solidFill>
                <a:schemeClr val="dk1"/>
              </a:solidFill>
              <a:latin typeface="Golos Text"/>
              <a:ea typeface="Golos Text"/>
              <a:cs typeface="Golos Text"/>
              <a:sym typeface="Golos Text"/>
            </a:endParaRPr>
          </a:p>
        </p:txBody>
      </p:sp>
      <p:sp>
        <p:nvSpPr>
          <p:cNvPr id="408" name="Google Shape;408;p25"/>
          <p:cNvSpPr/>
          <p:nvPr/>
        </p:nvSpPr>
        <p:spPr>
          <a:xfrm>
            <a:off x="5467204" y="4656931"/>
            <a:ext cx="2681700" cy="594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3200"/>
              <a:buFont typeface="PT Serif"/>
              <a:buNone/>
            </a:pPr>
            <a:r>
              <a:rPr lang="en-US" sz="3200" b="1" i="0" u="none" strike="noStrike" cap="none">
                <a:solidFill>
                  <a:srgbClr val="B34A1C"/>
                </a:solidFill>
                <a:latin typeface="PT Serif"/>
                <a:ea typeface="PT Serif"/>
                <a:cs typeface="PT Serif"/>
                <a:sym typeface="PT Serif"/>
              </a:rPr>
              <a:t>1,00</a:t>
            </a:r>
            <a:endParaRPr sz="3200" b="0" i="0" u="none" strike="noStrike" cap="none">
              <a:solidFill>
                <a:schemeClr val="dk1"/>
              </a:solidFill>
              <a:latin typeface="Golos Text"/>
              <a:ea typeface="Golos Text"/>
              <a:cs typeface="Golos Text"/>
              <a:sym typeface="Golos Text"/>
            </a:endParaRPr>
          </a:p>
        </p:txBody>
      </p:sp>
      <p:sp>
        <p:nvSpPr>
          <p:cNvPr id="409" name="Google Shape;409;p25"/>
          <p:cNvSpPr/>
          <p:nvPr/>
        </p:nvSpPr>
        <p:spPr>
          <a:xfrm>
            <a:off x="8410351" y="4237236"/>
            <a:ext cx="2965500" cy="1169700"/>
          </a:xfrm>
          <a:prstGeom prst="roundRect">
            <a:avLst>
              <a:gd name="adj" fmla="val 8415"/>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5"/>
          <p:cNvSpPr/>
          <p:nvPr/>
        </p:nvSpPr>
        <p:spPr>
          <a:xfrm>
            <a:off x="8591321" y="4418211"/>
            <a:ext cx="2681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cos(кот, студент)</a:t>
            </a:r>
            <a:endParaRPr sz="1200" b="0" i="0" u="none" strike="noStrike" cap="none">
              <a:solidFill>
                <a:schemeClr val="dk1"/>
              </a:solidFill>
              <a:latin typeface="Golos Text"/>
              <a:ea typeface="Golos Text"/>
              <a:cs typeface="Golos Text"/>
              <a:sym typeface="Golos Text"/>
            </a:endParaRPr>
          </a:p>
        </p:txBody>
      </p:sp>
      <p:sp>
        <p:nvSpPr>
          <p:cNvPr id="411" name="Google Shape;411;p25"/>
          <p:cNvSpPr/>
          <p:nvPr/>
        </p:nvSpPr>
        <p:spPr>
          <a:xfrm>
            <a:off x="8591321" y="4656931"/>
            <a:ext cx="2681700" cy="594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B5FA6"/>
              </a:buClr>
              <a:buSzPts val="3200"/>
              <a:buFont typeface="PT Serif"/>
              <a:buNone/>
            </a:pPr>
            <a:r>
              <a:rPr lang="en-US" sz="3200" b="1" i="0" u="none" strike="noStrike" cap="none">
                <a:solidFill>
                  <a:srgbClr val="2B5FA6"/>
                </a:solidFill>
                <a:latin typeface="PT Serif"/>
                <a:ea typeface="PT Serif"/>
                <a:cs typeface="PT Serif"/>
                <a:sym typeface="PT Serif"/>
              </a:rPr>
              <a:t>0,35</a:t>
            </a:r>
            <a:endParaRPr sz="3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6"/>
        <p:cNvGrpSpPr/>
        <p:nvPr/>
      </p:nvGrpSpPr>
      <p:grpSpPr>
        <a:xfrm>
          <a:off x="0" y="0"/>
          <a:ext cx="0" cy="0"/>
          <a:chOff x="0" y="0"/>
          <a:chExt cx="0" cy="0"/>
        </a:xfrm>
      </p:grpSpPr>
      <p:sp>
        <p:nvSpPr>
          <p:cNvPr id="417" name="Google Shape;417;p26"/>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02 · ОТ ПОДСЧЁТОВ К ПРЕДСКАЗАНИЮ</a:t>
            </a:r>
            <a:endParaRPr sz="1200" b="0" i="0" u="none" strike="noStrike" cap="none">
              <a:solidFill>
                <a:schemeClr val="dk1"/>
              </a:solidFill>
              <a:latin typeface="Golos Text"/>
              <a:ea typeface="Golos Text"/>
              <a:cs typeface="Golos Text"/>
              <a:sym typeface="Golos Text"/>
            </a:endParaRPr>
          </a:p>
        </p:txBody>
      </p:sp>
      <p:sp>
        <p:nvSpPr>
          <p:cNvPr id="418" name="Google Shape;418;p26"/>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PMI: убираем влияние частых слов</a:t>
            </a:r>
            <a:endParaRPr sz="3200"/>
          </a:p>
        </p:txBody>
      </p:sp>
      <p:sp>
        <p:nvSpPr>
          <p:cNvPr id="419" name="Google Shape;419;p26"/>
          <p:cNvSpPr/>
          <p:nvPr/>
        </p:nvSpPr>
        <p:spPr>
          <a:xfrm>
            <a:off x="812778" y="1899841"/>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dirty="0" err="1">
                <a:solidFill>
                  <a:srgbClr val="4A5361"/>
                </a:solidFill>
                <a:latin typeface="Golos Text"/>
                <a:ea typeface="Golos Text"/>
                <a:cs typeface="Golos Text"/>
                <a:sym typeface="Golos Text"/>
              </a:rPr>
              <a:t>Сырые</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счётчики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забиты</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частыми</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словами</a:t>
            </a:r>
            <a:r>
              <a:rPr lang="en-US" sz="1500" b="0" i="0" u="none" strike="noStrike" cap="none" dirty="0">
                <a:solidFill>
                  <a:srgbClr val="4A5361"/>
                </a:solidFill>
                <a:latin typeface="Golos Text"/>
                <a:ea typeface="Golos Text"/>
                <a:cs typeface="Golos Text"/>
                <a:sym typeface="Golos Text"/>
              </a:rPr>
              <a:t>: «и», «в», «</a:t>
            </a:r>
            <a:r>
              <a:rPr lang="en-US" sz="1500" b="0" i="0" u="none" strike="noStrike" cap="none" dirty="0" err="1">
                <a:solidFill>
                  <a:srgbClr val="4A5361"/>
                </a:solidFill>
                <a:latin typeface="Golos Text"/>
                <a:ea typeface="Golos Text"/>
                <a:cs typeface="Golos Text"/>
                <a:sym typeface="Golos Text"/>
              </a:rPr>
              <a:t>на</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соседствуют</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со</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всем</a:t>
            </a:r>
            <a:r>
              <a:rPr lang="en-US" sz="1500" b="0" i="0" u="none" strike="noStrike" cap="none" dirty="0">
                <a:solidFill>
                  <a:srgbClr val="4A5361"/>
                </a:solidFill>
                <a:latin typeface="Golos Text"/>
                <a:ea typeface="Golos Text"/>
                <a:cs typeface="Golos Text"/>
                <a:sym typeface="Golos Text"/>
              </a:rPr>
              <a:t> </a:t>
            </a:r>
            <a:r>
              <a:rPr lang="en-US" sz="1500" b="0" i="0" u="none" strike="noStrike" cap="none" dirty="0" err="1">
                <a:solidFill>
                  <a:srgbClr val="4A5361"/>
                </a:solidFill>
                <a:latin typeface="Golos Text"/>
                <a:ea typeface="Golos Text"/>
                <a:cs typeface="Golos Text"/>
                <a:sym typeface="Golos Text"/>
              </a:rPr>
              <a:t>подряд</a:t>
            </a:r>
            <a:r>
              <a:rPr lang="en-US" sz="1500" b="0" i="0" u="none" strike="noStrike" cap="none" dirty="0">
                <a:solidFill>
                  <a:srgbClr val="4A5361"/>
                </a:solidFill>
                <a:latin typeface="Golos Text"/>
                <a:ea typeface="Golos Text"/>
                <a:cs typeface="Golos Text"/>
                <a:sym typeface="Golos Text"/>
              </a:rPr>
              <a:t>.</a:t>
            </a:r>
            <a:endParaRPr sz="1500" b="0" i="0" u="none" strike="noStrike" cap="none" dirty="0">
              <a:solidFill>
                <a:schemeClr val="dk1"/>
              </a:solidFill>
              <a:latin typeface="Golos Text"/>
              <a:ea typeface="Golos Text"/>
              <a:cs typeface="Golos Text"/>
              <a:sym typeface="Golos Text"/>
            </a:endParaRPr>
          </a:p>
        </p:txBody>
      </p:sp>
      <p:sp>
        <p:nvSpPr>
          <p:cNvPr id="420" name="Google Shape;420;p26"/>
          <p:cNvSpPr/>
          <p:nvPr/>
        </p:nvSpPr>
        <p:spPr>
          <a:xfrm>
            <a:off x="812778" y="2603401"/>
            <a:ext cx="2714100" cy="594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3200"/>
              <a:buFont typeface="PT Serif"/>
              <a:buNone/>
            </a:pPr>
            <a:r>
              <a:rPr lang="en-US" sz="3200" b="0" i="1" u="none" strike="noStrike" cap="none">
                <a:solidFill>
                  <a:srgbClr val="1B2430"/>
                </a:solidFill>
                <a:latin typeface="PT Serif"/>
                <a:ea typeface="PT Serif"/>
                <a:cs typeface="PT Serif"/>
                <a:sym typeface="PT Serif"/>
              </a:rPr>
              <a:t>PMI(w, c) = log</a:t>
            </a:r>
            <a:endParaRPr sz="3200" b="0" i="0" u="none" strike="noStrike" cap="none">
              <a:solidFill>
                <a:schemeClr val="dk1"/>
              </a:solidFill>
              <a:latin typeface="Golos Text"/>
              <a:ea typeface="Golos Text"/>
              <a:cs typeface="Golos Text"/>
              <a:sym typeface="Golos Text"/>
            </a:endParaRPr>
          </a:p>
        </p:txBody>
      </p:sp>
      <p:sp>
        <p:nvSpPr>
          <p:cNvPr id="421" name="Google Shape;421;p26"/>
          <p:cNvSpPr/>
          <p:nvPr/>
        </p:nvSpPr>
        <p:spPr>
          <a:xfrm>
            <a:off x="3922657" y="2471936"/>
            <a:ext cx="858900" cy="3810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B2430"/>
              </a:buClr>
              <a:buSzPts val="2000"/>
              <a:buFont typeface="PT Serif"/>
              <a:buNone/>
            </a:pPr>
            <a:r>
              <a:rPr lang="en-US" sz="2000" b="0" i="1" u="none" strike="noStrike" cap="none">
                <a:solidFill>
                  <a:srgbClr val="1B2430"/>
                </a:solidFill>
                <a:latin typeface="PT Serif"/>
                <a:ea typeface="PT Serif"/>
                <a:cs typeface="PT Serif"/>
                <a:sym typeface="PT Serif"/>
              </a:rPr>
              <a:t>P(w, c)</a:t>
            </a:r>
            <a:endParaRPr sz="2000" b="0" i="0" u="none" strike="noStrike" cap="none">
              <a:solidFill>
                <a:schemeClr val="dk1"/>
              </a:solidFill>
              <a:latin typeface="Golos Text"/>
              <a:ea typeface="Golos Text"/>
              <a:cs typeface="Golos Text"/>
              <a:sym typeface="Golos Text"/>
            </a:endParaRPr>
          </a:p>
        </p:txBody>
      </p:sp>
      <p:pic>
        <p:nvPicPr>
          <p:cNvPr id="422" name="Google Shape;422;p26" descr="line"/>
          <p:cNvPicPr preferRelativeResize="0"/>
          <p:nvPr/>
        </p:nvPicPr>
        <p:blipFill rotWithShape="1">
          <a:blip r:embed="rId3">
            <a:alphaModFix/>
          </a:blip>
          <a:srcRect/>
          <a:stretch/>
        </p:blipFill>
        <p:spPr>
          <a:xfrm>
            <a:off x="3526736" y="2878336"/>
            <a:ext cx="1650956" cy="19049"/>
          </a:xfrm>
          <a:prstGeom prst="rect">
            <a:avLst/>
          </a:prstGeom>
          <a:noFill/>
          <a:ln>
            <a:noFill/>
          </a:ln>
        </p:spPr>
      </p:pic>
      <p:sp>
        <p:nvSpPr>
          <p:cNvPr id="423" name="Google Shape;423;p26"/>
          <p:cNvSpPr/>
          <p:nvPr/>
        </p:nvSpPr>
        <p:spPr>
          <a:xfrm>
            <a:off x="3695017" y="2948186"/>
            <a:ext cx="1314300" cy="3810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B2430"/>
              </a:buClr>
              <a:buSzPts val="2000"/>
              <a:buFont typeface="PT Serif"/>
              <a:buNone/>
            </a:pPr>
            <a:r>
              <a:rPr lang="en-US" sz="2000" b="0" i="1" u="none" strike="noStrike" cap="none">
                <a:solidFill>
                  <a:srgbClr val="1B2430"/>
                </a:solidFill>
                <a:latin typeface="PT Serif"/>
                <a:ea typeface="PT Serif"/>
                <a:cs typeface="PT Serif"/>
                <a:sym typeface="PT Serif"/>
              </a:rPr>
              <a:t>P(w) · P(c)</a:t>
            </a:r>
            <a:endParaRPr sz="2000" b="0" i="0" u="none" strike="noStrike" cap="none">
              <a:solidFill>
                <a:schemeClr val="dk1"/>
              </a:solidFill>
              <a:latin typeface="Golos Text"/>
              <a:ea typeface="Golos Text"/>
              <a:cs typeface="Golos Text"/>
              <a:sym typeface="Golos Text"/>
            </a:endParaRPr>
          </a:p>
        </p:txBody>
      </p:sp>
      <p:sp>
        <p:nvSpPr>
          <p:cNvPr id="424" name="Google Shape;424;p26"/>
          <p:cNvSpPr/>
          <p:nvPr/>
        </p:nvSpPr>
        <p:spPr>
          <a:xfrm>
            <a:off x="5787276" y="2471341"/>
            <a:ext cx="36627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0" i="1" u="none" strike="noStrike" cap="none" dirty="0">
                <a:solidFill>
                  <a:srgbClr val="B34A1C"/>
                </a:solidFill>
                <a:latin typeface="PT Serif"/>
                <a:ea typeface="PT Serif"/>
                <a:cs typeface="PT Serif"/>
                <a:sym typeface="PT Serif"/>
              </a:rPr>
              <a:t>PPMI(w, c) = max(0, PMI)</a:t>
            </a:r>
            <a:endParaRPr sz="2000" b="0" i="0" u="none" strike="noStrike" cap="none" dirty="0">
              <a:solidFill>
                <a:schemeClr val="dk1"/>
              </a:solidFill>
              <a:latin typeface="Golos Text"/>
              <a:ea typeface="Golos Text"/>
              <a:cs typeface="Golos Text"/>
              <a:sym typeface="Golos Text"/>
            </a:endParaRPr>
          </a:p>
        </p:txBody>
      </p:sp>
      <p:sp>
        <p:nvSpPr>
          <p:cNvPr id="425" name="Google Shape;425;p26"/>
          <p:cNvSpPr/>
          <p:nvPr/>
        </p:nvSpPr>
        <p:spPr>
          <a:xfrm>
            <a:off x="5787276" y="2877741"/>
            <a:ext cx="3662700" cy="45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dirty="0" err="1">
                <a:solidFill>
                  <a:srgbClr val="646B78"/>
                </a:solidFill>
                <a:latin typeface="Golos Text"/>
                <a:ea typeface="Golos Text"/>
                <a:cs typeface="Golos Text"/>
                <a:sym typeface="Golos Text"/>
              </a:rPr>
              <a:t>Во</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сколько</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раз</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пара</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встречается</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чаще</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чем</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если</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бы</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слова</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были</a:t>
            </a:r>
            <a:r>
              <a:rPr lang="en-US" sz="1200" b="0" i="0" u="none" strike="noStrike" cap="none" dirty="0">
                <a:solidFill>
                  <a:srgbClr val="646B78"/>
                </a:solidFill>
                <a:latin typeface="Golos Text"/>
                <a:ea typeface="Golos Text"/>
                <a:cs typeface="Golos Text"/>
                <a:sym typeface="Golos Text"/>
              </a:rPr>
              <a:t> </a:t>
            </a:r>
            <a:r>
              <a:rPr lang="en-US" sz="1200" b="0" i="0" u="none" strike="noStrike" cap="none" dirty="0" err="1">
                <a:solidFill>
                  <a:srgbClr val="646B78"/>
                </a:solidFill>
                <a:latin typeface="Golos Text"/>
                <a:ea typeface="Golos Text"/>
                <a:cs typeface="Golos Text"/>
                <a:sym typeface="Golos Text"/>
              </a:rPr>
              <a:t>независимы</a:t>
            </a:r>
            <a:endParaRPr sz="1200" b="0" i="0" u="none" strike="noStrike" cap="none" dirty="0">
              <a:solidFill>
                <a:schemeClr val="dk1"/>
              </a:solidFill>
              <a:latin typeface="Golos Text"/>
              <a:ea typeface="Golos Text"/>
              <a:cs typeface="Golos Text"/>
              <a:sym typeface="Golos Text"/>
            </a:endParaRPr>
          </a:p>
        </p:txBody>
      </p:sp>
      <p:sp>
        <p:nvSpPr>
          <p:cNvPr id="426" name="Google Shape;426;p26"/>
          <p:cNvSpPr/>
          <p:nvPr/>
        </p:nvSpPr>
        <p:spPr>
          <a:xfrm>
            <a:off x="815953" y="3612356"/>
            <a:ext cx="3414000" cy="1316700"/>
          </a:xfrm>
          <a:prstGeom prst="roundRect">
            <a:avLst>
              <a:gd name="adj" fmla="val 7474"/>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6"/>
          <p:cNvSpPr/>
          <p:nvPr/>
        </p:nvSpPr>
        <p:spPr>
          <a:xfrm>
            <a:off x="1022323" y="3818731"/>
            <a:ext cx="30915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1" i="0" u="none" strike="noStrike" cap="none">
                <a:solidFill>
                  <a:srgbClr val="B34A1C"/>
                </a:solidFill>
                <a:latin typeface="PT Serif"/>
                <a:ea typeface="PT Serif"/>
                <a:cs typeface="PT Serif"/>
                <a:sym typeface="PT Serif"/>
              </a:rPr>
              <a:t>PMI &gt; 0</a:t>
            </a:r>
            <a:endParaRPr sz="2000" b="0" i="0" u="none" strike="noStrike" cap="none">
              <a:solidFill>
                <a:schemeClr val="dk1"/>
              </a:solidFill>
              <a:latin typeface="Golos Text"/>
              <a:ea typeface="Golos Text"/>
              <a:cs typeface="Golos Text"/>
              <a:sym typeface="Golos Text"/>
            </a:endParaRPr>
          </a:p>
        </p:txBody>
      </p:sp>
      <p:sp>
        <p:nvSpPr>
          <p:cNvPr id="428" name="Google Shape;428;p26"/>
          <p:cNvSpPr/>
          <p:nvPr/>
        </p:nvSpPr>
        <p:spPr>
          <a:xfrm>
            <a:off x="1022323" y="4225131"/>
            <a:ext cx="30915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пара встречается чаще случайного: «крепкий чай»</a:t>
            </a:r>
            <a:endParaRPr sz="1400" b="0" i="0" u="none" strike="noStrike" cap="none">
              <a:solidFill>
                <a:schemeClr val="dk1"/>
              </a:solidFill>
              <a:latin typeface="Golos Text"/>
              <a:ea typeface="Golos Text"/>
              <a:cs typeface="Golos Text"/>
              <a:sym typeface="Golos Text"/>
            </a:endParaRPr>
          </a:p>
        </p:txBody>
      </p:sp>
      <p:sp>
        <p:nvSpPr>
          <p:cNvPr id="429" name="Google Shape;429;p26"/>
          <p:cNvSpPr/>
          <p:nvPr/>
        </p:nvSpPr>
        <p:spPr>
          <a:xfrm>
            <a:off x="4388725" y="3612356"/>
            <a:ext cx="3414300" cy="1316700"/>
          </a:xfrm>
          <a:prstGeom prst="roundRect">
            <a:avLst>
              <a:gd name="adj" fmla="val 7474"/>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6"/>
          <p:cNvSpPr/>
          <p:nvPr/>
        </p:nvSpPr>
        <p:spPr>
          <a:xfrm>
            <a:off x="4595095" y="3818731"/>
            <a:ext cx="30915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PMI ≈ 0</a:t>
            </a:r>
            <a:endParaRPr sz="2000" b="0" i="0" u="none" strike="noStrike" cap="none">
              <a:solidFill>
                <a:schemeClr val="dk1"/>
              </a:solidFill>
              <a:latin typeface="Golos Text"/>
              <a:ea typeface="Golos Text"/>
              <a:cs typeface="Golos Text"/>
              <a:sym typeface="Golos Text"/>
            </a:endParaRPr>
          </a:p>
        </p:txBody>
      </p:sp>
      <p:sp>
        <p:nvSpPr>
          <p:cNvPr id="431" name="Google Shape;431;p26"/>
          <p:cNvSpPr/>
          <p:nvPr/>
        </p:nvSpPr>
        <p:spPr>
          <a:xfrm>
            <a:off x="4595095" y="4225131"/>
            <a:ext cx="30915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слова независимы: «и» рядом с чем угодно</a:t>
            </a:r>
            <a:endParaRPr sz="1400" b="0" i="0" u="none" strike="noStrike" cap="none">
              <a:solidFill>
                <a:schemeClr val="dk1"/>
              </a:solidFill>
              <a:latin typeface="Golos Text"/>
              <a:ea typeface="Golos Text"/>
              <a:cs typeface="Golos Text"/>
              <a:sym typeface="Golos Text"/>
            </a:endParaRPr>
          </a:p>
        </p:txBody>
      </p:sp>
      <p:sp>
        <p:nvSpPr>
          <p:cNvPr id="432" name="Google Shape;432;p26"/>
          <p:cNvSpPr/>
          <p:nvPr/>
        </p:nvSpPr>
        <p:spPr>
          <a:xfrm>
            <a:off x="7961597" y="3612356"/>
            <a:ext cx="3414300" cy="1316700"/>
          </a:xfrm>
          <a:prstGeom prst="roundRect">
            <a:avLst>
              <a:gd name="adj" fmla="val 7474"/>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6"/>
          <p:cNvSpPr/>
          <p:nvPr/>
        </p:nvSpPr>
        <p:spPr>
          <a:xfrm>
            <a:off x="8167966" y="3818731"/>
            <a:ext cx="30915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B5FA6"/>
              </a:buClr>
              <a:buSzPts val="2000"/>
              <a:buFont typeface="PT Serif"/>
              <a:buNone/>
            </a:pPr>
            <a:r>
              <a:rPr lang="en-US" sz="2000" b="1" i="0" u="none" strike="noStrike" cap="none">
                <a:solidFill>
                  <a:srgbClr val="2B5FA6"/>
                </a:solidFill>
                <a:latin typeface="PT Serif"/>
                <a:ea typeface="PT Serif"/>
                <a:cs typeface="PT Serif"/>
                <a:sym typeface="PT Serif"/>
              </a:rPr>
              <a:t>PMI &lt; 0</a:t>
            </a:r>
            <a:endParaRPr sz="2000" b="0" i="0" u="none" strike="noStrike" cap="none">
              <a:solidFill>
                <a:schemeClr val="dk1"/>
              </a:solidFill>
              <a:latin typeface="Golos Text"/>
              <a:ea typeface="Golos Text"/>
              <a:cs typeface="Golos Text"/>
              <a:sym typeface="Golos Text"/>
            </a:endParaRPr>
          </a:p>
        </p:txBody>
      </p:sp>
      <p:sp>
        <p:nvSpPr>
          <p:cNvPr id="434" name="Google Shape;434;p26"/>
          <p:cNvSpPr/>
          <p:nvPr/>
        </p:nvSpPr>
        <p:spPr>
          <a:xfrm>
            <a:off x="8167966" y="4225131"/>
            <a:ext cx="30915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пара избегает друг друга; оценки шумные — обнуляем</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9"/>
        <p:cNvGrpSpPr/>
        <p:nvPr/>
      </p:nvGrpSpPr>
      <p:grpSpPr>
        <a:xfrm>
          <a:off x="0" y="0"/>
          <a:ext cx="0" cy="0"/>
          <a:chOff x="0" y="0"/>
          <a:chExt cx="0" cy="0"/>
        </a:xfrm>
      </p:grpSpPr>
      <p:sp>
        <p:nvSpPr>
          <p:cNvPr id="440" name="Google Shape;440;p27"/>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02 · ОТ ПОДСЧЁТОВ К ПРЕДСКАЗАНИЮ</a:t>
            </a:r>
            <a:endParaRPr sz="1200" b="0" i="0" u="none" strike="noStrike" cap="none">
              <a:solidFill>
                <a:schemeClr val="dk1"/>
              </a:solidFill>
              <a:latin typeface="Golos Text"/>
              <a:ea typeface="Golos Text"/>
              <a:cs typeface="Golos Text"/>
              <a:sym typeface="Golos Text"/>
            </a:endParaRPr>
          </a:p>
        </p:txBody>
      </p:sp>
      <p:sp>
        <p:nvSpPr>
          <p:cNvPr id="441" name="Google Shape;441;p27"/>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word2vec — неявная факторизация PMI</a:t>
            </a:r>
            <a:endParaRPr sz="3200"/>
          </a:p>
        </p:txBody>
      </p:sp>
      <p:sp>
        <p:nvSpPr>
          <p:cNvPr id="442" name="Google Shape;442;p27"/>
          <p:cNvSpPr/>
          <p:nvPr/>
        </p:nvSpPr>
        <p:spPr>
          <a:xfrm>
            <a:off x="812778" y="1950641"/>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500"/>
              <a:buFont typeface="Golos Text"/>
              <a:buNone/>
            </a:pPr>
            <a:r>
              <a:rPr lang="en-US" sz="1500" b="0" i="0" u="none" strike="noStrike" cap="none">
                <a:solidFill>
                  <a:srgbClr val="4A5361"/>
                </a:solidFill>
                <a:latin typeface="Golos Text"/>
                <a:ea typeface="Golos Text"/>
                <a:cs typeface="Golos Text"/>
                <a:sym typeface="Golos Text"/>
              </a:rPr>
              <a:t>В оптимуме skip-gram с negative sampling выполняется:</a:t>
            </a:r>
            <a:endParaRPr sz="1500" b="0" i="0" u="none" strike="noStrike" cap="none">
              <a:solidFill>
                <a:schemeClr val="dk1"/>
              </a:solidFill>
              <a:latin typeface="Golos Text"/>
              <a:ea typeface="Golos Text"/>
              <a:cs typeface="Golos Text"/>
              <a:sym typeface="Golos Text"/>
            </a:endParaRPr>
          </a:p>
        </p:txBody>
      </p:sp>
      <p:sp>
        <p:nvSpPr>
          <p:cNvPr id="443" name="Google Shape;443;p27"/>
          <p:cNvSpPr/>
          <p:nvPr/>
        </p:nvSpPr>
        <p:spPr>
          <a:xfrm>
            <a:off x="812778" y="2344341"/>
            <a:ext cx="10883100" cy="6960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B2430"/>
              </a:buClr>
              <a:buSzPts val="4800"/>
              <a:buFont typeface="PT Serif"/>
              <a:buNone/>
            </a:pPr>
            <a:r>
              <a:rPr lang="en-US" sz="4800" b="0" i="1" u="none" strike="noStrike" cap="none">
                <a:solidFill>
                  <a:srgbClr val="1B2430"/>
                </a:solidFill>
                <a:latin typeface="PT Serif"/>
                <a:ea typeface="PT Serif"/>
                <a:cs typeface="PT Serif"/>
                <a:sym typeface="PT Serif"/>
              </a:rPr>
              <a:t>w · c = PMI(w, c) − log k</a:t>
            </a:r>
            <a:endParaRPr sz="4800" b="0" i="0" u="none" strike="noStrike" cap="none">
              <a:solidFill>
                <a:schemeClr val="dk1"/>
              </a:solidFill>
              <a:latin typeface="Golos Text"/>
              <a:ea typeface="Golos Text"/>
              <a:cs typeface="Golos Text"/>
              <a:sym typeface="Golos Text"/>
            </a:endParaRPr>
          </a:p>
        </p:txBody>
      </p:sp>
      <p:sp>
        <p:nvSpPr>
          <p:cNvPr id="444" name="Google Shape;444;p27"/>
          <p:cNvSpPr/>
          <p:nvPr/>
        </p:nvSpPr>
        <p:spPr>
          <a:xfrm>
            <a:off x="812778" y="3141861"/>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k — число негативных примеров · Levy &amp; Goldberg, NeurIPS 2014</a:t>
            </a:r>
            <a:endParaRPr sz="1200" b="0" i="0" u="none" strike="noStrike" cap="none">
              <a:solidFill>
                <a:schemeClr val="dk1"/>
              </a:solidFill>
              <a:latin typeface="Golos Text"/>
              <a:ea typeface="Golos Text"/>
              <a:cs typeface="Golos Text"/>
              <a:sym typeface="Golos Text"/>
            </a:endParaRPr>
          </a:p>
        </p:txBody>
      </p:sp>
      <p:sp>
        <p:nvSpPr>
          <p:cNvPr id="445" name="Google Shape;445;p27"/>
          <p:cNvSpPr/>
          <p:nvPr/>
        </p:nvSpPr>
        <p:spPr>
          <a:xfrm>
            <a:off x="815953" y="3713956"/>
            <a:ext cx="5175300" cy="1392900"/>
          </a:xfrm>
          <a:prstGeom prst="roundRect">
            <a:avLst>
              <a:gd name="adj" fmla="val 7066"/>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7"/>
          <p:cNvSpPr/>
          <p:nvPr/>
        </p:nvSpPr>
        <p:spPr>
          <a:xfrm>
            <a:off x="1073121" y="397113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Одна идея, два способа</a:t>
            </a:r>
            <a:endParaRPr sz="2000" b="0" i="0" u="none" strike="noStrike" cap="none">
              <a:solidFill>
                <a:schemeClr val="dk1"/>
              </a:solidFill>
              <a:latin typeface="Golos Text"/>
              <a:ea typeface="Golos Text"/>
              <a:cs typeface="Golos Text"/>
              <a:sym typeface="Golos Text"/>
            </a:endParaRPr>
          </a:p>
        </p:txBody>
      </p:sp>
      <p:sp>
        <p:nvSpPr>
          <p:cNvPr id="447" name="Google Shape;447;p27"/>
          <p:cNvSpPr/>
          <p:nvPr/>
        </p:nvSpPr>
        <p:spPr>
          <a:xfrm>
            <a:off x="1073121" y="4352131"/>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Подсчёт + SVD и word2vec приближают одну и ту же матрицу «слово × контекст»</a:t>
            </a:r>
            <a:endParaRPr sz="1400" b="0" i="0" u="none" strike="noStrike" cap="none">
              <a:solidFill>
                <a:schemeClr val="dk1"/>
              </a:solidFill>
              <a:latin typeface="Golos Text"/>
              <a:ea typeface="Golos Text"/>
              <a:cs typeface="Golos Text"/>
              <a:sym typeface="Golos Text"/>
            </a:endParaRPr>
          </a:p>
        </p:txBody>
      </p:sp>
      <p:sp>
        <p:nvSpPr>
          <p:cNvPr id="448" name="Google Shape;448;p27"/>
          <p:cNvSpPr/>
          <p:nvPr/>
        </p:nvSpPr>
        <p:spPr>
          <a:xfrm>
            <a:off x="6200610" y="3713956"/>
            <a:ext cx="5175300" cy="1392900"/>
          </a:xfrm>
          <a:prstGeom prst="roundRect">
            <a:avLst>
              <a:gd name="adj" fmla="val 7066"/>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7"/>
          <p:cNvSpPr/>
          <p:nvPr/>
        </p:nvSpPr>
        <p:spPr>
          <a:xfrm>
            <a:off x="6457778" y="397113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Важнее детали</a:t>
            </a:r>
            <a:endParaRPr sz="2000" b="0" i="0" u="none" strike="noStrike" cap="none">
              <a:solidFill>
                <a:schemeClr val="dk1"/>
              </a:solidFill>
              <a:latin typeface="Golos Text"/>
              <a:ea typeface="Golos Text"/>
              <a:cs typeface="Golos Text"/>
              <a:sym typeface="Golos Text"/>
            </a:endParaRPr>
          </a:p>
        </p:txBody>
      </p:sp>
      <p:sp>
        <p:nvSpPr>
          <p:cNvPr id="450" name="Google Shape;450;p27"/>
          <p:cNvSpPr/>
          <p:nvPr/>
        </p:nvSpPr>
        <p:spPr>
          <a:xfrm>
            <a:off x="6457778" y="4352131"/>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Окно, сглаживание, сабсэмплинг влияют сильнее выбора алгоритма (Levy et al., 2015)</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5"/>
        <p:cNvGrpSpPr/>
        <p:nvPr/>
      </p:nvGrpSpPr>
      <p:grpSpPr>
        <a:xfrm>
          <a:off x="0" y="0"/>
          <a:ext cx="0" cy="0"/>
          <a:chOff x="0" y="0"/>
          <a:chExt cx="0" cy="0"/>
        </a:xfrm>
      </p:grpSpPr>
      <p:sp>
        <p:nvSpPr>
          <p:cNvPr id="456" name="Google Shape;456;p28"/>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02 · ОТ ПОДСЧЁТОВ К ПРЕДСКАЗАНИЮ</a:t>
            </a:r>
            <a:endParaRPr sz="1200" b="0" i="0" u="none" strike="noStrike" cap="none">
              <a:solidFill>
                <a:schemeClr val="dk1"/>
              </a:solidFill>
              <a:latin typeface="Golos Text"/>
              <a:ea typeface="Golos Text"/>
              <a:cs typeface="Golos Text"/>
              <a:sym typeface="Golos Text"/>
            </a:endParaRPr>
          </a:p>
        </p:txBody>
      </p:sp>
      <p:sp>
        <p:nvSpPr>
          <p:cNvPr id="457" name="Google Shape;457;p28"/>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fastText: слово как сумма кусочков</a:t>
            </a:r>
            <a:endParaRPr sz="3200"/>
          </a:p>
        </p:txBody>
      </p:sp>
      <p:sp>
        <p:nvSpPr>
          <p:cNvPr id="458" name="Google Shape;458;p28"/>
          <p:cNvSpPr/>
          <p:nvPr/>
        </p:nvSpPr>
        <p:spPr>
          <a:xfrm>
            <a:off x="812778" y="1941711"/>
            <a:ext cx="14478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столом</a:t>
            </a:r>
            <a:endParaRPr sz="1500" b="0" i="0" u="none" strike="noStrike" cap="none">
              <a:solidFill>
                <a:schemeClr val="dk1"/>
              </a:solidFill>
              <a:latin typeface="Golos Text"/>
              <a:ea typeface="Golos Text"/>
              <a:cs typeface="Golos Text"/>
              <a:sym typeface="Golos Text"/>
            </a:endParaRPr>
          </a:p>
        </p:txBody>
      </p:sp>
      <p:sp>
        <p:nvSpPr>
          <p:cNvPr id="459" name="Google Shape;459;p28"/>
          <p:cNvSpPr/>
          <p:nvPr/>
        </p:nvSpPr>
        <p:spPr>
          <a:xfrm>
            <a:off x="2285939" y="1899841"/>
            <a:ext cx="548700" cy="350400"/>
          </a:xfrm>
          <a:prstGeom prst="roundRect">
            <a:avLst>
              <a:gd name="adj" fmla="val 21744"/>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400"/>
              <a:buFont typeface="JetBrains Mono"/>
              <a:buNone/>
            </a:pPr>
            <a:r>
              <a:rPr lang="en-US" sz="1400" b="0" i="0" u="none" strike="noStrike" cap="none">
                <a:solidFill>
                  <a:srgbClr val="FBF3EC"/>
                </a:solidFill>
                <a:latin typeface="JetBrains Mono"/>
                <a:ea typeface="JetBrains Mono"/>
                <a:cs typeface="JetBrains Mono"/>
                <a:sym typeface="JetBrains Mono"/>
              </a:rPr>
              <a:t>&lt;ст</a:t>
            </a:r>
            <a:endParaRPr sz="1400" b="0" i="0" u="none" strike="noStrike" cap="none">
              <a:solidFill>
                <a:schemeClr val="dk1"/>
              </a:solidFill>
              <a:latin typeface="Golos Text"/>
              <a:ea typeface="Golos Text"/>
              <a:cs typeface="Golos Text"/>
              <a:sym typeface="Golos Text"/>
            </a:endParaRPr>
          </a:p>
        </p:txBody>
      </p:sp>
      <p:sp>
        <p:nvSpPr>
          <p:cNvPr id="460" name="Google Shape;460;p28"/>
          <p:cNvSpPr/>
          <p:nvPr/>
        </p:nvSpPr>
        <p:spPr>
          <a:xfrm>
            <a:off x="2910802" y="1899841"/>
            <a:ext cx="548700" cy="350400"/>
          </a:xfrm>
          <a:prstGeom prst="roundRect">
            <a:avLst>
              <a:gd name="adj" fmla="val 21744"/>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400"/>
              <a:buFont typeface="JetBrains Mono"/>
              <a:buNone/>
            </a:pPr>
            <a:r>
              <a:rPr lang="en-US" sz="1400" b="0" i="0" u="none" strike="noStrike" cap="none">
                <a:solidFill>
                  <a:srgbClr val="FBF3EC"/>
                </a:solidFill>
                <a:latin typeface="JetBrains Mono"/>
                <a:ea typeface="JetBrains Mono"/>
                <a:cs typeface="JetBrains Mono"/>
                <a:sym typeface="JetBrains Mono"/>
              </a:rPr>
              <a:t>сто</a:t>
            </a:r>
            <a:endParaRPr sz="1400" b="0" i="0" u="none" strike="noStrike" cap="none">
              <a:solidFill>
                <a:schemeClr val="dk1"/>
              </a:solidFill>
              <a:latin typeface="Golos Text"/>
              <a:ea typeface="Golos Text"/>
              <a:cs typeface="Golos Text"/>
              <a:sym typeface="Golos Text"/>
            </a:endParaRPr>
          </a:p>
        </p:txBody>
      </p:sp>
      <p:sp>
        <p:nvSpPr>
          <p:cNvPr id="461" name="Google Shape;461;p28"/>
          <p:cNvSpPr/>
          <p:nvPr/>
        </p:nvSpPr>
        <p:spPr>
          <a:xfrm>
            <a:off x="3535665" y="1899841"/>
            <a:ext cx="548700" cy="350400"/>
          </a:xfrm>
          <a:prstGeom prst="roundRect">
            <a:avLst>
              <a:gd name="adj" fmla="val 21744"/>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400"/>
              <a:buFont typeface="JetBrains Mono"/>
              <a:buNone/>
            </a:pPr>
            <a:r>
              <a:rPr lang="en-US" sz="1400" b="0" i="0" u="none" strike="noStrike" cap="none">
                <a:solidFill>
                  <a:srgbClr val="FBF3EC"/>
                </a:solidFill>
                <a:latin typeface="JetBrains Mono"/>
                <a:ea typeface="JetBrains Mono"/>
                <a:cs typeface="JetBrains Mono"/>
                <a:sym typeface="JetBrains Mono"/>
              </a:rPr>
              <a:t>тол</a:t>
            </a:r>
            <a:endParaRPr sz="1400" b="0" i="0" u="none" strike="noStrike" cap="none">
              <a:solidFill>
                <a:schemeClr val="dk1"/>
              </a:solidFill>
              <a:latin typeface="Golos Text"/>
              <a:ea typeface="Golos Text"/>
              <a:cs typeface="Golos Text"/>
              <a:sym typeface="Golos Text"/>
            </a:endParaRPr>
          </a:p>
        </p:txBody>
      </p:sp>
      <p:sp>
        <p:nvSpPr>
          <p:cNvPr id="462" name="Google Shape;462;p28"/>
          <p:cNvSpPr/>
          <p:nvPr/>
        </p:nvSpPr>
        <p:spPr>
          <a:xfrm>
            <a:off x="4160528" y="189984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оло</a:t>
            </a:r>
            <a:endParaRPr sz="1400" b="0" i="0" u="none" strike="noStrike" cap="none">
              <a:solidFill>
                <a:schemeClr val="dk1"/>
              </a:solidFill>
              <a:latin typeface="Golos Text"/>
              <a:ea typeface="Golos Text"/>
              <a:cs typeface="Golos Text"/>
              <a:sym typeface="Golos Text"/>
            </a:endParaRPr>
          </a:p>
        </p:txBody>
      </p:sp>
      <p:sp>
        <p:nvSpPr>
          <p:cNvPr id="463" name="Google Shape;463;p28"/>
          <p:cNvSpPr/>
          <p:nvPr/>
        </p:nvSpPr>
        <p:spPr>
          <a:xfrm>
            <a:off x="4785391" y="189984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лом</a:t>
            </a:r>
            <a:endParaRPr sz="1400" b="0" i="0" u="none" strike="noStrike" cap="none">
              <a:solidFill>
                <a:schemeClr val="dk1"/>
              </a:solidFill>
              <a:latin typeface="Golos Text"/>
              <a:ea typeface="Golos Text"/>
              <a:cs typeface="Golos Text"/>
              <a:sym typeface="Golos Text"/>
            </a:endParaRPr>
          </a:p>
        </p:txBody>
      </p:sp>
      <p:sp>
        <p:nvSpPr>
          <p:cNvPr id="464" name="Google Shape;464;p28"/>
          <p:cNvSpPr/>
          <p:nvPr/>
        </p:nvSpPr>
        <p:spPr>
          <a:xfrm>
            <a:off x="5410254" y="189984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ом&gt;</a:t>
            </a:r>
            <a:endParaRPr sz="1400" b="0" i="0" u="none" strike="noStrike" cap="none">
              <a:solidFill>
                <a:schemeClr val="dk1"/>
              </a:solidFill>
              <a:latin typeface="Golos Text"/>
              <a:ea typeface="Golos Text"/>
              <a:cs typeface="Golos Text"/>
              <a:sym typeface="Golos Text"/>
            </a:endParaRPr>
          </a:p>
        </p:txBody>
      </p:sp>
      <p:sp>
        <p:nvSpPr>
          <p:cNvPr id="465" name="Google Shape;465;p28"/>
          <p:cNvSpPr/>
          <p:nvPr/>
        </p:nvSpPr>
        <p:spPr>
          <a:xfrm>
            <a:off x="6035117" y="1899841"/>
            <a:ext cx="1082100" cy="350400"/>
          </a:xfrm>
          <a:prstGeom prst="roundRect">
            <a:avLst>
              <a:gd name="adj" fmla="val 21744"/>
            </a:avLst>
          </a:prstGeom>
          <a:solidFill>
            <a:srgbClr val="D6E2F2"/>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&lt;столом&gt;</a:t>
            </a:r>
            <a:endParaRPr sz="1400" b="0" i="0" u="none" strike="noStrike" cap="none">
              <a:solidFill>
                <a:schemeClr val="dk1"/>
              </a:solidFill>
              <a:latin typeface="Golos Text"/>
              <a:ea typeface="Golos Text"/>
              <a:cs typeface="Golos Text"/>
              <a:sym typeface="Golos Text"/>
            </a:endParaRPr>
          </a:p>
        </p:txBody>
      </p:sp>
      <p:sp>
        <p:nvSpPr>
          <p:cNvPr id="466" name="Google Shape;466;p28"/>
          <p:cNvSpPr/>
          <p:nvPr/>
        </p:nvSpPr>
        <p:spPr>
          <a:xfrm>
            <a:off x="812778" y="2419152"/>
            <a:ext cx="14478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JetBrains Mono"/>
              <a:buNone/>
            </a:pPr>
            <a:r>
              <a:rPr lang="en-US" sz="1500" b="0" i="0" u="none" strike="noStrike" cap="none">
                <a:solidFill>
                  <a:srgbClr val="1B2430"/>
                </a:solidFill>
                <a:latin typeface="JetBrains Mono"/>
                <a:ea typeface="JetBrains Mono"/>
                <a:cs typeface="JetBrains Mono"/>
                <a:sym typeface="JetBrains Mono"/>
              </a:rPr>
              <a:t>столами</a:t>
            </a:r>
            <a:endParaRPr sz="1500" b="0" i="0" u="none" strike="noStrike" cap="none">
              <a:solidFill>
                <a:schemeClr val="dk1"/>
              </a:solidFill>
              <a:latin typeface="Golos Text"/>
              <a:ea typeface="Golos Text"/>
              <a:cs typeface="Golos Text"/>
              <a:sym typeface="Golos Text"/>
            </a:endParaRPr>
          </a:p>
        </p:txBody>
      </p:sp>
      <p:sp>
        <p:nvSpPr>
          <p:cNvPr id="467" name="Google Shape;467;p28"/>
          <p:cNvSpPr/>
          <p:nvPr/>
        </p:nvSpPr>
        <p:spPr>
          <a:xfrm>
            <a:off x="2285939" y="2377281"/>
            <a:ext cx="548700" cy="350400"/>
          </a:xfrm>
          <a:prstGeom prst="roundRect">
            <a:avLst>
              <a:gd name="adj" fmla="val 21744"/>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400"/>
              <a:buFont typeface="JetBrains Mono"/>
              <a:buNone/>
            </a:pPr>
            <a:r>
              <a:rPr lang="en-US" sz="1400" b="0" i="0" u="none" strike="noStrike" cap="none">
                <a:solidFill>
                  <a:srgbClr val="FBF3EC"/>
                </a:solidFill>
                <a:latin typeface="JetBrains Mono"/>
                <a:ea typeface="JetBrains Mono"/>
                <a:cs typeface="JetBrains Mono"/>
                <a:sym typeface="JetBrains Mono"/>
              </a:rPr>
              <a:t>&lt;ст</a:t>
            </a:r>
            <a:endParaRPr sz="1400" b="0" i="0" u="none" strike="noStrike" cap="none">
              <a:solidFill>
                <a:schemeClr val="dk1"/>
              </a:solidFill>
              <a:latin typeface="Golos Text"/>
              <a:ea typeface="Golos Text"/>
              <a:cs typeface="Golos Text"/>
              <a:sym typeface="Golos Text"/>
            </a:endParaRPr>
          </a:p>
        </p:txBody>
      </p:sp>
      <p:sp>
        <p:nvSpPr>
          <p:cNvPr id="468" name="Google Shape;468;p28"/>
          <p:cNvSpPr/>
          <p:nvPr/>
        </p:nvSpPr>
        <p:spPr>
          <a:xfrm>
            <a:off x="2910802" y="2377281"/>
            <a:ext cx="548700" cy="350400"/>
          </a:xfrm>
          <a:prstGeom prst="roundRect">
            <a:avLst>
              <a:gd name="adj" fmla="val 21744"/>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400"/>
              <a:buFont typeface="JetBrains Mono"/>
              <a:buNone/>
            </a:pPr>
            <a:r>
              <a:rPr lang="en-US" sz="1400" b="0" i="0" u="none" strike="noStrike" cap="none">
                <a:solidFill>
                  <a:srgbClr val="FBF3EC"/>
                </a:solidFill>
                <a:latin typeface="JetBrains Mono"/>
                <a:ea typeface="JetBrains Mono"/>
                <a:cs typeface="JetBrains Mono"/>
                <a:sym typeface="JetBrains Mono"/>
              </a:rPr>
              <a:t>сто</a:t>
            </a:r>
            <a:endParaRPr sz="1400" b="0" i="0" u="none" strike="noStrike" cap="none">
              <a:solidFill>
                <a:schemeClr val="dk1"/>
              </a:solidFill>
              <a:latin typeface="Golos Text"/>
              <a:ea typeface="Golos Text"/>
              <a:cs typeface="Golos Text"/>
              <a:sym typeface="Golos Text"/>
            </a:endParaRPr>
          </a:p>
        </p:txBody>
      </p:sp>
      <p:sp>
        <p:nvSpPr>
          <p:cNvPr id="469" name="Google Shape;469;p28"/>
          <p:cNvSpPr/>
          <p:nvPr/>
        </p:nvSpPr>
        <p:spPr>
          <a:xfrm>
            <a:off x="3535665" y="2377281"/>
            <a:ext cx="548700" cy="350400"/>
          </a:xfrm>
          <a:prstGeom prst="roundRect">
            <a:avLst>
              <a:gd name="adj" fmla="val 21744"/>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400"/>
              <a:buFont typeface="JetBrains Mono"/>
              <a:buNone/>
            </a:pPr>
            <a:r>
              <a:rPr lang="en-US" sz="1400" b="0" i="0" u="none" strike="noStrike" cap="none">
                <a:solidFill>
                  <a:srgbClr val="FBF3EC"/>
                </a:solidFill>
                <a:latin typeface="JetBrains Mono"/>
                <a:ea typeface="JetBrains Mono"/>
                <a:cs typeface="JetBrains Mono"/>
                <a:sym typeface="JetBrains Mono"/>
              </a:rPr>
              <a:t>тол</a:t>
            </a:r>
            <a:endParaRPr sz="1400" b="0" i="0" u="none" strike="noStrike" cap="none">
              <a:solidFill>
                <a:schemeClr val="dk1"/>
              </a:solidFill>
              <a:latin typeface="Golos Text"/>
              <a:ea typeface="Golos Text"/>
              <a:cs typeface="Golos Text"/>
              <a:sym typeface="Golos Text"/>
            </a:endParaRPr>
          </a:p>
        </p:txBody>
      </p:sp>
      <p:sp>
        <p:nvSpPr>
          <p:cNvPr id="470" name="Google Shape;470;p28"/>
          <p:cNvSpPr/>
          <p:nvPr/>
        </p:nvSpPr>
        <p:spPr>
          <a:xfrm>
            <a:off x="4160528" y="237728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ола</a:t>
            </a:r>
            <a:endParaRPr sz="1400" b="0" i="0" u="none" strike="noStrike" cap="none">
              <a:solidFill>
                <a:schemeClr val="dk1"/>
              </a:solidFill>
              <a:latin typeface="Golos Text"/>
              <a:ea typeface="Golos Text"/>
              <a:cs typeface="Golos Text"/>
              <a:sym typeface="Golos Text"/>
            </a:endParaRPr>
          </a:p>
        </p:txBody>
      </p:sp>
      <p:sp>
        <p:nvSpPr>
          <p:cNvPr id="471" name="Google Shape;471;p28"/>
          <p:cNvSpPr/>
          <p:nvPr/>
        </p:nvSpPr>
        <p:spPr>
          <a:xfrm>
            <a:off x="4785391" y="237728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лам</a:t>
            </a:r>
            <a:endParaRPr sz="1400" b="0" i="0" u="none" strike="noStrike" cap="none">
              <a:solidFill>
                <a:schemeClr val="dk1"/>
              </a:solidFill>
              <a:latin typeface="Golos Text"/>
              <a:ea typeface="Golos Text"/>
              <a:cs typeface="Golos Text"/>
              <a:sym typeface="Golos Text"/>
            </a:endParaRPr>
          </a:p>
        </p:txBody>
      </p:sp>
      <p:sp>
        <p:nvSpPr>
          <p:cNvPr id="472" name="Google Shape;472;p28"/>
          <p:cNvSpPr/>
          <p:nvPr/>
        </p:nvSpPr>
        <p:spPr>
          <a:xfrm>
            <a:off x="5410254" y="237728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dirty="0" err="1">
                <a:solidFill>
                  <a:srgbClr val="1B2430"/>
                </a:solidFill>
                <a:latin typeface="JetBrains Mono"/>
                <a:ea typeface="JetBrains Mono"/>
                <a:cs typeface="JetBrains Mono"/>
                <a:sym typeface="JetBrains Mono"/>
              </a:rPr>
              <a:t>ами</a:t>
            </a:r>
            <a:endParaRPr sz="1400" b="0" i="0" u="none" strike="noStrike" cap="none" dirty="0">
              <a:solidFill>
                <a:schemeClr val="dk1"/>
              </a:solidFill>
              <a:latin typeface="Golos Text"/>
              <a:ea typeface="Golos Text"/>
              <a:cs typeface="Golos Text"/>
              <a:sym typeface="Golos Text"/>
            </a:endParaRPr>
          </a:p>
        </p:txBody>
      </p:sp>
      <p:sp>
        <p:nvSpPr>
          <p:cNvPr id="473" name="Google Shape;473;p28"/>
          <p:cNvSpPr/>
          <p:nvPr/>
        </p:nvSpPr>
        <p:spPr>
          <a:xfrm>
            <a:off x="6035117" y="2377281"/>
            <a:ext cx="54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ми&gt;</a:t>
            </a:r>
            <a:endParaRPr sz="1400" b="0" i="0" u="none" strike="noStrike" cap="none">
              <a:solidFill>
                <a:schemeClr val="dk1"/>
              </a:solidFill>
              <a:latin typeface="Golos Text"/>
              <a:ea typeface="Golos Text"/>
              <a:cs typeface="Golos Text"/>
              <a:sym typeface="Golos Text"/>
            </a:endParaRPr>
          </a:p>
        </p:txBody>
      </p:sp>
      <p:sp>
        <p:nvSpPr>
          <p:cNvPr id="474" name="Google Shape;474;p28"/>
          <p:cNvSpPr/>
          <p:nvPr/>
        </p:nvSpPr>
        <p:spPr>
          <a:xfrm>
            <a:off x="812778" y="2854722"/>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Показаны только 3-граммы; оранжевые — общие у двух слов</a:t>
            </a:r>
            <a:endParaRPr sz="1200" b="0" i="0" u="none" strike="noStrike" cap="none">
              <a:solidFill>
                <a:schemeClr val="dk1"/>
              </a:solidFill>
              <a:latin typeface="Golos Text"/>
              <a:ea typeface="Golos Text"/>
              <a:cs typeface="Golos Text"/>
              <a:sym typeface="Golos Text"/>
            </a:endParaRPr>
          </a:p>
        </p:txBody>
      </p:sp>
      <p:sp>
        <p:nvSpPr>
          <p:cNvPr id="475" name="Google Shape;475;p28"/>
          <p:cNvSpPr/>
          <p:nvPr/>
        </p:nvSpPr>
        <p:spPr>
          <a:xfrm>
            <a:off x="812778" y="3644503"/>
            <a:ext cx="42012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1" u="none" strike="noStrike" cap="none">
                <a:solidFill>
                  <a:srgbClr val="1B2430"/>
                </a:solidFill>
                <a:latin typeface="PT Serif"/>
                <a:ea typeface="PT Serif"/>
                <a:cs typeface="PT Serif"/>
                <a:sym typeface="PT Serif"/>
              </a:rPr>
              <a:t>v(слово) = Σ z</a:t>
            </a:r>
            <a:r>
              <a:rPr lang="en-US" sz="2000" b="0" i="1" u="none" strike="noStrike" cap="none">
                <a:solidFill>
                  <a:srgbClr val="646B78"/>
                </a:solidFill>
                <a:latin typeface="PT Serif"/>
                <a:ea typeface="PT Serif"/>
                <a:cs typeface="PT Serif"/>
                <a:sym typeface="PT Serif"/>
              </a:rPr>
              <a:t>g</a:t>
            </a:r>
            <a:r>
              <a:rPr lang="en-US" sz="2000" b="0" i="1" u="none" strike="noStrike" cap="none">
                <a:solidFill>
                  <a:srgbClr val="1B2430"/>
                </a:solidFill>
                <a:latin typeface="PT Serif"/>
                <a:ea typeface="PT Serif"/>
                <a:cs typeface="PT Serif"/>
                <a:sym typeface="PT Serif"/>
              </a:rPr>
              <a:t> по всем n-граммам g</a:t>
            </a:r>
            <a:endParaRPr sz="2000" b="0" i="0" u="none" strike="noStrike" cap="none">
              <a:solidFill>
                <a:schemeClr val="dk1"/>
              </a:solidFill>
              <a:latin typeface="Golos Text"/>
              <a:ea typeface="Golos Text"/>
              <a:cs typeface="Golos Text"/>
              <a:sym typeface="Golos Text"/>
            </a:endParaRPr>
          </a:p>
        </p:txBody>
      </p:sp>
      <p:sp>
        <p:nvSpPr>
          <p:cNvPr id="476" name="Google Shape;476;p28"/>
          <p:cNvSpPr/>
          <p:nvPr/>
        </p:nvSpPr>
        <p:spPr>
          <a:xfrm>
            <a:off x="5297843" y="3372842"/>
            <a:ext cx="62634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n-граммы длины 3–6, маркеры &lt; и &gt; — границы слова</a:t>
            </a:r>
            <a:endParaRPr sz="1400" b="0" i="0" u="none" strike="noStrike" cap="none">
              <a:solidFill>
                <a:schemeClr val="dk1"/>
              </a:solidFill>
              <a:latin typeface="Golos Text"/>
              <a:ea typeface="Golos Text"/>
              <a:cs typeface="Golos Text"/>
              <a:sym typeface="Golos Text"/>
            </a:endParaRPr>
          </a:p>
        </p:txBody>
      </p:sp>
      <p:sp>
        <p:nvSpPr>
          <p:cNvPr id="477" name="Google Shape;477;p28"/>
          <p:cNvSpPr/>
          <p:nvPr/>
        </p:nvSpPr>
        <p:spPr>
          <a:xfrm>
            <a:off x="5297843" y="3697883"/>
            <a:ext cx="68937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незнакомое слово или опечатка получает вектор из своих n-грамм</a:t>
            </a:r>
            <a:endParaRPr sz="1400" b="0" i="0" u="none" strike="noStrike" cap="none">
              <a:solidFill>
                <a:schemeClr val="dk1"/>
              </a:solidFill>
              <a:latin typeface="Golos Text"/>
              <a:ea typeface="Golos Text"/>
              <a:cs typeface="Golos Text"/>
              <a:sym typeface="Golos Text"/>
            </a:endParaRPr>
          </a:p>
        </p:txBody>
      </p:sp>
      <p:sp>
        <p:nvSpPr>
          <p:cNvPr id="478" name="Google Shape;478;p28"/>
          <p:cNvSpPr/>
          <p:nvPr/>
        </p:nvSpPr>
        <p:spPr>
          <a:xfrm>
            <a:off x="5297843" y="4022923"/>
            <a:ext cx="62634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особенно полезно для богатой морфологии, как в русском</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3"/>
        <p:cNvGrpSpPr/>
        <p:nvPr/>
      </p:nvGrpSpPr>
      <p:grpSpPr>
        <a:xfrm>
          <a:off x="0" y="0"/>
          <a:ext cx="0" cy="0"/>
          <a:chOff x="0" y="0"/>
          <a:chExt cx="0" cy="0"/>
        </a:xfrm>
      </p:grpSpPr>
      <p:sp>
        <p:nvSpPr>
          <p:cNvPr id="484" name="Google Shape;484;p29"/>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03 · ЭМБЕДДИНГ КАК СЛОЙ</a:t>
            </a:r>
            <a:endParaRPr sz="1200" b="0" i="0" u="none" strike="noStrike" cap="none">
              <a:solidFill>
                <a:schemeClr val="dk1"/>
              </a:solidFill>
              <a:latin typeface="Golos Text"/>
              <a:ea typeface="Golos Text"/>
              <a:cs typeface="Golos Text"/>
              <a:sym typeface="Golos Text"/>
            </a:endParaRPr>
          </a:p>
        </p:txBody>
      </p:sp>
      <p:sp>
        <p:nvSpPr>
          <p:cNvPr id="485" name="Google Shape;485;p29"/>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nn.Embedding — это one-hot × матрица</a:t>
            </a:r>
            <a:endParaRPr sz="3200"/>
          </a:p>
        </p:txBody>
      </p:sp>
      <p:sp>
        <p:nvSpPr>
          <p:cNvPr id="486" name="Google Shape;486;p29"/>
          <p:cNvSpPr/>
          <p:nvPr/>
        </p:nvSpPr>
        <p:spPr>
          <a:xfrm>
            <a:off x="1113204" y="2445941"/>
            <a:ext cx="12024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one-hot, 1 × V</a:t>
            </a:r>
            <a:endParaRPr sz="1200" b="0" i="0" u="none" strike="noStrike" cap="none">
              <a:solidFill>
                <a:schemeClr val="dk1"/>
              </a:solidFill>
              <a:latin typeface="Golos Text"/>
              <a:ea typeface="Golos Text"/>
              <a:cs typeface="Golos Text"/>
              <a:sym typeface="Golos Text"/>
            </a:endParaRPr>
          </a:p>
        </p:txBody>
      </p:sp>
      <p:sp>
        <p:nvSpPr>
          <p:cNvPr id="487" name="Google Shape;487;p29"/>
          <p:cNvSpPr/>
          <p:nvPr/>
        </p:nvSpPr>
        <p:spPr>
          <a:xfrm>
            <a:off x="812778" y="2735461"/>
            <a:ext cx="330300" cy="330300"/>
          </a:xfrm>
          <a:prstGeom prst="roundRect">
            <a:avLst>
              <a:gd name="adj" fmla="val 11538"/>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646B78"/>
              </a:buClr>
              <a:buSzPts val="1200"/>
              <a:buFont typeface="JetBrains Mono"/>
              <a:buNone/>
            </a:pPr>
            <a:r>
              <a:rPr lang="en-US" sz="1200" b="0" i="0" u="none" strike="noStrike" cap="none">
                <a:solidFill>
                  <a:srgbClr val="646B78"/>
                </a:solidFill>
                <a:latin typeface="JetBrains Mono"/>
                <a:ea typeface="JetBrains Mono"/>
                <a:cs typeface="JetBrains Mono"/>
                <a:sym typeface="JetBrains Mono"/>
              </a:rPr>
              <a:t>0</a:t>
            </a:r>
            <a:endParaRPr sz="1200" b="0" i="0" u="none" strike="noStrike" cap="none">
              <a:solidFill>
                <a:schemeClr val="dk1"/>
              </a:solidFill>
              <a:latin typeface="Golos Text"/>
              <a:ea typeface="Golos Text"/>
              <a:cs typeface="Golos Text"/>
              <a:sym typeface="Golos Text"/>
            </a:endParaRPr>
          </a:p>
        </p:txBody>
      </p:sp>
      <p:sp>
        <p:nvSpPr>
          <p:cNvPr id="488" name="Google Shape;488;p29"/>
          <p:cNvSpPr/>
          <p:nvPr/>
        </p:nvSpPr>
        <p:spPr>
          <a:xfrm>
            <a:off x="1181069" y="2735461"/>
            <a:ext cx="330300" cy="330300"/>
          </a:xfrm>
          <a:prstGeom prst="roundRect">
            <a:avLst>
              <a:gd name="adj" fmla="val 11538"/>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646B78"/>
              </a:buClr>
              <a:buSzPts val="1200"/>
              <a:buFont typeface="JetBrains Mono"/>
              <a:buNone/>
            </a:pPr>
            <a:r>
              <a:rPr lang="en-US" sz="1200" b="0" i="0" u="none" strike="noStrike" cap="none">
                <a:solidFill>
                  <a:srgbClr val="646B78"/>
                </a:solidFill>
                <a:latin typeface="JetBrains Mono"/>
                <a:ea typeface="JetBrains Mono"/>
                <a:cs typeface="JetBrains Mono"/>
                <a:sym typeface="JetBrains Mono"/>
              </a:rPr>
              <a:t>0</a:t>
            </a:r>
            <a:endParaRPr sz="1200" b="0" i="0" u="none" strike="noStrike" cap="none">
              <a:solidFill>
                <a:schemeClr val="dk1"/>
              </a:solidFill>
              <a:latin typeface="Golos Text"/>
              <a:ea typeface="Golos Text"/>
              <a:cs typeface="Golos Text"/>
              <a:sym typeface="Golos Text"/>
            </a:endParaRPr>
          </a:p>
        </p:txBody>
      </p:sp>
      <p:sp>
        <p:nvSpPr>
          <p:cNvPr id="489" name="Google Shape;489;p29"/>
          <p:cNvSpPr/>
          <p:nvPr/>
        </p:nvSpPr>
        <p:spPr>
          <a:xfrm>
            <a:off x="1549359" y="2735461"/>
            <a:ext cx="330300" cy="330300"/>
          </a:xfrm>
          <a:prstGeom prst="roundRect">
            <a:avLst>
              <a:gd name="adj" fmla="val 11538"/>
            </a:avLst>
          </a:prstGeom>
          <a:solidFill>
            <a:srgbClr val="B34A1C"/>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BF3EC"/>
              </a:buClr>
              <a:buSzPts val="1200"/>
              <a:buFont typeface="JetBrains Mono"/>
              <a:buNone/>
            </a:pPr>
            <a:r>
              <a:rPr lang="en-US" sz="1200" b="0" i="0" u="none" strike="noStrike" cap="none">
                <a:solidFill>
                  <a:srgbClr val="FBF3EC"/>
                </a:solidFill>
                <a:latin typeface="JetBrains Mono"/>
                <a:ea typeface="JetBrains Mono"/>
                <a:cs typeface="JetBrains Mono"/>
                <a:sym typeface="JetBrains Mono"/>
              </a:rPr>
              <a:t>1</a:t>
            </a:r>
            <a:endParaRPr sz="1200" b="0" i="0" u="none" strike="noStrike" cap="none">
              <a:solidFill>
                <a:schemeClr val="dk1"/>
              </a:solidFill>
              <a:latin typeface="Golos Text"/>
              <a:ea typeface="Golos Text"/>
              <a:cs typeface="Golos Text"/>
              <a:sym typeface="Golos Text"/>
            </a:endParaRPr>
          </a:p>
        </p:txBody>
      </p:sp>
      <p:sp>
        <p:nvSpPr>
          <p:cNvPr id="490" name="Google Shape;490;p29"/>
          <p:cNvSpPr/>
          <p:nvPr/>
        </p:nvSpPr>
        <p:spPr>
          <a:xfrm>
            <a:off x="1917649" y="2735461"/>
            <a:ext cx="330300" cy="330300"/>
          </a:xfrm>
          <a:prstGeom prst="roundRect">
            <a:avLst>
              <a:gd name="adj" fmla="val 11538"/>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646B78"/>
              </a:buClr>
              <a:buSzPts val="1200"/>
              <a:buFont typeface="JetBrains Mono"/>
              <a:buNone/>
            </a:pPr>
            <a:r>
              <a:rPr lang="en-US" sz="1200" b="0" i="0" u="none" strike="noStrike" cap="none">
                <a:solidFill>
                  <a:srgbClr val="646B78"/>
                </a:solidFill>
                <a:latin typeface="JetBrains Mono"/>
                <a:ea typeface="JetBrains Mono"/>
                <a:cs typeface="JetBrains Mono"/>
                <a:sym typeface="JetBrains Mono"/>
              </a:rPr>
              <a:t>0</a:t>
            </a:r>
            <a:endParaRPr sz="1200" b="0" i="0" u="none" strike="noStrike" cap="none">
              <a:solidFill>
                <a:schemeClr val="dk1"/>
              </a:solidFill>
              <a:latin typeface="Golos Text"/>
              <a:ea typeface="Golos Text"/>
              <a:cs typeface="Golos Text"/>
              <a:sym typeface="Golos Text"/>
            </a:endParaRPr>
          </a:p>
        </p:txBody>
      </p:sp>
      <p:sp>
        <p:nvSpPr>
          <p:cNvPr id="491" name="Google Shape;491;p29"/>
          <p:cNvSpPr/>
          <p:nvPr/>
        </p:nvSpPr>
        <p:spPr>
          <a:xfrm>
            <a:off x="2285939" y="2735461"/>
            <a:ext cx="330300" cy="330300"/>
          </a:xfrm>
          <a:prstGeom prst="roundRect">
            <a:avLst>
              <a:gd name="adj" fmla="val 11538"/>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646B78"/>
              </a:buClr>
              <a:buSzPts val="1200"/>
              <a:buFont typeface="JetBrains Mono"/>
              <a:buNone/>
            </a:pPr>
            <a:r>
              <a:rPr lang="en-US" sz="1200" b="0" i="0" u="none" strike="noStrike" cap="none">
                <a:solidFill>
                  <a:srgbClr val="646B78"/>
                </a:solidFill>
                <a:latin typeface="JetBrains Mono"/>
                <a:ea typeface="JetBrains Mono"/>
                <a:cs typeface="JetBrains Mono"/>
                <a:sym typeface="JetBrains Mono"/>
              </a:rPr>
              <a:t>0</a:t>
            </a:r>
            <a:endParaRPr sz="1200" b="0" i="0" u="none" strike="noStrike" cap="none">
              <a:solidFill>
                <a:schemeClr val="dk1"/>
              </a:solidFill>
              <a:latin typeface="Golos Text"/>
              <a:ea typeface="Golos Text"/>
              <a:cs typeface="Golos Text"/>
              <a:sym typeface="Golos Text"/>
            </a:endParaRPr>
          </a:p>
        </p:txBody>
      </p:sp>
      <p:sp>
        <p:nvSpPr>
          <p:cNvPr id="492" name="Google Shape;492;p29"/>
          <p:cNvSpPr/>
          <p:nvPr/>
        </p:nvSpPr>
        <p:spPr>
          <a:xfrm>
            <a:off x="2768526" y="2578001"/>
            <a:ext cx="1863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0" u="none" strike="noStrike" cap="none">
                <a:solidFill>
                  <a:srgbClr val="1B2430"/>
                </a:solidFill>
                <a:latin typeface="PT Serif"/>
                <a:ea typeface="PT Serif"/>
                <a:cs typeface="PT Serif"/>
                <a:sym typeface="PT Serif"/>
              </a:rPr>
              <a:t>×</a:t>
            </a:r>
            <a:endParaRPr sz="2000" b="0" i="0" u="none" strike="noStrike" cap="none">
              <a:solidFill>
                <a:schemeClr val="dk1"/>
              </a:solidFill>
              <a:latin typeface="Golos Text"/>
              <a:ea typeface="Golos Text"/>
              <a:cs typeface="Golos Text"/>
              <a:sym typeface="Golos Text"/>
            </a:endParaRPr>
          </a:p>
        </p:txBody>
      </p:sp>
      <p:sp>
        <p:nvSpPr>
          <p:cNvPr id="493" name="Google Shape;493;p29"/>
          <p:cNvSpPr/>
          <p:nvPr/>
        </p:nvSpPr>
        <p:spPr>
          <a:xfrm>
            <a:off x="3352622" y="1899841"/>
            <a:ext cx="6393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E, V × d</a:t>
            </a:r>
            <a:endParaRPr sz="1200" b="0" i="0" u="none" strike="noStrike" cap="none">
              <a:solidFill>
                <a:schemeClr val="dk1"/>
              </a:solidFill>
              <a:latin typeface="Golos Text"/>
              <a:ea typeface="Golos Text"/>
              <a:cs typeface="Golos Text"/>
              <a:sym typeface="Golos Text"/>
            </a:endParaRPr>
          </a:p>
        </p:txBody>
      </p:sp>
      <p:sp>
        <p:nvSpPr>
          <p:cNvPr id="494" name="Google Shape;494;p29"/>
          <p:cNvSpPr/>
          <p:nvPr/>
        </p:nvSpPr>
        <p:spPr>
          <a:xfrm>
            <a:off x="3056353" y="21893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9"/>
          <p:cNvSpPr/>
          <p:nvPr/>
        </p:nvSpPr>
        <p:spPr>
          <a:xfrm>
            <a:off x="3373844" y="21893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9"/>
          <p:cNvSpPr/>
          <p:nvPr/>
        </p:nvSpPr>
        <p:spPr>
          <a:xfrm>
            <a:off x="3691336" y="21893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9"/>
          <p:cNvSpPr/>
          <p:nvPr/>
        </p:nvSpPr>
        <p:spPr>
          <a:xfrm>
            <a:off x="4008827" y="21893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p:nvPr/>
        </p:nvSpPr>
        <p:spPr>
          <a:xfrm>
            <a:off x="3056353" y="24814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3373844" y="24814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9"/>
          <p:cNvSpPr/>
          <p:nvPr/>
        </p:nvSpPr>
        <p:spPr>
          <a:xfrm>
            <a:off x="3691336" y="24814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9"/>
          <p:cNvSpPr/>
          <p:nvPr/>
        </p:nvSpPr>
        <p:spPr>
          <a:xfrm>
            <a:off x="4008827" y="24814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9"/>
          <p:cNvSpPr/>
          <p:nvPr/>
        </p:nvSpPr>
        <p:spPr>
          <a:xfrm>
            <a:off x="3056353"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9"/>
          <p:cNvSpPr/>
          <p:nvPr/>
        </p:nvSpPr>
        <p:spPr>
          <a:xfrm>
            <a:off x="3373844"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p:nvPr/>
        </p:nvSpPr>
        <p:spPr>
          <a:xfrm>
            <a:off x="3691336"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9"/>
          <p:cNvSpPr/>
          <p:nvPr/>
        </p:nvSpPr>
        <p:spPr>
          <a:xfrm>
            <a:off x="4008827"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3056353" y="30656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9"/>
          <p:cNvSpPr/>
          <p:nvPr/>
        </p:nvSpPr>
        <p:spPr>
          <a:xfrm>
            <a:off x="3373844" y="30656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9"/>
          <p:cNvSpPr/>
          <p:nvPr/>
        </p:nvSpPr>
        <p:spPr>
          <a:xfrm>
            <a:off x="3691336" y="30656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9"/>
          <p:cNvSpPr/>
          <p:nvPr/>
        </p:nvSpPr>
        <p:spPr>
          <a:xfrm>
            <a:off x="4008827" y="30656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p:nvPr/>
        </p:nvSpPr>
        <p:spPr>
          <a:xfrm>
            <a:off x="3056353" y="33577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9"/>
          <p:cNvSpPr/>
          <p:nvPr/>
        </p:nvSpPr>
        <p:spPr>
          <a:xfrm>
            <a:off x="3373844" y="33577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9"/>
          <p:cNvSpPr/>
          <p:nvPr/>
        </p:nvSpPr>
        <p:spPr>
          <a:xfrm>
            <a:off x="3691336" y="33577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9"/>
          <p:cNvSpPr/>
          <p:nvPr/>
        </p:nvSpPr>
        <p:spPr>
          <a:xfrm>
            <a:off x="4008827" y="3357761"/>
            <a:ext cx="279300" cy="254100"/>
          </a:xfrm>
          <a:prstGeom prst="roundRect">
            <a:avLst>
              <a:gd name="adj" fmla="val 10000"/>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4440616" y="2578001"/>
            <a:ext cx="1863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0" u="none" strike="noStrike" cap="none">
                <a:solidFill>
                  <a:srgbClr val="1B2430"/>
                </a:solidFill>
                <a:latin typeface="PT Serif"/>
                <a:ea typeface="PT Serif"/>
                <a:cs typeface="PT Serif"/>
                <a:sym typeface="PT Serif"/>
              </a:rPr>
              <a:t>=</a:t>
            </a:r>
            <a:endParaRPr sz="2000" b="0" i="0" u="none" strike="noStrike" cap="none">
              <a:solidFill>
                <a:schemeClr val="dk1"/>
              </a:solidFill>
              <a:latin typeface="Golos Text"/>
              <a:ea typeface="Golos Text"/>
              <a:cs typeface="Golos Text"/>
              <a:sym typeface="Golos Text"/>
            </a:endParaRPr>
          </a:p>
        </p:txBody>
      </p:sp>
      <p:sp>
        <p:nvSpPr>
          <p:cNvPr id="515" name="Google Shape;515;p29"/>
          <p:cNvSpPr/>
          <p:nvPr/>
        </p:nvSpPr>
        <p:spPr>
          <a:xfrm>
            <a:off x="4834096" y="2484041"/>
            <a:ext cx="10206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строка E[2]</a:t>
            </a:r>
            <a:endParaRPr sz="1200" b="0" i="0" u="none" strike="noStrike" cap="none">
              <a:solidFill>
                <a:schemeClr val="dk1"/>
              </a:solidFill>
              <a:latin typeface="Golos Text"/>
              <a:ea typeface="Golos Text"/>
              <a:cs typeface="Golos Text"/>
              <a:sym typeface="Golos Text"/>
            </a:endParaRPr>
          </a:p>
        </p:txBody>
      </p:sp>
      <p:sp>
        <p:nvSpPr>
          <p:cNvPr id="516" name="Google Shape;516;p29"/>
          <p:cNvSpPr/>
          <p:nvPr/>
        </p:nvSpPr>
        <p:spPr>
          <a:xfrm>
            <a:off x="4728441"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9"/>
          <p:cNvSpPr/>
          <p:nvPr/>
        </p:nvSpPr>
        <p:spPr>
          <a:xfrm>
            <a:off x="5045932"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9"/>
          <p:cNvSpPr/>
          <p:nvPr/>
        </p:nvSpPr>
        <p:spPr>
          <a:xfrm>
            <a:off x="5363424"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9"/>
          <p:cNvSpPr/>
          <p:nvPr/>
        </p:nvSpPr>
        <p:spPr>
          <a:xfrm>
            <a:off x="5680916" y="2773561"/>
            <a:ext cx="279300" cy="254100"/>
          </a:xfrm>
          <a:prstGeom prst="roundRect">
            <a:avLst>
              <a:gd name="adj" fmla="val 10000"/>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9"/>
          <p:cNvSpPr/>
          <p:nvPr/>
        </p:nvSpPr>
        <p:spPr>
          <a:xfrm>
            <a:off x="6369872" y="2051645"/>
            <a:ext cx="2423700" cy="1408200"/>
          </a:xfrm>
          <a:prstGeom prst="roundRect">
            <a:avLst>
              <a:gd name="adj" fmla="val 6989"/>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a:off x="6550842" y="2232620"/>
            <a:ext cx="2123400" cy="594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3200"/>
              <a:buFont typeface="PT Serif"/>
              <a:buNone/>
            </a:pPr>
            <a:r>
              <a:rPr lang="en-US" sz="3200" b="1" i="0" u="none" strike="noStrike" cap="none">
                <a:solidFill>
                  <a:srgbClr val="B34A1C"/>
                </a:solidFill>
                <a:latin typeface="PT Serif"/>
                <a:ea typeface="PT Serif"/>
                <a:cs typeface="PT Serif"/>
                <a:sym typeface="PT Serif"/>
              </a:rPr>
              <a:t>819 МБ</a:t>
            </a:r>
            <a:endParaRPr sz="3200" b="0" i="0" u="none" strike="noStrike" cap="none">
              <a:solidFill>
                <a:schemeClr val="dk1"/>
              </a:solidFill>
              <a:latin typeface="Golos Text"/>
              <a:ea typeface="Golos Text"/>
              <a:cs typeface="Golos Text"/>
              <a:sym typeface="Golos Text"/>
            </a:endParaRPr>
          </a:p>
        </p:txBody>
      </p:sp>
      <p:sp>
        <p:nvSpPr>
          <p:cNvPr id="522" name="Google Shape;522;p29"/>
          <p:cNvSpPr/>
          <p:nvPr/>
        </p:nvSpPr>
        <p:spPr>
          <a:xfrm>
            <a:off x="6550842" y="2852341"/>
            <a:ext cx="2123400" cy="45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200"/>
              <a:buFont typeface="Golos Text"/>
              <a:buNone/>
            </a:pPr>
            <a:r>
              <a:rPr lang="en-US" sz="1200" b="0" i="0" u="none" strike="noStrike" cap="none" dirty="0">
                <a:solidFill>
                  <a:srgbClr val="4A5361"/>
                </a:solidFill>
                <a:latin typeface="Golos Text"/>
                <a:ea typeface="Golos Text"/>
                <a:cs typeface="Golos Text"/>
                <a:sym typeface="Golos Text"/>
              </a:rPr>
              <a:t>one-hot </a:t>
            </a:r>
            <a:r>
              <a:rPr lang="en-US" sz="1200" b="0" i="0" u="none" strike="noStrike" cap="none" dirty="0" err="1">
                <a:solidFill>
                  <a:srgbClr val="4A5361"/>
                </a:solidFill>
                <a:latin typeface="Golos Text"/>
                <a:ea typeface="Golos Text"/>
                <a:cs typeface="Golos Text"/>
                <a:sym typeface="Golos Text"/>
              </a:rPr>
              <a:t>для</a:t>
            </a:r>
            <a:r>
              <a:rPr lang="en-US" sz="1200" b="0" i="0" u="none" strike="noStrike" cap="none" dirty="0">
                <a:solidFill>
                  <a:srgbClr val="4A5361"/>
                </a:solidFill>
                <a:latin typeface="Golos Text"/>
                <a:ea typeface="Golos Text"/>
                <a:cs typeface="Golos Text"/>
                <a:sym typeface="Golos Text"/>
              </a:rPr>
              <a:t> </a:t>
            </a:r>
            <a:r>
              <a:rPr lang="en-US" sz="1200" b="0" i="0" u="none" strike="noStrike" cap="none" dirty="0" err="1">
                <a:solidFill>
                  <a:srgbClr val="4A5361"/>
                </a:solidFill>
                <a:latin typeface="Golos Text"/>
                <a:ea typeface="Golos Text"/>
                <a:cs typeface="Golos Text"/>
                <a:sym typeface="Golos Text"/>
              </a:rPr>
              <a:t>батча</a:t>
            </a:r>
            <a:r>
              <a:rPr lang="en-US" sz="1200" b="0" i="0" u="none" strike="noStrike" cap="none" dirty="0">
                <a:solidFill>
                  <a:srgbClr val="4A5361"/>
                </a:solidFill>
                <a:latin typeface="Golos Text"/>
                <a:ea typeface="Golos Text"/>
                <a:cs typeface="Golos Text"/>
                <a:sym typeface="Golos Text"/>
              </a:rPr>
              <a:t> 32 × 128 </a:t>
            </a:r>
            <a:r>
              <a:rPr lang="en-US" sz="1200" b="0" i="0" u="none" strike="noStrike" cap="none" dirty="0" err="1">
                <a:solidFill>
                  <a:srgbClr val="4A5361"/>
                </a:solidFill>
                <a:latin typeface="Golos Text"/>
                <a:ea typeface="Golos Text"/>
                <a:cs typeface="Golos Text"/>
                <a:sym typeface="Golos Text"/>
              </a:rPr>
              <a:t>токенов</a:t>
            </a:r>
            <a:r>
              <a:rPr lang="en-US" sz="1200" b="0" i="0" u="none" strike="noStrike" cap="none" dirty="0">
                <a:solidFill>
                  <a:srgbClr val="4A5361"/>
                </a:solidFill>
                <a:latin typeface="Golos Text"/>
                <a:ea typeface="Golos Text"/>
                <a:cs typeface="Golos Text"/>
                <a:sym typeface="Golos Text"/>
              </a:rPr>
              <a:t>, V = 50 000, float32</a:t>
            </a:r>
            <a:endParaRPr sz="1200" b="0" i="0" u="none" strike="noStrike" cap="none" dirty="0">
              <a:solidFill>
                <a:schemeClr val="dk1"/>
              </a:solidFill>
              <a:latin typeface="Golos Text"/>
              <a:ea typeface="Golos Text"/>
              <a:cs typeface="Golos Text"/>
              <a:sym typeface="Golos Text"/>
            </a:endParaRPr>
          </a:p>
        </p:txBody>
      </p:sp>
      <p:sp>
        <p:nvSpPr>
          <p:cNvPr id="523" name="Google Shape;523;p29"/>
          <p:cNvSpPr/>
          <p:nvPr/>
        </p:nvSpPr>
        <p:spPr>
          <a:xfrm>
            <a:off x="8952170" y="2051645"/>
            <a:ext cx="2423700" cy="1408200"/>
          </a:xfrm>
          <a:prstGeom prst="roundRect">
            <a:avLst>
              <a:gd name="adj" fmla="val 6989"/>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a:off x="9133141" y="2232620"/>
            <a:ext cx="2123400" cy="5943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B5FA6"/>
              </a:buClr>
              <a:buSzPts val="3200"/>
              <a:buFont typeface="PT Serif"/>
              <a:buNone/>
            </a:pPr>
            <a:r>
              <a:rPr lang="en-US" sz="3200" b="1" i="0" u="none" strike="noStrike" cap="none">
                <a:solidFill>
                  <a:srgbClr val="2B5FA6"/>
                </a:solidFill>
                <a:latin typeface="PT Serif"/>
                <a:ea typeface="PT Serif"/>
                <a:cs typeface="PT Serif"/>
                <a:sym typeface="PT Serif"/>
              </a:rPr>
              <a:t>32 КБ</a:t>
            </a:r>
            <a:endParaRPr sz="3200" b="0" i="0" u="none" strike="noStrike" cap="none">
              <a:solidFill>
                <a:schemeClr val="dk1"/>
              </a:solidFill>
              <a:latin typeface="Golos Text"/>
              <a:ea typeface="Golos Text"/>
              <a:cs typeface="Golos Text"/>
              <a:sym typeface="Golos Text"/>
            </a:endParaRPr>
          </a:p>
        </p:txBody>
      </p:sp>
      <p:sp>
        <p:nvSpPr>
          <p:cNvPr id="525" name="Google Shape;525;p29"/>
          <p:cNvSpPr/>
          <p:nvPr/>
        </p:nvSpPr>
        <p:spPr>
          <a:xfrm>
            <a:off x="9133141" y="2852341"/>
            <a:ext cx="2123400" cy="45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200"/>
              <a:buFont typeface="Golos Text"/>
              <a:buNone/>
            </a:pPr>
            <a:r>
              <a:rPr lang="en-US" sz="1200" b="0" i="0" u="none" strike="noStrike" cap="none" dirty="0" err="1">
                <a:solidFill>
                  <a:srgbClr val="4A5361"/>
                </a:solidFill>
                <a:latin typeface="Golos Text"/>
                <a:ea typeface="Golos Text"/>
                <a:cs typeface="Golos Text"/>
                <a:sym typeface="Golos Text"/>
              </a:rPr>
              <a:t>те</a:t>
            </a:r>
            <a:r>
              <a:rPr lang="en-US" sz="1200" b="0" i="0" u="none" strike="noStrike" cap="none" dirty="0">
                <a:solidFill>
                  <a:srgbClr val="4A5361"/>
                </a:solidFill>
                <a:latin typeface="Golos Text"/>
                <a:ea typeface="Golos Text"/>
                <a:cs typeface="Golos Text"/>
                <a:sym typeface="Golos Text"/>
              </a:rPr>
              <a:t> </a:t>
            </a:r>
            <a:r>
              <a:rPr lang="en-US" sz="1200" b="0" i="0" u="none" strike="noStrike" cap="none" dirty="0" err="1">
                <a:solidFill>
                  <a:srgbClr val="4A5361"/>
                </a:solidFill>
                <a:latin typeface="Golos Text"/>
                <a:ea typeface="Golos Text"/>
                <a:cs typeface="Golos Text"/>
                <a:sym typeface="Golos Text"/>
              </a:rPr>
              <a:t>же</a:t>
            </a:r>
            <a:r>
              <a:rPr lang="en-US" sz="1200" b="0" i="0" u="none" strike="noStrike" cap="none" dirty="0">
                <a:solidFill>
                  <a:srgbClr val="4A5361"/>
                </a:solidFill>
                <a:latin typeface="Golos Text"/>
                <a:ea typeface="Golos Text"/>
                <a:cs typeface="Golos Text"/>
                <a:sym typeface="Golos Text"/>
              </a:rPr>
              <a:t> </a:t>
            </a:r>
            <a:r>
              <a:rPr lang="en-US" sz="1200" b="0" i="0" u="none" strike="noStrike" cap="none" dirty="0" err="1">
                <a:solidFill>
                  <a:srgbClr val="4A5361"/>
                </a:solidFill>
                <a:latin typeface="Golos Text"/>
                <a:ea typeface="Golos Text"/>
                <a:cs typeface="Golos Text"/>
                <a:sym typeface="Golos Text"/>
              </a:rPr>
              <a:t>данные</a:t>
            </a:r>
            <a:r>
              <a:rPr lang="en-US" sz="1200" b="0" i="0" u="none" strike="noStrike" cap="none" dirty="0">
                <a:solidFill>
                  <a:srgbClr val="4A5361"/>
                </a:solidFill>
                <a:latin typeface="Golos Text"/>
                <a:ea typeface="Golos Text"/>
                <a:cs typeface="Golos Text"/>
                <a:sym typeface="Golos Text"/>
              </a:rPr>
              <a:t> </a:t>
            </a:r>
            <a:r>
              <a:rPr lang="en-US" sz="1200" b="0" i="0" u="none" strike="noStrike" cap="none" dirty="0" err="1">
                <a:solidFill>
                  <a:srgbClr val="4A5361"/>
                </a:solidFill>
                <a:latin typeface="Golos Text"/>
                <a:ea typeface="Golos Text"/>
                <a:cs typeface="Golos Text"/>
                <a:sym typeface="Golos Text"/>
              </a:rPr>
              <a:t>как</a:t>
            </a:r>
            <a:r>
              <a:rPr lang="en-US" sz="1200" b="0" i="0" u="none" strike="noStrike" cap="none" dirty="0">
                <a:solidFill>
                  <a:srgbClr val="4A5361"/>
                </a:solidFill>
                <a:latin typeface="Golos Text"/>
                <a:ea typeface="Golos Text"/>
                <a:cs typeface="Golos Text"/>
                <a:sym typeface="Golos Text"/>
              </a:rPr>
              <a:t> </a:t>
            </a:r>
            <a:r>
              <a:rPr lang="en-US" sz="1200" b="0" i="0" u="none" strike="noStrike" cap="none" dirty="0" err="1">
                <a:solidFill>
                  <a:srgbClr val="4A5361"/>
                </a:solidFill>
                <a:latin typeface="Golos Text"/>
                <a:ea typeface="Golos Text"/>
                <a:cs typeface="Golos Text"/>
                <a:sym typeface="Golos Text"/>
              </a:rPr>
              <a:t>индексы</a:t>
            </a:r>
            <a:r>
              <a:rPr lang="en-US" sz="1200" b="0" i="0" u="none" strike="noStrike" cap="none" dirty="0">
                <a:solidFill>
                  <a:srgbClr val="4A5361"/>
                </a:solidFill>
                <a:latin typeface="Golos Text"/>
                <a:ea typeface="Golos Text"/>
                <a:cs typeface="Golos Text"/>
                <a:sym typeface="Golos Text"/>
              </a:rPr>
              <a:t> int64</a:t>
            </a:r>
            <a:endParaRPr sz="1200" b="0" i="0" u="none" strike="noStrike" cap="none" dirty="0">
              <a:solidFill>
                <a:schemeClr val="dk1"/>
              </a:solidFill>
              <a:latin typeface="Golos Text"/>
              <a:ea typeface="Golos Text"/>
              <a:cs typeface="Golos Text"/>
              <a:sym typeface="Golos Text"/>
            </a:endParaRPr>
          </a:p>
        </p:txBody>
      </p:sp>
      <p:sp>
        <p:nvSpPr>
          <p:cNvPr id="526" name="Google Shape;526;p29"/>
          <p:cNvSpPr/>
          <p:nvPr/>
        </p:nvSpPr>
        <p:spPr>
          <a:xfrm>
            <a:off x="812778" y="3916561"/>
            <a:ext cx="10566000" cy="1574700"/>
          </a:xfrm>
          <a:prstGeom prst="roundRect">
            <a:avLst>
              <a:gd name="adj" fmla="val 6452"/>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9"/>
          <p:cNvSpPr/>
          <p:nvPr/>
        </p:nvSpPr>
        <p:spPr>
          <a:xfrm>
            <a:off x="1015973" y="4119761"/>
            <a:ext cx="10464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dirty="0" err="1">
                <a:solidFill>
                  <a:srgbClr val="E8E4DA"/>
                </a:solidFill>
                <a:latin typeface="JetBrains Mono"/>
                <a:ea typeface="JetBrains Mono"/>
                <a:cs typeface="JetBrains Mono"/>
                <a:sym typeface="JetBrains Mono"/>
              </a:rPr>
              <a:t>emb</a:t>
            </a:r>
            <a:r>
              <a:rPr lang="en-US" sz="1200" b="0" i="0" u="none" strike="noStrike" cap="none" dirty="0">
                <a:solidFill>
                  <a:srgbClr val="E8E4DA"/>
                </a:solidFill>
                <a:latin typeface="JetBrains Mono"/>
                <a:ea typeface="JetBrains Mono"/>
                <a:cs typeface="JetBrains Mono"/>
                <a:sym typeface="JetBrains Mono"/>
              </a:rPr>
              <a:t> = </a:t>
            </a:r>
            <a:r>
              <a:rPr lang="en-US" sz="1200" b="0" i="0" u="none" strike="noStrike" cap="none" dirty="0" err="1">
                <a:solidFill>
                  <a:srgbClr val="E8E4DA"/>
                </a:solidFill>
                <a:latin typeface="JetBrains Mono"/>
                <a:ea typeface="JetBrains Mono"/>
                <a:cs typeface="JetBrains Mono"/>
                <a:sym typeface="JetBrains Mono"/>
              </a:rPr>
              <a:t>nn.Embedding</a:t>
            </a:r>
            <a:r>
              <a:rPr lang="en-US" sz="1200" b="0" i="0" u="none" strike="noStrike" cap="none" dirty="0">
                <a:solidFill>
                  <a:srgbClr val="E8E4DA"/>
                </a:solidFill>
                <a:latin typeface="JetBrains Mono"/>
                <a:ea typeface="JetBrains Mono"/>
                <a:cs typeface="JetBrains Mono"/>
                <a:sym typeface="JetBrains Mono"/>
              </a:rPr>
              <a:t>(</a:t>
            </a:r>
            <a:r>
              <a:rPr lang="en-US" sz="1200" b="0" i="0" u="none" strike="noStrike" cap="none" dirty="0" err="1">
                <a:solidFill>
                  <a:srgbClr val="E8E4DA"/>
                </a:solidFill>
                <a:latin typeface="JetBrains Mono"/>
                <a:ea typeface="JetBrains Mono"/>
                <a:cs typeface="JetBrains Mono"/>
                <a:sym typeface="JetBrains Mono"/>
              </a:rPr>
              <a:t>num_embeddings</a:t>
            </a:r>
            <a:r>
              <a:rPr lang="en-US" sz="1200" b="0" i="0" u="none" strike="noStrike" cap="none" dirty="0">
                <a:solidFill>
                  <a:srgbClr val="E8E4DA"/>
                </a:solidFill>
                <a:latin typeface="JetBrains Mono"/>
                <a:ea typeface="JetBrains Mono"/>
                <a:cs typeface="JetBrains Mono"/>
                <a:sym typeface="JetBrains Mono"/>
              </a:rPr>
              <a:t>=50_000, </a:t>
            </a:r>
            <a:r>
              <a:rPr lang="en-US" sz="1200" b="0" i="0" u="none" strike="noStrike" cap="none" dirty="0" err="1">
                <a:solidFill>
                  <a:srgbClr val="E8E4DA"/>
                </a:solidFill>
                <a:latin typeface="JetBrains Mono"/>
                <a:ea typeface="JetBrains Mono"/>
                <a:cs typeface="JetBrains Mono"/>
                <a:sym typeface="JetBrains Mono"/>
              </a:rPr>
              <a:t>embedding_dim</a:t>
            </a:r>
            <a:r>
              <a:rPr lang="en-US" sz="1200" b="0" i="0" u="none" strike="noStrike" cap="none" dirty="0">
                <a:solidFill>
                  <a:srgbClr val="E8E4DA"/>
                </a:solidFill>
                <a:latin typeface="JetBrains Mono"/>
                <a:ea typeface="JetBrains Mono"/>
                <a:cs typeface="JetBrains Mono"/>
                <a:sym typeface="JetBrains Mono"/>
              </a:rPr>
              <a:t>=300)</a:t>
            </a:r>
            <a:endParaRPr sz="1200" b="0" i="0" u="none" strike="noStrike" cap="none" dirty="0">
              <a:solidFill>
                <a:schemeClr val="dk1"/>
              </a:solidFill>
              <a:latin typeface="Golos Text"/>
              <a:ea typeface="Golos Text"/>
              <a:cs typeface="Golos Text"/>
              <a:sym typeface="Golos Text"/>
            </a:endParaRPr>
          </a:p>
        </p:txBody>
      </p:sp>
      <p:sp>
        <p:nvSpPr>
          <p:cNvPr id="528" name="Google Shape;528;p29"/>
          <p:cNvSpPr/>
          <p:nvPr/>
        </p:nvSpPr>
        <p:spPr>
          <a:xfrm>
            <a:off x="1015973" y="4358481"/>
            <a:ext cx="10464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ids = torch.tensor([[12, 7, 431]])                   </a:t>
            </a:r>
            <a:r>
              <a:rPr lang="en-US" sz="1200" b="0" i="0" u="none" strike="noStrike" cap="none">
                <a:solidFill>
                  <a:srgbClr val="9FB0C3"/>
                </a:solidFill>
                <a:latin typeface="JetBrains Mono"/>
                <a:ea typeface="JetBrains Mono"/>
                <a:cs typeface="JetBrains Mono"/>
                <a:sym typeface="JetBrains Mono"/>
              </a:rPr>
              <a:t># (батч, длина) = (1, 3)</a:t>
            </a:r>
            <a:endParaRPr sz="1200" b="0" i="0" u="none" strike="noStrike" cap="none">
              <a:solidFill>
                <a:schemeClr val="dk1"/>
              </a:solidFill>
              <a:latin typeface="Golos Text"/>
              <a:ea typeface="Golos Text"/>
              <a:cs typeface="Golos Text"/>
              <a:sym typeface="Golos Text"/>
            </a:endParaRPr>
          </a:p>
        </p:txBody>
      </p:sp>
      <p:sp>
        <p:nvSpPr>
          <p:cNvPr id="529" name="Google Shape;529;p29"/>
          <p:cNvSpPr/>
          <p:nvPr/>
        </p:nvSpPr>
        <p:spPr>
          <a:xfrm>
            <a:off x="1015973" y="4597202"/>
            <a:ext cx="10464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vectors = emb(ids)                                   </a:t>
            </a:r>
            <a:r>
              <a:rPr lang="en-US" sz="1200" b="0" i="0" u="none" strike="noStrike" cap="none">
                <a:solidFill>
                  <a:srgbClr val="9FB0C3"/>
                </a:solidFill>
                <a:latin typeface="JetBrains Mono"/>
                <a:ea typeface="JetBrains Mono"/>
                <a:cs typeface="JetBrains Mono"/>
                <a:sym typeface="JetBrains Mono"/>
              </a:rPr>
              <a:t># (1, 3, 300): просто выбор строк</a:t>
            </a:r>
            <a:endParaRPr sz="1200" b="0" i="0" u="none" strike="noStrike" cap="none">
              <a:solidFill>
                <a:schemeClr val="dk1"/>
              </a:solidFill>
              <a:latin typeface="Golos Text"/>
              <a:ea typeface="Golos Text"/>
              <a:cs typeface="Golos Text"/>
              <a:sym typeface="Golos Text"/>
            </a:endParaRPr>
          </a:p>
        </p:txBody>
      </p:sp>
      <p:sp>
        <p:nvSpPr>
          <p:cNvPr id="530" name="Google Shape;530;p29"/>
          <p:cNvSpPr/>
          <p:nvPr/>
        </p:nvSpPr>
        <p:spPr>
          <a:xfrm>
            <a:off x="1015973" y="4835922"/>
            <a:ext cx="10464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same = F.one_hot(ids, 50_000).float() @ emb.weight   </a:t>
            </a:r>
            <a:r>
              <a:rPr lang="en-US" sz="1200" b="0" i="0" u="none" strike="noStrike" cap="none">
                <a:solidFill>
                  <a:srgbClr val="9FB0C3"/>
                </a:solidFill>
                <a:latin typeface="JetBrains Mono"/>
                <a:ea typeface="JetBrains Mono"/>
                <a:cs typeface="JetBrains Mono"/>
                <a:sym typeface="JetBrains Mono"/>
              </a:rPr>
              <a:t># тот же результат через one-hot</a:t>
            </a:r>
            <a:endParaRPr sz="1200" b="0" i="0" u="none" strike="noStrike" cap="none">
              <a:solidFill>
                <a:schemeClr val="dk1"/>
              </a:solidFill>
              <a:latin typeface="Golos Text"/>
              <a:ea typeface="Golos Text"/>
              <a:cs typeface="Golos Text"/>
              <a:sym typeface="Golos Text"/>
            </a:endParaRPr>
          </a:p>
        </p:txBody>
      </p:sp>
      <p:sp>
        <p:nvSpPr>
          <p:cNvPr id="531" name="Google Shape;531;p29"/>
          <p:cNvSpPr/>
          <p:nvPr/>
        </p:nvSpPr>
        <p:spPr>
          <a:xfrm>
            <a:off x="1015973" y="5074642"/>
            <a:ext cx="10464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torch.allclose(vectors, same)                        </a:t>
            </a:r>
            <a:r>
              <a:rPr lang="en-US" sz="1200" b="0" i="0" u="none" strike="noStrike" cap="none">
                <a:solidFill>
                  <a:srgbClr val="9FB0C3"/>
                </a:solidFill>
                <a:latin typeface="JetBrains Mono"/>
                <a:ea typeface="JetBrains Mono"/>
                <a:cs typeface="JetBrains Mono"/>
                <a:sym typeface="JetBrains Mono"/>
              </a:rPr>
              <a:t># True</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6"/>
        <p:cNvGrpSpPr/>
        <p:nvPr/>
      </p:nvGrpSpPr>
      <p:grpSpPr>
        <a:xfrm>
          <a:off x="0" y="0"/>
          <a:ext cx="0" cy="0"/>
          <a:chOff x="0" y="0"/>
          <a:chExt cx="0" cy="0"/>
        </a:xfrm>
      </p:grpSpPr>
      <p:sp>
        <p:nvSpPr>
          <p:cNvPr id="537" name="Google Shape;537;p30"/>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03 · ЭМБЕДДИНГ КАК СЛОЙ</a:t>
            </a:r>
            <a:endParaRPr sz="1200" b="0" i="0" u="none" strike="noStrike" cap="none">
              <a:solidFill>
                <a:schemeClr val="dk1"/>
              </a:solidFill>
              <a:latin typeface="Golos Text"/>
              <a:ea typeface="Golos Text"/>
              <a:cs typeface="Golos Text"/>
              <a:sym typeface="Golos Text"/>
            </a:endParaRPr>
          </a:p>
        </p:txBody>
      </p:sp>
      <p:sp>
        <p:nvSpPr>
          <p:cNvPr id="538" name="Google Shape;538;p30"/>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Три способа получить эмбеддинги для задачи</a:t>
            </a:r>
            <a:endParaRPr sz="3200"/>
          </a:p>
        </p:txBody>
      </p:sp>
      <p:sp>
        <p:nvSpPr>
          <p:cNvPr id="539" name="Google Shape;539;p30"/>
          <p:cNvSpPr/>
          <p:nvPr/>
        </p:nvSpPr>
        <p:spPr>
          <a:xfrm>
            <a:off x="815953" y="1903016"/>
            <a:ext cx="3380400" cy="3003300"/>
          </a:xfrm>
          <a:prstGeom prst="roundRect">
            <a:avLst>
              <a:gd name="adj" fmla="val 3277"/>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0"/>
          <p:cNvSpPr/>
          <p:nvPr/>
        </p:nvSpPr>
        <p:spPr>
          <a:xfrm>
            <a:off x="1022323" y="2109391"/>
            <a:ext cx="30567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Учить с нуля</a:t>
            </a:r>
            <a:endParaRPr sz="2000" b="0" i="0" u="none" strike="noStrike" cap="none">
              <a:solidFill>
                <a:schemeClr val="dk1"/>
              </a:solidFill>
              <a:latin typeface="Golos Text"/>
              <a:ea typeface="Golos Text"/>
              <a:cs typeface="Golos Text"/>
              <a:sym typeface="Golos Text"/>
            </a:endParaRPr>
          </a:p>
        </p:txBody>
      </p:sp>
      <p:sp>
        <p:nvSpPr>
          <p:cNvPr id="541" name="Google Shape;541;p30"/>
          <p:cNvSpPr/>
          <p:nvPr/>
        </p:nvSpPr>
        <p:spPr>
          <a:xfrm>
            <a:off x="1022323" y="2515791"/>
            <a:ext cx="3056700" cy="1020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Случайный старт, учатся вместе с моделью. Когда много размеченных данных или особый словарь: код, медицина.</a:t>
            </a:r>
            <a:endParaRPr sz="1400" b="0" i="0" u="none" strike="noStrike" cap="none">
              <a:solidFill>
                <a:schemeClr val="dk1"/>
              </a:solidFill>
              <a:latin typeface="Golos Text"/>
              <a:ea typeface="Golos Text"/>
              <a:cs typeface="Golos Text"/>
              <a:sym typeface="Golos Text"/>
            </a:endParaRPr>
          </a:p>
        </p:txBody>
      </p:sp>
      <p:sp>
        <p:nvSpPr>
          <p:cNvPr id="542" name="Google Shape;542;p30"/>
          <p:cNvSpPr/>
          <p:nvPr/>
        </p:nvSpPr>
        <p:spPr>
          <a:xfrm>
            <a:off x="1022323" y="4232473"/>
            <a:ext cx="2967600" cy="467400"/>
          </a:xfrm>
          <a:prstGeom prst="roundRect">
            <a:avLst>
              <a:gd name="adj" fmla="val 16306"/>
            </a:avLst>
          </a:prstGeom>
          <a:solidFill>
            <a:srgbClr val="1B2430"/>
          </a:solidFill>
          <a:ln>
            <a:noFill/>
          </a:ln>
        </p:spPr>
        <p:txBody>
          <a:bodyPr spcFirstLastPara="1" wrap="square" lIns="104675" tIns="104675" rIns="23275" bIns="79275"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nn.Embedding(V, d)</a:t>
            </a:r>
            <a:endParaRPr sz="1200" b="0" i="0" u="none" strike="noStrike" cap="none">
              <a:solidFill>
                <a:schemeClr val="dk1"/>
              </a:solidFill>
              <a:latin typeface="Golos Text"/>
              <a:ea typeface="Golos Text"/>
              <a:cs typeface="Golos Text"/>
              <a:sym typeface="Golos Text"/>
            </a:endParaRPr>
          </a:p>
        </p:txBody>
      </p:sp>
      <p:sp>
        <p:nvSpPr>
          <p:cNvPr id="543" name="Google Shape;543;p30"/>
          <p:cNvSpPr/>
          <p:nvPr/>
        </p:nvSpPr>
        <p:spPr>
          <a:xfrm>
            <a:off x="4405692" y="1903016"/>
            <a:ext cx="3380400" cy="3003300"/>
          </a:xfrm>
          <a:prstGeom prst="roundRect">
            <a:avLst>
              <a:gd name="adj" fmla="val 3277"/>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0"/>
          <p:cNvSpPr/>
          <p:nvPr/>
        </p:nvSpPr>
        <p:spPr>
          <a:xfrm>
            <a:off x="4612061" y="2109391"/>
            <a:ext cx="3056700" cy="63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Взять готовые и заморозить</a:t>
            </a:r>
            <a:endParaRPr sz="2000" b="0" i="0" u="none" strike="noStrike" cap="none">
              <a:solidFill>
                <a:schemeClr val="dk1"/>
              </a:solidFill>
              <a:latin typeface="Golos Text"/>
              <a:ea typeface="Golos Text"/>
              <a:cs typeface="Golos Text"/>
              <a:sym typeface="Golos Text"/>
            </a:endParaRPr>
          </a:p>
        </p:txBody>
      </p:sp>
      <p:sp>
        <p:nvSpPr>
          <p:cNvPr id="545" name="Google Shape;545;p30"/>
          <p:cNvSpPr/>
          <p:nvPr/>
        </p:nvSpPr>
        <p:spPr>
          <a:xfrm>
            <a:off x="4612061" y="2820591"/>
            <a:ext cx="3056700" cy="1020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dirty="0">
                <a:solidFill>
                  <a:srgbClr val="4A5361"/>
                </a:solidFill>
                <a:latin typeface="Golos Text"/>
                <a:ea typeface="Golos Text"/>
                <a:cs typeface="Golos Text"/>
                <a:sym typeface="Golos Text"/>
              </a:rPr>
              <a:t>word2vec, </a:t>
            </a:r>
            <a:r>
              <a:rPr lang="en-US" sz="1400" b="0" i="0" u="none" strike="noStrike" cap="none" dirty="0" err="1">
                <a:solidFill>
                  <a:srgbClr val="4A5361"/>
                </a:solidFill>
                <a:latin typeface="Golos Text"/>
                <a:ea typeface="Golos Text"/>
                <a:cs typeface="Golos Text"/>
                <a:sym typeface="Golos Text"/>
              </a:rPr>
              <a:t>fastText</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GloVe</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градиент</a:t>
            </a:r>
            <a:r>
              <a:rPr lang="en-US" sz="1400" b="0" i="0" u="none" strike="noStrike" cap="none" dirty="0">
                <a:solidFill>
                  <a:srgbClr val="4A5361"/>
                </a:solidFill>
                <a:latin typeface="Golos Text"/>
                <a:ea typeface="Golos Text"/>
                <a:cs typeface="Golos Text"/>
                <a:sym typeface="Golos Text"/>
              </a:rPr>
              <a:t> в </a:t>
            </a:r>
            <a:r>
              <a:rPr lang="en-US" sz="1400" b="0" i="0" u="none" strike="noStrike" cap="none" dirty="0" err="1">
                <a:solidFill>
                  <a:srgbClr val="4A5361"/>
                </a:solidFill>
                <a:latin typeface="Golos Text"/>
                <a:ea typeface="Golos Text"/>
                <a:cs typeface="Golos Text"/>
                <a:sym typeface="Golos Text"/>
              </a:rPr>
              <a:t>них</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не</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идёт</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Когда</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данных</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мало</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переносим</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знания</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из</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большого</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корпуса</a:t>
            </a:r>
            <a:r>
              <a:rPr lang="en-US" sz="1400" b="0" i="0" u="none" strike="noStrike" cap="none" dirty="0">
                <a:solidFill>
                  <a:srgbClr val="4A5361"/>
                </a:solidFill>
                <a:latin typeface="Golos Text"/>
                <a:ea typeface="Golos Text"/>
                <a:cs typeface="Golos Text"/>
                <a:sym typeface="Golos Text"/>
              </a:rPr>
              <a:t>.</a:t>
            </a:r>
            <a:endParaRPr sz="1400" b="0" i="0" u="none" strike="noStrike" cap="none" dirty="0">
              <a:solidFill>
                <a:schemeClr val="dk1"/>
              </a:solidFill>
              <a:latin typeface="Golos Text"/>
              <a:ea typeface="Golos Text"/>
              <a:cs typeface="Golos Text"/>
              <a:sym typeface="Golos Text"/>
            </a:endParaRPr>
          </a:p>
        </p:txBody>
      </p:sp>
      <p:sp>
        <p:nvSpPr>
          <p:cNvPr id="546" name="Google Shape;546;p30"/>
          <p:cNvSpPr/>
          <p:nvPr/>
        </p:nvSpPr>
        <p:spPr>
          <a:xfrm>
            <a:off x="4612061" y="4019153"/>
            <a:ext cx="2967600" cy="680700"/>
          </a:xfrm>
          <a:prstGeom prst="roundRect">
            <a:avLst>
              <a:gd name="adj" fmla="val 11195"/>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0"/>
          <p:cNvSpPr/>
          <p:nvPr/>
        </p:nvSpPr>
        <p:spPr>
          <a:xfrm>
            <a:off x="4739058" y="4146153"/>
            <a:ext cx="2795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dirty="0" err="1">
                <a:solidFill>
                  <a:srgbClr val="E8E4DA"/>
                </a:solidFill>
                <a:latin typeface="JetBrains Mono"/>
                <a:ea typeface="JetBrains Mono"/>
                <a:cs typeface="JetBrains Mono"/>
                <a:sym typeface="JetBrains Mono"/>
              </a:rPr>
              <a:t>nn.Embedding.from_pretrained</a:t>
            </a:r>
            <a:r>
              <a:rPr lang="en-US" sz="1200" b="0" i="0" u="none" strike="noStrike" cap="none" dirty="0">
                <a:solidFill>
                  <a:srgbClr val="E8E4DA"/>
                </a:solidFill>
                <a:latin typeface="JetBrains Mono"/>
                <a:ea typeface="JetBrains Mono"/>
                <a:cs typeface="JetBrains Mono"/>
                <a:sym typeface="JetBrains Mono"/>
              </a:rPr>
              <a:t>(</a:t>
            </a:r>
            <a:endParaRPr sz="1200" b="0" i="0" u="none" strike="noStrike" cap="none" dirty="0">
              <a:solidFill>
                <a:schemeClr val="dk1"/>
              </a:solidFill>
              <a:latin typeface="Golos Text"/>
              <a:ea typeface="Golos Text"/>
              <a:cs typeface="Golos Text"/>
              <a:sym typeface="Golos Text"/>
            </a:endParaRPr>
          </a:p>
        </p:txBody>
      </p:sp>
      <p:sp>
        <p:nvSpPr>
          <p:cNvPr id="548" name="Google Shape;548;p30"/>
          <p:cNvSpPr/>
          <p:nvPr/>
        </p:nvSpPr>
        <p:spPr>
          <a:xfrm>
            <a:off x="4739058" y="4359473"/>
            <a:ext cx="2795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dirty="0">
                <a:solidFill>
                  <a:srgbClr val="E8E4DA"/>
                </a:solidFill>
                <a:latin typeface="JetBrains Mono"/>
                <a:ea typeface="JetBrains Mono"/>
                <a:cs typeface="JetBrains Mono"/>
                <a:sym typeface="JetBrains Mono"/>
              </a:rPr>
              <a:t>    W, freeze=True)</a:t>
            </a:r>
            <a:endParaRPr sz="1200" b="0" i="0" u="none" strike="noStrike" cap="none" dirty="0">
              <a:solidFill>
                <a:schemeClr val="dk1"/>
              </a:solidFill>
              <a:latin typeface="Golos Text"/>
              <a:ea typeface="Golos Text"/>
              <a:cs typeface="Golos Text"/>
              <a:sym typeface="Golos Text"/>
            </a:endParaRPr>
          </a:p>
        </p:txBody>
      </p:sp>
      <p:sp>
        <p:nvSpPr>
          <p:cNvPr id="549" name="Google Shape;549;p30"/>
          <p:cNvSpPr/>
          <p:nvPr/>
        </p:nvSpPr>
        <p:spPr>
          <a:xfrm>
            <a:off x="7995528" y="1903016"/>
            <a:ext cx="3380400" cy="3003300"/>
          </a:xfrm>
          <a:prstGeom prst="roundRect">
            <a:avLst>
              <a:gd name="adj" fmla="val 3277"/>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0"/>
          <p:cNvSpPr/>
          <p:nvPr/>
        </p:nvSpPr>
        <p:spPr>
          <a:xfrm>
            <a:off x="8201897" y="2109391"/>
            <a:ext cx="3056700" cy="63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Взять готовые и дообучить</a:t>
            </a:r>
            <a:endParaRPr sz="2000" b="0" i="0" u="none" strike="noStrike" cap="none">
              <a:solidFill>
                <a:schemeClr val="dk1"/>
              </a:solidFill>
              <a:latin typeface="Golos Text"/>
              <a:ea typeface="Golos Text"/>
              <a:cs typeface="Golos Text"/>
              <a:sym typeface="Golos Text"/>
            </a:endParaRPr>
          </a:p>
        </p:txBody>
      </p:sp>
      <p:sp>
        <p:nvSpPr>
          <p:cNvPr id="551" name="Google Shape;551;p30"/>
          <p:cNvSpPr/>
          <p:nvPr/>
        </p:nvSpPr>
        <p:spPr>
          <a:xfrm>
            <a:off x="8201897" y="2820591"/>
            <a:ext cx="3056700" cy="1020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dirty="0" err="1">
                <a:solidFill>
                  <a:srgbClr val="4A5361"/>
                </a:solidFill>
                <a:latin typeface="Golos Text"/>
                <a:ea typeface="Golos Text"/>
                <a:cs typeface="Golos Text"/>
                <a:sym typeface="Golos Text"/>
              </a:rPr>
              <a:t>Старт</a:t>
            </a:r>
            <a:r>
              <a:rPr lang="en-US" sz="1400" b="0" i="0" u="none" strike="noStrike" cap="none" dirty="0">
                <a:solidFill>
                  <a:srgbClr val="4A5361"/>
                </a:solidFill>
                <a:latin typeface="Golos Text"/>
                <a:ea typeface="Golos Text"/>
                <a:cs typeface="Golos Text"/>
                <a:sym typeface="Golos Text"/>
              </a:rPr>
              <a:t> с </a:t>
            </a:r>
            <a:r>
              <a:rPr lang="en-US" sz="1400" b="0" i="0" u="none" strike="noStrike" cap="none" dirty="0" err="1">
                <a:solidFill>
                  <a:srgbClr val="4A5361"/>
                </a:solidFill>
                <a:latin typeface="Golos Text"/>
                <a:ea typeface="Golos Text"/>
                <a:cs typeface="Golos Text"/>
                <a:sym typeface="Golos Text"/>
              </a:rPr>
              <a:t>готовых</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дальше</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учим</a:t>
            </a:r>
            <a:r>
              <a:rPr lang="en-US" sz="1400" b="0" i="0" u="none" strike="noStrike" cap="none" dirty="0">
                <a:solidFill>
                  <a:srgbClr val="4A5361"/>
                </a:solidFill>
                <a:latin typeface="Golos Text"/>
                <a:ea typeface="Golos Text"/>
                <a:cs typeface="Golos Text"/>
                <a:sym typeface="Golos Text"/>
              </a:rPr>
              <a:t> с </a:t>
            </a:r>
            <a:r>
              <a:rPr lang="en-US" sz="1400" b="0" i="0" u="none" strike="noStrike" cap="none" dirty="0" err="1">
                <a:solidFill>
                  <a:srgbClr val="4A5361"/>
                </a:solidFill>
                <a:latin typeface="Golos Text"/>
                <a:ea typeface="Golos Text"/>
                <a:cs typeface="Golos Text"/>
                <a:sym typeface="Golos Text"/>
              </a:rPr>
              <a:t>маленьким</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lr</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Когда</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данных</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средне</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Риск</a:t>
            </a:r>
            <a:r>
              <a:rPr lang="en-US" sz="1400" b="0" i="0" u="none" strike="noStrike" cap="none" dirty="0">
                <a:solidFill>
                  <a:srgbClr val="4A5361"/>
                </a:solidFill>
                <a:latin typeface="Golos Text"/>
                <a:ea typeface="Golos Text"/>
                <a:cs typeface="Golos Text"/>
                <a:sym typeface="Golos Text"/>
              </a:rPr>
              <a:t> — </a:t>
            </a:r>
            <a:r>
              <a:rPr lang="en-US" sz="1400" b="0" i="0" u="none" strike="noStrike" cap="none" dirty="0" err="1">
                <a:solidFill>
                  <a:srgbClr val="4A5361"/>
                </a:solidFill>
                <a:latin typeface="Golos Text"/>
                <a:ea typeface="Golos Text"/>
                <a:cs typeface="Golos Text"/>
                <a:sym typeface="Golos Text"/>
              </a:rPr>
              <a:t>переобучиться</a:t>
            </a:r>
            <a:r>
              <a:rPr lang="en-US" sz="1400" b="0" i="0" u="none" strike="noStrike" cap="none" dirty="0">
                <a:solidFill>
                  <a:srgbClr val="4A5361"/>
                </a:solidFill>
                <a:latin typeface="Golos Text"/>
                <a:ea typeface="Golos Text"/>
                <a:cs typeface="Golos Text"/>
                <a:sym typeface="Golos Text"/>
              </a:rPr>
              <a:t> и «</a:t>
            </a:r>
            <a:r>
              <a:rPr lang="en-US" sz="1400" b="0" i="0" u="none" strike="noStrike" cap="none" dirty="0" err="1">
                <a:solidFill>
                  <a:srgbClr val="4A5361"/>
                </a:solidFill>
                <a:latin typeface="Golos Text"/>
                <a:ea typeface="Golos Text"/>
                <a:cs typeface="Golos Text"/>
                <a:sym typeface="Golos Text"/>
              </a:rPr>
              <a:t>уехать</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от</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исходных</a:t>
            </a:r>
            <a:r>
              <a:rPr lang="en-US" sz="1400" b="0" i="0" u="none" strike="noStrike" cap="none" dirty="0">
                <a:solidFill>
                  <a:srgbClr val="4A5361"/>
                </a:solidFill>
                <a:latin typeface="Golos Text"/>
                <a:ea typeface="Golos Text"/>
                <a:cs typeface="Golos Text"/>
                <a:sym typeface="Golos Text"/>
              </a:rPr>
              <a:t> </a:t>
            </a:r>
            <a:r>
              <a:rPr lang="en-US" sz="1400" b="0" i="0" u="none" strike="noStrike" cap="none" dirty="0" err="1">
                <a:solidFill>
                  <a:srgbClr val="4A5361"/>
                </a:solidFill>
                <a:latin typeface="Golos Text"/>
                <a:ea typeface="Golos Text"/>
                <a:cs typeface="Golos Text"/>
                <a:sym typeface="Golos Text"/>
              </a:rPr>
              <a:t>векторов</a:t>
            </a:r>
            <a:r>
              <a:rPr lang="en-US" sz="1400" b="0" i="0" u="none" strike="noStrike" cap="none" dirty="0">
                <a:solidFill>
                  <a:srgbClr val="4A5361"/>
                </a:solidFill>
                <a:latin typeface="Golos Text"/>
                <a:ea typeface="Golos Text"/>
                <a:cs typeface="Golos Text"/>
                <a:sym typeface="Golos Text"/>
              </a:rPr>
              <a:t>.</a:t>
            </a:r>
            <a:endParaRPr sz="1400" b="0" i="0" u="none" strike="noStrike" cap="none" dirty="0">
              <a:solidFill>
                <a:schemeClr val="dk1"/>
              </a:solidFill>
              <a:latin typeface="Golos Text"/>
              <a:ea typeface="Golos Text"/>
              <a:cs typeface="Golos Text"/>
              <a:sym typeface="Golos Text"/>
            </a:endParaRPr>
          </a:p>
        </p:txBody>
      </p:sp>
      <p:sp>
        <p:nvSpPr>
          <p:cNvPr id="552" name="Google Shape;552;p30"/>
          <p:cNvSpPr/>
          <p:nvPr/>
        </p:nvSpPr>
        <p:spPr>
          <a:xfrm>
            <a:off x="8201897" y="4019153"/>
            <a:ext cx="2967600" cy="680700"/>
          </a:xfrm>
          <a:prstGeom prst="roundRect">
            <a:avLst>
              <a:gd name="adj" fmla="val 11195"/>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0"/>
          <p:cNvSpPr/>
          <p:nvPr/>
        </p:nvSpPr>
        <p:spPr>
          <a:xfrm>
            <a:off x="8328894" y="4146153"/>
            <a:ext cx="27948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nn.Embedding.from_pretrained(</a:t>
            </a:r>
            <a:endParaRPr sz="1200" b="0" i="0" u="none" strike="noStrike" cap="none">
              <a:solidFill>
                <a:schemeClr val="dk1"/>
              </a:solidFill>
              <a:latin typeface="Golos Text"/>
              <a:ea typeface="Golos Text"/>
              <a:cs typeface="Golos Text"/>
              <a:sym typeface="Golos Text"/>
            </a:endParaRPr>
          </a:p>
        </p:txBody>
      </p:sp>
      <p:sp>
        <p:nvSpPr>
          <p:cNvPr id="554" name="Google Shape;554;p30"/>
          <p:cNvSpPr/>
          <p:nvPr/>
        </p:nvSpPr>
        <p:spPr>
          <a:xfrm>
            <a:off x="8328894" y="4359473"/>
            <a:ext cx="27948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    W, freeze=False)</a:t>
            </a:r>
            <a:endParaRPr sz="1200" b="0" i="0" u="none" strike="noStrike" cap="none">
              <a:solidFill>
                <a:schemeClr val="dk1"/>
              </a:solidFill>
              <a:latin typeface="Golos Text"/>
              <a:ea typeface="Golos Text"/>
              <a:cs typeface="Golos Text"/>
              <a:sym typeface="Golos Text"/>
            </a:endParaRPr>
          </a:p>
        </p:txBody>
      </p:sp>
      <p:sp>
        <p:nvSpPr>
          <p:cNvPr id="555" name="Google Shape;555;p30"/>
          <p:cNvSpPr/>
          <p:nvPr/>
        </p:nvSpPr>
        <p:spPr>
          <a:xfrm>
            <a:off x="812778" y="5214144"/>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Тизер: во многих языковых моделях входные эмбеддинги — та же матрица, что и выходной слой (weight tying, Press &amp; Wolf, 2017)</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0"/>
        <p:cNvGrpSpPr/>
        <p:nvPr/>
      </p:nvGrpSpPr>
      <p:grpSpPr>
        <a:xfrm>
          <a:off x="0" y="0"/>
          <a:ext cx="0" cy="0"/>
          <a:chOff x="0" y="0"/>
          <a:chExt cx="0" cy="0"/>
        </a:xfrm>
      </p:grpSpPr>
      <p:sp>
        <p:nvSpPr>
          <p:cNvPr id="561" name="Google Shape;561;p31"/>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04 · ПОДВОДНЫЕ КАМНИ</a:t>
            </a:r>
            <a:endParaRPr sz="1200" b="0" i="0" u="none" strike="noStrike" cap="none">
              <a:solidFill>
                <a:schemeClr val="dk1"/>
              </a:solidFill>
              <a:latin typeface="Golos Text"/>
              <a:ea typeface="Golos Text"/>
              <a:cs typeface="Golos Text"/>
              <a:sym typeface="Golos Text"/>
            </a:endParaRPr>
          </a:p>
        </p:txBody>
      </p:sp>
      <p:sp>
        <p:nvSpPr>
          <p:cNvPr id="562" name="Google Shape;562;p31"/>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Как оценивать эмбеддинги</a:t>
            </a:r>
            <a:endParaRPr sz="3200"/>
          </a:p>
        </p:txBody>
      </p:sp>
      <p:sp>
        <p:nvSpPr>
          <p:cNvPr id="563" name="Google Shape;563;p31"/>
          <p:cNvSpPr/>
          <p:nvPr/>
        </p:nvSpPr>
        <p:spPr>
          <a:xfrm>
            <a:off x="815953" y="1953816"/>
            <a:ext cx="5175300" cy="2657700"/>
          </a:xfrm>
          <a:prstGeom prst="roundRect">
            <a:avLst>
              <a:gd name="adj" fmla="val 3703"/>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p:cNvSpPr/>
          <p:nvPr/>
        </p:nvSpPr>
        <p:spPr>
          <a:xfrm>
            <a:off x="1073121" y="2210991"/>
            <a:ext cx="4800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ВНУТРЕННЯЯ</a:t>
            </a:r>
            <a:endParaRPr sz="1200" b="0" i="0" u="none" strike="noStrike" cap="none">
              <a:solidFill>
                <a:schemeClr val="dk1"/>
              </a:solidFill>
              <a:latin typeface="Golos Text"/>
              <a:ea typeface="Golos Text"/>
              <a:cs typeface="Golos Text"/>
              <a:sym typeface="Golos Text"/>
            </a:endParaRPr>
          </a:p>
        </p:txBody>
      </p:sp>
      <p:sp>
        <p:nvSpPr>
          <p:cNvPr id="565" name="Google Shape;565;p31"/>
          <p:cNvSpPr/>
          <p:nvPr/>
        </p:nvSpPr>
        <p:spPr>
          <a:xfrm>
            <a:off x="1073121" y="255131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Сходство и аналогии</a:t>
            </a:r>
            <a:endParaRPr sz="2000" b="0" i="0" u="none" strike="noStrike" cap="none">
              <a:solidFill>
                <a:schemeClr val="dk1"/>
              </a:solidFill>
              <a:latin typeface="Golos Text"/>
              <a:ea typeface="Golos Text"/>
              <a:cs typeface="Golos Text"/>
              <a:sym typeface="Golos Text"/>
            </a:endParaRPr>
          </a:p>
        </p:txBody>
      </p:sp>
      <p:sp>
        <p:nvSpPr>
          <p:cNvPr id="566" name="Google Shape;566;p31"/>
          <p:cNvSpPr/>
          <p:nvPr/>
        </p:nvSpPr>
        <p:spPr>
          <a:xfrm>
            <a:off x="1073121" y="2983111"/>
            <a:ext cx="48006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Сравниваем косинусы с оценками людей (SimLex-999, WordSim-353, для русского — RUSSE) и решаем аналогии.</a:t>
            </a:r>
            <a:endParaRPr sz="1400" b="0" i="0" u="none" strike="noStrike" cap="none">
              <a:solidFill>
                <a:schemeClr val="dk1"/>
              </a:solidFill>
              <a:latin typeface="Golos Text"/>
              <a:ea typeface="Golos Text"/>
              <a:cs typeface="Golos Text"/>
              <a:sym typeface="Golos Text"/>
            </a:endParaRPr>
          </a:p>
        </p:txBody>
      </p:sp>
      <p:sp>
        <p:nvSpPr>
          <p:cNvPr id="567" name="Google Shape;567;p31"/>
          <p:cNvSpPr/>
          <p:nvPr/>
        </p:nvSpPr>
        <p:spPr>
          <a:xfrm>
            <a:off x="1073121" y="3856633"/>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a:solidFill>
                  <a:srgbClr val="1B2430"/>
                </a:solidFill>
                <a:latin typeface="Golos Text"/>
                <a:ea typeface="Golos Text"/>
                <a:cs typeface="Golos Text"/>
                <a:sym typeface="Golos Text"/>
              </a:rPr>
              <a:t>+</a:t>
            </a:r>
            <a:r>
              <a:rPr lang="en-US" sz="1400" b="0" i="0" u="none" strike="noStrike" cap="none">
                <a:solidFill>
                  <a:srgbClr val="1B2430"/>
                </a:solidFill>
                <a:latin typeface="Golos Text"/>
                <a:ea typeface="Golos Text"/>
                <a:cs typeface="Golos Text"/>
                <a:sym typeface="Golos Text"/>
              </a:rPr>
              <a:t> быстро и наглядно</a:t>
            </a:r>
            <a:endParaRPr sz="1400" b="0" i="0" u="none" strike="noStrike" cap="none">
              <a:solidFill>
                <a:schemeClr val="dk1"/>
              </a:solidFill>
              <a:latin typeface="Golos Text"/>
              <a:ea typeface="Golos Text"/>
              <a:cs typeface="Golos Text"/>
              <a:sym typeface="Golos Text"/>
            </a:endParaRPr>
          </a:p>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a:solidFill>
                  <a:srgbClr val="1B2430"/>
                </a:solidFill>
                <a:latin typeface="Golos Text"/>
                <a:ea typeface="Golos Text"/>
                <a:cs typeface="Golos Text"/>
                <a:sym typeface="Golos Text"/>
              </a:rPr>
              <a:t>−</a:t>
            </a:r>
            <a:r>
              <a:rPr lang="en-US" sz="1400" b="0" i="0" u="none" strike="noStrike" cap="none">
                <a:solidFill>
                  <a:srgbClr val="1B2430"/>
                </a:solidFill>
                <a:latin typeface="Golos Text"/>
                <a:ea typeface="Golos Text"/>
                <a:cs typeface="Golos Text"/>
                <a:sym typeface="Golos Text"/>
              </a:rPr>
              <a:t> плохо предсказывает пользу в задаче</a:t>
            </a:r>
            <a:endParaRPr sz="1400" b="0" i="0" u="none" strike="noStrike" cap="none">
              <a:solidFill>
                <a:schemeClr val="dk1"/>
              </a:solidFill>
              <a:latin typeface="Golos Text"/>
              <a:ea typeface="Golos Text"/>
              <a:cs typeface="Golos Text"/>
              <a:sym typeface="Golos Text"/>
            </a:endParaRPr>
          </a:p>
        </p:txBody>
      </p:sp>
      <p:sp>
        <p:nvSpPr>
          <p:cNvPr id="568" name="Google Shape;568;p31"/>
          <p:cNvSpPr/>
          <p:nvPr/>
        </p:nvSpPr>
        <p:spPr>
          <a:xfrm>
            <a:off x="6200610" y="1953816"/>
            <a:ext cx="5175300" cy="2657700"/>
          </a:xfrm>
          <a:prstGeom prst="roundRect">
            <a:avLst>
              <a:gd name="adj" fmla="val 3703"/>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p:cNvSpPr/>
          <p:nvPr/>
        </p:nvSpPr>
        <p:spPr>
          <a:xfrm>
            <a:off x="6457778" y="2210991"/>
            <a:ext cx="4800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B5FA6"/>
              </a:buClr>
              <a:buSzPts val="1200"/>
              <a:buFont typeface="Golos Text"/>
              <a:buNone/>
            </a:pPr>
            <a:r>
              <a:rPr lang="en-US" sz="1200" b="1" i="0" u="none" strike="noStrike" cap="none">
                <a:solidFill>
                  <a:srgbClr val="2B5FA6"/>
                </a:solidFill>
                <a:latin typeface="Golos Text"/>
                <a:ea typeface="Golos Text"/>
                <a:cs typeface="Golos Text"/>
                <a:sym typeface="Golos Text"/>
              </a:rPr>
              <a:t>ВНЕШНЯЯ</a:t>
            </a:r>
            <a:endParaRPr sz="1200" b="0" i="0" u="none" strike="noStrike" cap="none">
              <a:solidFill>
                <a:schemeClr val="dk1"/>
              </a:solidFill>
              <a:latin typeface="Golos Text"/>
              <a:ea typeface="Golos Text"/>
              <a:cs typeface="Golos Text"/>
              <a:sym typeface="Golos Text"/>
            </a:endParaRPr>
          </a:p>
        </p:txBody>
      </p:sp>
      <p:sp>
        <p:nvSpPr>
          <p:cNvPr id="570" name="Google Shape;570;p31"/>
          <p:cNvSpPr/>
          <p:nvPr/>
        </p:nvSpPr>
        <p:spPr>
          <a:xfrm>
            <a:off x="6457778" y="255131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Качество в реальной задаче</a:t>
            </a:r>
            <a:endParaRPr sz="2000" b="0" i="0" u="none" strike="noStrike" cap="none">
              <a:solidFill>
                <a:schemeClr val="dk1"/>
              </a:solidFill>
              <a:latin typeface="Golos Text"/>
              <a:ea typeface="Golos Text"/>
              <a:cs typeface="Golos Text"/>
              <a:sym typeface="Golos Text"/>
            </a:endParaRPr>
          </a:p>
        </p:txBody>
      </p:sp>
      <p:sp>
        <p:nvSpPr>
          <p:cNvPr id="571" name="Google Shape;571;p31"/>
          <p:cNvSpPr/>
          <p:nvPr/>
        </p:nvSpPr>
        <p:spPr>
          <a:xfrm>
            <a:off x="6457778" y="2983111"/>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Подставляем эмбеддинги в классификацию, NER или поиск и меряем метрику самой задачи.</a:t>
            </a:r>
            <a:endParaRPr sz="1400" b="0" i="0" u="none" strike="noStrike" cap="none">
              <a:solidFill>
                <a:schemeClr val="dk1"/>
              </a:solidFill>
              <a:latin typeface="Golos Text"/>
              <a:ea typeface="Golos Text"/>
              <a:cs typeface="Golos Text"/>
              <a:sym typeface="Golos Text"/>
            </a:endParaRPr>
          </a:p>
        </p:txBody>
      </p:sp>
      <p:sp>
        <p:nvSpPr>
          <p:cNvPr id="572" name="Google Shape;572;p31"/>
          <p:cNvSpPr/>
          <p:nvPr/>
        </p:nvSpPr>
        <p:spPr>
          <a:xfrm>
            <a:off x="6457778" y="3607792"/>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a:solidFill>
                  <a:srgbClr val="1B2430"/>
                </a:solidFill>
                <a:latin typeface="Golos Text"/>
                <a:ea typeface="Golos Text"/>
                <a:cs typeface="Golos Text"/>
                <a:sym typeface="Golos Text"/>
              </a:rPr>
              <a:t>+</a:t>
            </a:r>
            <a:r>
              <a:rPr lang="en-US" sz="1400" b="0" i="0" u="none" strike="noStrike" cap="none">
                <a:solidFill>
                  <a:srgbClr val="1B2430"/>
                </a:solidFill>
                <a:latin typeface="Golos Text"/>
                <a:ea typeface="Golos Text"/>
                <a:cs typeface="Golos Text"/>
                <a:sym typeface="Golos Text"/>
              </a:rPr>
              <a:t> меряет то, что действительно важно</a:t>
            </a:r>
            <a:endParaRPr sz="1400" b="0" i="0" u="none" strike="noStrike" cap="none">
              <a:solidFill>
                <a:schemeClr val="dk1"/>
              </a:solidFill>
              <a:latin typeface="Golos Text"/>
              <a:ea typeface="Golos Text"/>
              <a:cs typeface="Golos Text"/>
              <a:sym typeface="Golos Text"/>
            </a:endParaRPr>
          </a:p>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a:solidFill>
                  <a:srgbClr val="1B2430"/>
                </a:solidFill>
                <a:latin typeface="Golos Text"/>
                <a:ea typeface="Golos Text"/>
                <a:cs typeface="Golos Text"/>
                <a:sym typeface="Golos Text"/>
              </a:rPr>
              <a:t>−</a:t>
            </a:r>
            <a:r>
              <a:rPr lang="en-US" sz="1400" b="0" i="0" u="none" strike="noStrike" cap="none">
                <a:solidFill>
                  <a:srgbClr val="1B2430"/>
                </a:solidFill>
                <a:latin typeface="Golos Text"/>
                <a:ea typeface="Golos Text"/>
                <a:cs typeface="Golos Text"/>
                <a:sym typeface="Golos Text"/>
              </a:rPr>
              <a:t> дорого и зависит от модели поверх</a:t>
            </a:r>
            <a:endParaRPr sz="1400" b="0" i="0" u="none" strike="noStrike" cap="none">
              <a:solidFill>
                <a:schemeClr val="dk1"/>
              </a:solidFill>
              <a:latin typeface="Golos Text"/>
              <a:ea typeface="Golos Text"/>
              <a:cs typeface="Golos Text"/>
              <a:sym typeface="Golos Text"/>
            </a:endParaRPr>
          </a:p>
        </p:txBody>
      </p:sp>
      <p:sp>
        <p:nvSpPr>
          <p:cNvPr id="573" name="Google Shape;573;p31"/>
          <p:cNvSpPr/>
          <p:nvPr/>
        </p:nvSpPr>
        <p:spPr>
          <a:xfrm>
            <a:off x="812778" y="4970264"/>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1" i="0" u="none" strike="noStrike" cap="none">
                <a:solidFill>
                  <a:srgbClr val="1B2430"/>
                </a:solidFill>
                <a:latin typeface="Golos Text"/>
                <a:ea typeface="Golos Text"/>
                <a:cs typeface="Golos Text"/>
                <a:sym typeface="Golos Text"/>
              </a:rPr>
              <a:t>Лучшие на бенчмарке сходства ≠ лучшие в вашей задаче.</a:t>
            </a:r>
            <a:r>
              <a:rPr lang="en-US" sz="1500" b="0" i="0" u="none" strike="noStrike" cap="none">
                <a:solidFill>
                  <a:srgbClr val="1B2430"/>
                </a:solidFill>
                <a:latin typeface="Golos Text"/>
                <a:ea typeface="Golos Text"/>
                <a:cs typeface="Golos Text"/>
                <a:sym typeface="Golos Text"/>
              </a:rPr>
              <a:t> Проверяйте на своей.</a:t>
            </a:r>
            <a:endParaRPr sz="15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8"/>
        <p:cNvGrpSpPr/>
        <p:nvPr/>
      </p:nvGrpSpPr>
      <p:grpSpPr>
        <a:xfrm>
          <a:off x="0" y="0"/>
          <a:ext cx="0" cy="0"/>
          <a:chOff x="0" y="0"/>
          <a:chExt cx="0" cy="0"/>
        </a:xfrm>
      </p:grpSpPr>
      <p:sp>
        <p:nvSpPr>
          <p:cNvPr id="579" name="Google Shape;579;p32"/>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04 · ПОДВОДНЫЕ КАМНИ</a:t>
            </a:r>
            <a:endParaRPr sz="1200" b="0" i="0" u="none" strike="noStrike" cap="none">
              <a:solidFill>
                <a:schemeClr val="dk1"/>
              </a:solidFill>
              <a:latin typeface="Golos Text"/>
              <a:ea typeface="Golos Text"/>
              <a:cs typeface="Golos Text"/>
              <a:sym typeface="Golos Text"/>
            </a:endParaRPr>
          </a:p>
        </p:txBody>
      </p:sp>
      <p:sp>
        <p:nvSpPr>
          <p:cNvPr id="580" name="Google Shape;580;p32"/>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Аналогии работают хуже, чем кажется</a:t>
            </a:r>
            <a:endParaRPr sz="3200"/>
          </a:p>
        </p:txBody>
      </p:sp>
      <p:sp>
        <p:nvSpPr>
          <p:cNvPr id="581" name="Google Shape;581;p32"/>
          <p:cNvSpPr/>
          <p:nvPr/>
        </p:nvSpPr>
        <p:spPr>
          <a:xfrm>
            <a:off x="812778" y="1950641"/>
            <a:ext cx="10883100" cy="492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1B2430"/>
              </a:buClr>
              <a:buSzPts val="3200"/>
              <a:buFont typeface="PT Serif"/>
              <a:buNone/>
            </a:pPr>
            <a:r>
              <a:rPr lang="en-US" sz="3200" b="0" i="1" u="none" strike="noStrike" cap="none" dirty="0" err="1">
                <a:solidFill>
                  <a:srgbClr val="1B2430"/>
                </a:solidFill>
                <a:latin typeface="PT Serif"/>
                <a:ea typeface="PT Serif"/>
                <a:cs typeface="PT Serif"/>
                <a:sym typeface="PT Serif"/>
              </a:rPr>
              <a:t>король</a:t>
            </a:r>
            <a:r>
              <a:rPr lang="en-US" sz="3200" b="0" i="1" u="none" strike="noStrike" cap="none" dirty="0">
                <a:solidFill>
                  <a:srgbClr val="1B2430"/>
                </a:solidFill>
                <a:latin typeface="PT Serif"/>
                <a:ea typeface="PT Serif"/>
                <a:cs typeface="PT Serif"/>
                <a:sym typeface="PT Serif"/>
              </a:rPr>
              <a:t> − </a:t>
            </a:r>
            <a:r>
              <a:rPr lang="en-US" sz="3200" b="0" i="1" u="none" strike="noStrike" cap="none" dirty="0" err="1">
                <a:solidFill>
                  <a:srgbClr val="1B2430"/>
                </a:solidFill>
                <a:latin typeface="PT Serif"/>
                <a:ea typeface="PT Serif"/>
                <a:cs typeface="PT Serif"/>
                <a:sym typeface="PT Serif"/>
              </a:rPr>
              <a:t>мужчина</a:t>
            </a:r>
            <a:r>
              <a:rPr lang="en-US" sz="3200" b="0" i="1" u="none" strike="noStrike" cap="none" dirty="0">
                <a:solidFill>
                  <a:srgbClr val="1B2430"/>
                </a:solidFill>
                <a:latin typeface="PT Serif"/>
                <a:ea typeface="PT Serif"/>
                <a:cs typeface="PT Serif"/>
                <a:sym typeface="PT Serif"/>
              </a:rPr>
              <a:t> + </a:t>
            </a:r>
            <a:r>
              <a:rPr lang="en-US" sz="3200" b="0" i="1" u="none" strike="noStrike" cap="none" dirty="0" err="1">
                <a:solidFill>
                  <a:srgbClr val="1B2430"/>
                </a:solidFill>
                <a:latin typeface="PT Serif"/>
                <a:ea typeface="PT Serif"/>
                <a:cs typeface="PT Serif"/>
                <a:sym typeface="PT Serif"/>
              </a:rPr>
              <a:t>женщина</a:t>
            </a:r>
            <a:r>
              <a:rPr lang="en-US" sz="3200" b="0" i="1" u="none" strike="noStrike" cap="none" dirty="0">
                <a:solidFill>
                  <a:srgbClr val="1B2430"/>
                </a:solidFill>
                <a:latin typeface="PT Serif"/>
                <a:ea typeface="PT Serif"/>
                <a:cs typeface="PT Serif"/>
                <a:sym typeface="PT Serif"/>
              </a:rPr>
              <a:t> ≈ </a:t>
            </a:r>
            <a:r>
              <a:rPr lang="en-US" sz="3200" b="0" i="1" u="none" strike="noStrike" cap="none" dirty="0">
                <a:solidFill>
                  <a:srgbClr val="B34A1C"/>
                </a:solidFill>
                <a:latin typeface="PT Serif"/>
                <a:ea typeface="PT Serif"/>
                <a:cs typeface="PT Serif"/>
                <a:sym typeface="PT Serif"/>
              </a:rPr>
              <a:t>?</a:t>
            </a:r>
            <a:endParaRPr sz="3200" b="0" i="0" u="none" strike="noStrike" cap="none" dirty="0">
              <a:solidFill>
                <a:schemeClr val="dk1"/>
              </a:solidFill>
              <a:latin typeface="Golos Text"/>
              <a:ea typeface="Golos Text"/>
              <a:cs typeface="Golos Text"/>
              <a:sym typeface="Golos Text"/>
            </a:endParaRPr>
          </a:p>
        </p:txBody>
      </p:sp>
      <p:sp>
        <p:nvSpPr>
          <p:cNvPr id="582" name="Google Shape;582;p32"/>
          <p:cNvSpPr/>
          <p:nvPr/>
        </p:nvSpPr>
        <p:spPr>
          <a:xfrm>
            <a:off x="815953" y="2776736"/>
            <a:ext cx="5175300" cy="1418400"/>
          </a:xfrm>
          <a:prstGeom prst="roundRect">
            <a:avLst>
              <a:gd name="adj" fmla="val 6939"/>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2"/>
          <p:cNvSpPr/>
          <p:nvPr/>
        </p:nvSpPr>
        <p:spPr>
          <a:xfrm>
            <a:off x="1073121" y="303391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Подвох в поиске</a:t>
            </a:r>
            <a:endParaRPr sz="2000" b="0" i="0" u="none" strike="noStrike" cap="none">
              <a:solidFill>
                <a:schemeClr val="dk1"/>
              </a:solidFill>
              <a:latin typeface="Golos Text"/>
              <a:ea typeface="Golos Text"/>
              <a:cs typeface="Golos Text"/>
              <a:sym typeface="Golos Text"/>
            </a:endParaRPr>
          </a:p>
        </p:txBody>
      </p:sp>
      <p:sp>
        <p:nvSpPr>
          <p:cNvPr id="584" name="Google Shape;584;p32"/>
          <p:cNvSpPr/>
          <p:nvPr/>
        </p:nvSpPr>
        <p:spPr>
          <a:xfrm>
            <a:off x="1073121" y="3440311"/>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Ближайший вектор ищут, исключив слова запроса. Без этого ответом часто оказывается сам «король».</a:t>
            </a:r>
            <a:endParaRPr sz="1400" b="0" i="0" u="none" strike="noStrike" cap="none">
              <a:solidFill>
                <a:schemeClr val="dk1"/>
              </a:solidFill>
              <a:latin typeface="Golos Text"/>
              <a:ea typeface="Golos Text"/>
              <a:cs typeface="Golos Text"/>
              <a:sym typeface="Golos Text"/>
            </a:endParaRPr>
          </a:p>
        </p:txBody>
      </p:sp>
      <p:sp>
        <p:nvSpPr>
          <p:cNvPr id="585" name="Google Shape;585;p32"/>
          <p:cNvSpPr/>
          <p:nvPr/>
        </p:nvSpPr>
        <p:spPr>
          <a:xfrm>
            <a:off x="6200610" y="2776736"/>
            <a:ext cx="5175300" cy="1418400"/>
          </a:xfrm>
          <a:prstGeom prst="roundRect">
            <a:avLst>
              <a:gd name="adj" fmla="val 6939"/>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2"/>
          <p:cNvSpPr/>
          <p:nvPr/>
        </p:nvSpPr>
        <p:spPr>
          <a:xfrm>
            <a:off x="6457778" y="303391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Где работает</a:t>
            </a:r>
            <a:endParaRPr sz="2000" b="0" i="0" u="none" strike="noStrike" cap="none">
              <a:solidFill>
                <a:schemeClr val="dk1"/>
              </a:solidFill>
              <a:latin typeface="Golos Text"/>
              <a:ea typeface="Golos Text"/>
              <a:cs typeface="Golos Text"/>
              <a:sym typeface="Golos Text"/>
            </a:endParaRPr>
          </a:p>
        </p:txBody>
      </p:sp>
      <p:sp>
        <p:nvSpPr>
          <p:cNvPr id="587" name="Google Shape;587;p32"/>
          <p:cNvSpPr/>
          <p:nvPr/>
        </p:nvSpPr>
        <p:spPr>
          <a:xfrm>
            <a:off x="6457778" y="3440311"/>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Частые «чистые» отношения: страна → столица, род, время глагола. Для остальных — заметно хуже.</a:t>
            </a:r>
            <a:endParaRPr sz="1400" b="0" i="0" u="none" strike="noStrike" cap="none">
              <a:solidFill>
                <a:schemeClr val="dk1"/>
              </a:solidFill>
              <a:latin typeface="Golos Text"/>
              <a:ea typeface="Golos Text"/>
              <a:cs typeface="Golos Text"/>
              <a:sym typeface="Golos Text"/>
            </a:endParaRPr>
          </a:p>
        </p:txBody>
      </p:sp>
      <p:sp>
        <p:nvSpPr>
          <p:cNvPr id="588" name="Google Shape;588;p32"/>
          <p:cNvSpPr/>
          <p:nvPr/>
        </p:nvSpPr>
        <p:spPr>
          <a:xfrm>
            <a:off x="812778" y="4553942"/>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Nissim, van Noord, van der Goot, 2020 · «Fair is Better than Sensational»</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3"/>
        <p:cNvGrpSpPr/>
        <p:nvPr/>
      </p:nvGrpSpPr>
      <p:grpSpPr>
        <a:xfrm>
          <a:off x="0" y="0"/>
          <a:ext cx="0" cy="0"/>
          <a:chOff x="0" y="0"/>
          <a:chExt cx="0" cy="0"/>
        </a:xfrm>
      </p:grpSpPr>
      <p:sp>
        <p:nvSpPr>
          <p:cNvPr id="594" name="Google Shape;594;p33"/>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04 · ПОДВОДНЫЕ КАМНИ</a:t>
            </a:r>
            <a:endParaRPr sz="1200" b="0" i="0" u="none" strike="noStrike" cap="none">
              <a:solidFill>
                <a:schemeClr val="dk1"/>
              </a:solidFill>
              <a:latin typeface="Golos Text"/>
              <a:ea typeface="Golos Text"/>
              <a:cs typeface="Golos Text"/>
              <a:sym typeface="Golos Text"/>
            </a:endParaRPr>
          </a:p>
        </p:txBody>
      </p:sp>
      <p:sp>
        <p:nvSpPr>
          <p:cNvPr id="595" name="Google Shape;595;p33"/>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Что именно меряет косинус</a:t>
            </a:r>
            <a:endParaRPr sz="3200"/>
          </a:p>
        </p:txBody>
      </p:sp>
      <p:sp>
        <p:nvSpPr>
          <p:cNvPr id="596" name="Google Shape;596;p33"/>
          <p:cNvSpPr/>
          <p:nvPr/>
        </p:nvSpPr>
        <p:spPr>
          <a:xfrm>
            <a:off x="815953" y="1953816"/>
            <a:ext cx="5175300" cy="2718600"/>
          </a:xfrm>
          <a:prstGeom prst="roundRect">
            <a:avLst>
              <a:gd name="adj" fmla="val 3620"/>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3"/>
          <p:cNvSpPr/>
          <p:nvPr/>
        </p:nvSpPr>
        <p:spPr>
          <a:xfrm>
            <a:off x="1073121" y="221099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Антонимы оказываются рядом</a:t>
            </a:r>
            <a:endParaRPr sz="2000" b="0" i="0" u="none" strike="noStrike" cap="none">
              <a:solidFill>
                <a:schemeClr val="dk1"/>
              </a:solidFill>
              <a:latin typeface="Golos Text"/>
              <a:ea typeface="Golos Text"/>
              <a:cs typeface="Golos Text"/>
              <a:sym typeface="Golos Text"/>
            </a:endParaRPr>
          </a:p>
        </p:txBody>
      </p:sp>
      <p:sp>
        <p:nvSpPr>
          <p:cNvPr id="598" name="Google Shape;598;p33"/>
          <p:cNvSpPr/>
          <p:nvPr/>
        </p:nvSpPr>
        <p:spPr>
          <a:xfrm>
            <a:off x="1073121" y="2642791"/>
            <a:ext cx="9753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___ чай</a:t>
            </a:r>
            <a:endParaRPr sz="1400" b="0" i="0" u="none" strike="noStrike" cap="none">
              <a:solidFill>
                <a:schemeClr val="dk1"/>
              </a:solidFill>
              <a:latin typeface="Golos Text"/>
              <a:ea typeface="Golos Text"/>
              <a:cs typeface="Golos Text"/>
              <a:sym typeface="Golos Text"/>
            </a:endParaRPr>
          </a:p>
        </p:txBody>
      </p:sp>
      <p:sp>
        <p:nvSpPr>
          <p:cNvPr id="599" name="Google Shape;599;p33"/>
          <p:cNvSpPr/>
          <p:nvPr/>
        </p:nvSpPr>
        <p:spPr>
          <a:xfrm>
            <a:off x="2124713" y="2642791"/>
            <a:ext cx="11886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очень ___</a:t>
            </a:r>
            <a:endParaRPr sz="1400" b="0" i="0" u="none" strike="noStrike" cap="none">
              <a:solidFill>
                <a:schemeClr val="dk1"/>
              </a:solidFill>
              <a:latin typeface="Golos Text"/>
              <a:ea typeface="Golos Text"/>
              <a:cs typeface="Golos Text"/>
              <a:sym typeface="Golos Text"/>
            </a:endParaRPr>
          </a:p>
        </p:txBody>
      </p:sp>
      <p:sp>
        <p:nvSpPr>
          <p:cNvPr id="600" name="Google Shape;600;p33"/>
          <p:cNvSpPr/>
          <p:nvPr/>
        </p:nvSpPr>
        <p:spPr>
          <a:xfrm>
            <a:off x="3389619" y="2642791"/>
            <a:ext cx="1508700" cy="350400"/>
          </a:xfrm>
          <a:prstGeom prst="roundRect">
            <a:avLst>
              <a:gd name="adj" fmla="val 21744"/>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400"/>
              <a:buFont typeface="JetBrains Mono"/>
              <a:buNone/>
            </a:pPr>
            <a:r>
              <a:rPr lang="en-US" sz="1400" b="0" i="0" u="none" strike="noStrike" cap="none">
                <a:solidFill>
                  <a:srgbClr val="1B2430"/>
                </a:solidFill>
                <a:latin typeface="JetBrains Mono"/>
                <a:ea typeface="JetBrains Mono"/>
                <a:cs typeface="JetBrains Mono"/>
                <a:sym typeface="JetBrains Mono"/>
              </a:rPr>
              <a:t>на улице ___</a:t>
            </a:r>
            <a:endParaRPr sz="1400" b="0" i="0" u="none" strike="noStrike" cap="none">
              <a:solidFill>
                <a:schemeClr val="dk1"/>
              </a:solidFill>
              <a:latin typeface="Golos Text"/>
              <a:ea typeface="Golos Text"/>
              <a:cs typeface="Golos Text"/>
              <a:sym typeface="Golos Text"/>
            </a:endParaRPr>
          </a:p>
        </p:txBody>
      </p:sp>
      <p:sp>
        <p:nvSpPr>
          <p:cNvPr id="601" name="Google Shape;601;p33"/>
          <p:cNvSpPr/>
          <p:nvPr/>
        </p:nvSpPr>
        <p:spPr>
          <a:xfrm>
            <a:off x="1073121" y="3120231"/>
            <a:ext cx="48006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«Горячий» и «холодный» живут в одних контекстах. Косинус меряет похожесть контекстов, а не синонимию.</a:t>
            </a:r>
            <a:endParaRPr sz="1400" b="0" i="0" u="none" strike="noStrike" cap="none">
              <a:solidFill>
                <a:schemeClr val="dk1"/>
              </a:solidFill>
              <a:latin typeface="Golos Text"/>
              <a:ea typeface="Golos Text"/>
              <a:cs typeface="Golos Text"/>
              <a:sym typeface="Golos Text"/>
            </a:endParaRPr>
          </a:p>
        </p:txBody>
      </p:sp>
      <p:sp>
        <p:nvSpPr>
          <p:cNvPr id="602" name="Google Shape;602;p33"/>
          <p:cNvSpPr/>
          <p:nvPr/>
        </p:nvSpPr>
        <p:spPr>
          <a:xfrm>
            <a:off x="6200610" y="1953816"/>
            <a:ext cx="5175300" cy="2718600"/>
          </a:xfrm>
          <a:prstGeom prst="roundRect">
            <a:avLst>
              <a:gd name="adj" fmla="val 3620"/>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3"/>
          <p:cNvSpPr/>
          <p:nvPr/>
        </p:nvSpPr>
        <p:spPr>
          <a:xfrm>
            <a:off x="6457778" y="2210991"/>
            <a:ext cx="48006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Один вектор на все значения</a:t>
            </a:r>
            <a:endParaRPr sz="2000" b="0" i="0" u="none" strike="noStrike" cap="none">
              <a:solidFill>
                <a:schemeClr val="dk1"/>
              </a:solidFill>
              <a:latin typeface="Golos Text"/>
              <a:ea typeface="Golos Text"/>
              <a:cs typeface="Golos Text"/>
              <a:sym typeface="Golos Text"/>
            </a:endParaRPr>
          </a:p>
        </p:txBody>
      </p:sp>
      <p:sp>
        <p:nvSpPr>
          <p:cNvPr id="604" name="Google Shape;604;p33"/>
          <p:cNvSpPr/>
          <p:nvPr/>
        </p:nvSpPr>
        <p:spPr>
          <a:xfrm>
            <a:off x="6457778" y="2642791"/>
            <a:ext cx="48006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dirty="0" err="1">
                <a:solidFill>
                  <a:srgbClr val="1B2430"/>
                </a:solidFill>
                <a:latin typeface="Golos Text"/>
                <a:ea typeface="Golos Text"/>
                <a:cs typeface="Golos Text"/>
                <a:sym typeface="Golos Text"/>
              </a:rPr>
              <a:t>замок</a:t>
            </a:r>
            <a:r>
              <a:rPr lang="en-US" sz="1400" b="0" i="0" u="none" strike="noStrike" cap="none" dirty="0">
                <a:solidFill>
                  <a:srgbClr val="1B2430"/>
                </a:solidFill>
                <a:latin typeface="Golos Text"/>
                <a:ea typeface="Golos Text"/>
                <a:cs typeface="Golos Text"/>
                <a:sym typeface="Golos Text"/>
              </a:rPr>
              <a:t> </a:t>
            </a:r>
            <a:r>
              <a:rPr lang="en-US" sz="1400" b="0" i="0" u="none" strike="noStrike" cap="none" dirty="0">
                <a:solidFill>
                  <a:srgbClr val="646B78"/>
                </a:solidFill>
                <a:latin typeface="Golos Text"/>
                <a:ea typeface="Golos Text"/>
                <a:cs typeface="Golos Text"/>
                <a:sym typeface="Golos Text"/>
              </a:rPr>
              <a:t>— </a:t>
            </a:r>
            <a:r>
              <a:rPr lang="en-US" sz="1400" b="0" i="0" u="none" strike="noStrike" cap="none" dirty="0" err="1">
                <a:solidFill>
                  <a:srgbClr val="646B78"/>
                </a:solidFill>
                <a:latin typeface="Golos Text"/>
                <a:ea typeface="Golos Text"/>
                <a:cs typeface="Golos Text"/>
                <a:sym typeface="Golos Text"/>
              </a:rPr>
              <a:t>здание</a:t>
            </a:r>
            <a:r>
              <a:rPr lang="en-US" sz="1400" b="0" i="0" u="none" strike="noStrike" cap="none" dirty="0">
                <a:solidFill>
                  <a:srgbClr val="646B78"/>
                </a:solidFill>
                <a:latin typeface="Golos Text"/>
                <a:ea typeface="Golos Text"/>
                <a:cs typeface="Golos Text"/>
                <a:sym typeface="Golos Text"/>
              </a:rPr>
              <a:t> · </a:t>
            </a:r>
            <a:r>
              <a:rPr lang="en-US" sz="1400" b="0" i="0" u="none" strike="noStrike" cap="none" dirty="0" err="1">
                <a:solidFill>
                  <a:srgbClr val="646B78"/>
                </a:solidFill>
                <a:latin typeface="Golos Text"/>
                <a:ea typeface="Golos Text"/>
                <a:cs typeface="Golos Text"/>
                <a:sym typeface="Golos Text"/>
              </a:rPr>
              <a:t>запор</a:t>
            </a:r>
            <a:endParaRPr sz="1400" b="0" i="0" u="none" strike="noStrike" cap="none" dirty="0">
              <a:solidFill>
                <a:schemeClr val="dk1"/>
              </a:solidFill>
              <a:latin typeface="Golos Text"/>
              <a:ea typeface="Golos Text"/>
              <a:cs typeface="Golos Text"/>
              <a:sym typeface="Golos Text"/>
            </a:endParaRPr>
          </a:p>
        </p:txBody>
      </p:sp>
      <p:sp>
        <p:nvSpPr>
          <p:cNvPr id="605" name="Google Shape;605;p33"/>
          <p:cNvSpPr/>
          <p:nvPr/>
        </p:nvSpPr>
        <p:spPr>
          <a:xfrm>
            <a:off x="6457778" y="2942431"/>
            <a:ext cx="48006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dirty="0" err="1">
                <a:solidFill>
                  <a:srgbClr val="1B2430"/>
                </a:solidFill>
                <a:latin typeface="Golos Text"/>
                <a:ea typeface="Golos Text"/>
                <a:cs typeface="Golos Text"/>
                <a:sym typeface="Golos Text"/>
              </a:rPr>
              <a:t>лук</a:t>
            </a:r>
            <a:r>
              <a:rPr lang="en-US" sz="1400" b="0" i="0" u="none" strike="noStrike" cap="none" dirty="0">
                <a:solidFill>
                  <a:srgbClr val="1B2430"/>
                </a:solidFill>
                <a:latin typeface="Golos Text"/>
                <a:ea typeface="Golos Text"/>
                <a:cs typeface="Golos Text"/>
                <a:sym typeface="Golos Text"/>
              </a:rPr>
              <a:t> </a:t>
            </a:r>
            <a:r>
              <a:rPr lang="en-US" sz="1400" b="0" i="0" u="none" strike="noStrike" cap="none" dirty="0">
                <a:solidFill>
                  <a:srgbClr val="646B78"/>
                </a:solidFill>
                <a:latin typeface="Golos Text"/>
                <a:ea typeface="Golos Text"/>
                <a:cs typeface="Golos Text"/>
                <a:sym typeface="Golos Text"/>
              </a:rPr>
              <a:t>— </a:t>
            </a:r>
            <a:r>
              <a:rPr lang="en-US" sz="1400" b="0" i="0" u="none" strike="noStrike" cap="none" dirty="0" err="1">
                <a:solidFill>
                  <a:srgbClr val="646B78"/>
                </a:solidFill>
                <a:latin typeface="Golos Text"/>
                <a:ea typeface="Golos Text"/>
                <a:cs typeface="Golos Text"/>
                <a:sym typeface="Golos Text"/>
              </a:rPr>
              <a:t>овощ</a:t>
            </a:r>
            <a:r>
              <a:rPr lang="en-US" sz="1400" b="0" i="0" u="none" strike="noStrike" cap="none" dirty="0">
                <a:solidFill>
                  <a:srgbClr val="646B78"/>
                </a:solidFill>
                <a:latin typeface="Golos Text"/>
                <a:ea typeface="Golos Text"/>
                <a:cs typeface="Golos Text"/>
                <a:sym typeface="Golos Text"/>
              </a:rPr>
              <a:t> · </a:t>
            </a:r>
            <a:r>
              <a:rPr lang="en-US" sz="1400" b="0" i="0" u="none" strike="noStrike" cap="none" dirty="0" err="1">
                <a:solidFill>
                  <a:srgbClr val="646B78"/>
                </a:solidFill>
                <a:latin typeface="Golos Text"/>
                <a:ea typeface="Golos Text"/>
                <a:cs typeface="Golos Text"/>
                <a:sym typeface="Golos Text"/>
              </a:rPr>
              <a:t>оружие</a:t>
            </a:r>
            <a:endParaRPr sz="1400" b="0" i="0" u="none" strike="noStrike" cap="none" dirty="0">
              <a:solidFill>
                <a:schemeClr val="dk1"/>
              </a:solidFill>
              <a:latin typeface="Golos Text"/>
              <a:ea typeface="Golos Text"/>
              <a:cs typeface="Golos Text"/>
              <a:sym typeface="Golos Text"/>
            </a:endParaRPr>
          </a:p>
        </p:txBody>
      </p:sp>
      <p:sp>
        <p:nvSpPr>
          <p:cNvPr id="606" name="Google Shape;606;p33"/>
          <p:cNvSpPr/>
          <p:nvPr/>
        </p:nvSpPr>
        <p:spPr>
          <a:xfrm>
            <a:off x="6457778" y="3242072"/>
            <a:ext cx="48006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a:solidFill>
                  <a:srgbClr val="1B2430"/>
                </a:solidFill>
                <a:latin typeface="Golos Text"/>
                <a:ea typeface="Golos Text"/>
                <a:cs typeface="Golos Text"/>
                <a:sym typeface="Golos Text"/>
              </a:rPr>
              <a:t>коса</a:t>
            </a:r>
            <a:r>
              <a:rPr lang="en-US" sz="1400" b="0" i="0" u="none" strike="noStrike" cap="none">
                <a:solidFill>
                  <a:srgbClr val="1B2430"/>
                </a:solidFill>
                <a:latin typeface="Golos Text"/>
                <a:ea typeface="Golos Text"/>
                <a:cs typeface="Golos Text"/>
                <a:sym typeface="Golos Text"/>
              </a:rPr>
              <a:t> </a:t>
            </a:r>
            <a:r>
              <a:rPr lang="en-US" sz="1400" b="0" i="0" u="none" strike="noStrike" cap="none">
                <a:solidFill>
                  <a:srgbClr val="646B78"/>
                </a:solidFill>
                <a:latin typeface="Golos Text"/>
                <a:ea typeface="Golos Text"/>
                <a:cs typeface="Golos Text"/>
                <a:sym typeface="Golos Text"/>
              </a:rPr>
              <a:t>— причёска · инструмент · отмель</a:t>
            </a:r>
            <a:endParaRPr sz="1400" b="0" i="0" u="none" strike="noStrike" cap="none">
              <a:solidFill>
                <a:schemeClr val="dk1"/>
              </a:solidFill>
              <a:latin typeface="Golos Text"/>
              <a:ea typeface="Golos Text"/>
              <a:cs typeface="Golos Text"/>
              <a:sym typeface="Golos Text"/>
            </a:endParaRPr>
          </a:p>
        </p:txBody>
      </p:sp>
      <p:sp>
        <p:nvSpPr>
          <p:cNvPr id="607" name="Google Shape;607;p33"/>
          <p:cNvSpPr/>
          <p:nvPr/>
        </p:nvSpPr>
        <p:spPr>
          <a:xfrm>
            <a:off x="6457778" y="3541713"/>
            <a:ext cx="48006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1" i="0" u="none" strike="noStrike" cap="none">
                <a:solidFill>
                  <a:srgbClr val="1B2430"/>
                </a:solidFill>
                <a:latin typeface="Golos Text"/>
                <a:ea typeface="Golos Text"/>
                <a:cs typeface="Golos Text"/>
                <a:sym typeface="Golos Text"/>
              </a:rPr>
              <a:t>ключ</a:t>
            </a:r>
            <a:r>
              <a:rPr lang="en-US" sz="1400" b="0" i="0" u="none" strike="noStrike" cap="none">
                <a:solidFill>
                  <a:srgbClr val="1B2430"/>
                </a:solidFill>
                <a:latin typeface="Golos Text"/>
                <a:ea typeface="Golos Text"/>
                <a:cs typeface="Golos Text"/>
                <a:sym typeface="Golos Text"/>
              </a:rPr>
              <a:t> </a:t>
            </a:r>
            <a:r>
              <a:rPr lang="en-US" sz="1400" b="0" i="0" u="none" strike="noStrike" cap="none">
                <a:solidFill>
                  <a:srgbClr val="646B78"/>
                </a:solidFill>
                <a:latin typeface="Golos Text"/>
                <a:ea typeface="Golos Text"/>
                <a:cs typeface="Golos Text"/>
                <a:sym typeface="Golos Text"/>
              </a:rPr>
              <a:t>— от двери · родник · нотный</a:t>
            </a:r>
            <a:endParaRPr sz="1400" b="0" i="0" u="none" strike="noStrike" cap="none">
              <a:solidFill>
                <a:schemeClr val="dk1"/>
              </a:solidFill>
              <a:latin typeface="Golos Text"/>
              <a:ea typeface="Golos Text"/>
              <a:cs typeface="Golos Text"/>
              <a:sym typeface="Golos Text"/>
            </a:endParaRPr>
          </a:p>
        </p:txBody>
      </p:sp>
      <p:sp>
        <p:nvSpPr>
          <p:cNvPr id="608" name="Google Shape;608;p33"/>
          <p:cNvSpPr/>
          <p:nvPr/>
        </p:nvSpPr>
        <p:spPr>
          <a:xfrm>
            <a:off x="6457778" y="3917553"/>
            <a:ext cx="4800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Вектор — смесь значений с весами по частоте. Нужен контекст предложения.</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3"/>
        <p:cNvGrpSpPr/>
        <p:nvPr/>
      </p:nvGrpSpPr>
      <p:grpSpPr>
        <a:xfrm>
          <a:off x="0" y="0"/>
          <a:ext cx="0" cy="0"/>
          <a:chOff x="0" y="0"/>
          <a:chExt cx="0" cy="0"/>
        </a:xfrm>
      </p:grpSpPr>
      <p:sp>
        <p:nvSpPr>
          <p:cNvPr id="614" name="Google Shape;614;p34"/>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04 · ПОДВОДНЫЕ КАМНИ</a:t>
            </a:r>
            <a:endParaRPr sz="1200" b="0" i="0" u="none" strike="noStrike" cap="none">
              <a:solidFill>
                <a:schemeClr val="dk1"/>
              </a:solidFill>
              <a:latin typeface="Golos Text"/>
              <a:ea typeface="Golos Text"/>
              <a:cs typeface="Golos Text"/>
              <a:sym typeface="Golos Text"/>
            </a:endParaRPr>
          </a:p>
        </p:txBody>
      </p:sp>
      <p:sp>
        <p:nvSpPr>
          <p:cNvPr id="615" name="Google Shape;615;p34"/>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Эмбеддинги наследуют стереотипы корпуса</a:t>
            </a:r>
            <a:endParaRPr sz="3200"/>
          </a:p>
        </p:txBody>
      </p:sp>
      <p:sp>
        <p:nvSpPr>
          <p:cNvPr id="616" name="Google Shape;616;p34"/>
          <p:cNvSpPr/>
          <p:nvPr/>
        </p:nvSpPr>
        <p:spPr>
          <a:xfrm>
            <a:off x="812778" y="3052961"/>
            <a:ext cx="59646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Векторы учатся на текстах людей и воспроизводят их статистику, включая стереотипы о профессиях, поле, происхождении</a:t>
            </a:r>
            <a:endParaRPr sz="1400" b="0" i="0" u="none" strike="noStrike" cap="none">
              <a:solidFill>
                <a:schemeClr val="dk1"/>
              </a:solidFill>
              <a:latin typeface="Golos Text"/>
              <a:ea typeface="Golos Text"/>
              <a:cs typeface="Golos Text"/>
              <a:sym typeface="Golos Text"/>
            </a:endParaRPr>
          </a:p>
        </p:txBody>
      </p:sp>
      <p:sp>
        <p:nvSpPr>
          <p:cNvPr id="617" name="Google Shape;617;p34"/>
          <p:cNvSpPr/>
          <p:nvPr/>
        </p:nvSpPr>
        <p:spPr>
          <a:xfrm>
            <a:off x="812778" y="3901083"/>
            <a:ext cx="5964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WEAT (Caliskan et al., 2017): тест ассоциаций для эмбеддингов воспроизвёл известные человеческие смещения</a:t>
            </a:r>
            <a:endParaRPr sz="1400" b="0" i="0" u="none" strike="noStrike" cap="none">
              <a:solidFill>
                <a:schemeClr val="dk1"/>
              </a:solidFill>
              <a:latin typeface="Golos Text"/>
              <a:ea typeface="Golos Text"/>
              <a:cs typeface="Golos Text"/>
              <a:sym typeface="Golos Text"/>
            </a:endParaRPr>
          </a:p>
        </p:txBody>
      </p:sp>
      <p:sp>
        <p:nvSpPr>
          <p:cNvPr id="618" name="Google Shape;618;p34"/>
          <p:cNvSpPr/>
          <p:nvPr/>
        </p:nvSpPr>
        <p:spPr>
          <a:xfrm>
            <a:off x="812778" y="4500364"/>
            <a:ext cx="59646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 Методы «устранения» смещений во многом их лишь прячут (Gonen &amp; Goldberg, 2019)</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3"/>
        <p:cNvGrpSpPr/>
        <p:nvPr/>
      </p:nvGrpSpPr>
      <p:grpSpPr>
        <a:xfrm>
          <a:off x="0" y="0"/>
          <a:ext cx="0" cy="0"/>
          <a:chOff x="0" y="0"/>
          <a:chExt cx="0" cy="0"/>
        </a:xfrm>
      </p:grpSpPr>
      <p:sp>
        <p:nvSpPr>
          <p:cNvPr id="624" name="Google Shape;624;p35"/>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05 · ЭМБЕДДИНГИ ВЕЗДЕ</a:t>
            </a:r>
            <a:endParaRPr sz="1200" b="0" i="0" u="none" strike="noStrike" cap="none">
              <a:solidFill>
                <a:schemeClr val="dk1"/>
              </a:solidFill>
              <a:latin typeface="Golos Text"/>
              <a:ea typeface="Golos Text"/>
              <a:cs typeface="Golos Text"/>
              <a:sym typeface="Golos Text"/>
            </a:endParaRPr>
          </a:p>
        </p:txBody>
      </p:sp>
      <p:sp>
        <p:nvSpPr>
          <p:cNvPr id="625" name="Google Shape;625;p35"/>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Эмбеддинг — любой выученный вектор объекта</a:t>
            </a:r>
            <a:endParaRPr sz="3200"/>
          </a:p>
        </p:txBody>
      </p:sp>
      <p:sp>
        <p:nvSpPr>
          <p:cNvPr id="626" name="Google Shape;626;p35"/>
          <p:cNvSpPr/>
          <p:nvPr/>
        </p:nvSpPr>
        <p:spPr>
          <a:xfrm>
            <a:off x="812778" y="1950641"/>
            <a:ext cx="5283300" cy="1823400"/>
          </a:xfrm>
          <a:prstGeom prst="roundRect">
            <a:avLst>
              <a:gd name="adj" fmla="val 5572"/>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5"/>
          <p:cNvSpPr/>
          <p:nvPr/>
        </p:nvSpPr>
        <p:spPr>
          <a:xfrm>
            <a:off x="1015973" y="2153841"/>
            <a:ext cx="50232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0905A"/>
              </a:buClr>
              <a:buSzPts val="1200"/>
              <a:buFont typeface="Golos Text"/>
              <a:buNone/>
            </a:pPr>
            <a:r>
              <a:rPr lang="en-US" sz="1200" b="1" i="0" u="none" strike="noStrike" cap="none">
                <a:solidFill>
                  <a:srgbClr val="F0905A"/>
                </a:solidFill>
                <a:latin typeface="Golos Text"/>
                <a:ea typeface="Golos Text"/>
                <a:cs typeface="Golos Text"/>
                <a:sym typeface="Golos Text"/>
              </a:rPr>
              <a:t>ВЫ ЭТО УЖЕ ВИДЕЛИ</a:t>
            </a:r>
            <a:endParaRPr sz="1200" b="0" i="0" u="none" strike="noStrike" cap="none">
              <a:solidFill>
                <a:schemeClr val="dk1"/>
              </a:solidFill>
              <a:latin typeface="Golos Text"/>
              <a:ea typeface="Golos Text"/>
              <a:cs typeface="Golos Text"/>
              <a:sym typeface="Golos Text"/>
            </a:endParaRPr>
          </a:p>
        </p:txBody>
      </p:sp>
      <p:sp>
        <p:nvSpPr>
          <p:cNvPr id="628" name="Google Shape;628;p35"/>
          <p:cNvSpPr/>
          <p:nvPr/>
        </p:nvSpPr>
        <p:spPr>
          <a:xfrm>
            <a:off x="1015973" y="2443361"/>
            <a:ext cx="50232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2EEE6"/>
              </a:buClr>
              <a:buSzPts val="2000"/>
              <a:buFont typeface="PT Serif"/>
              <a:buNone/>
            </a:pPr>
            <a:r>
              <a:rPr lang="en-US" sz="2000" b="1" i="0" u="none" strike="noStrike" cap="none">
                <a:solidFill>
                  <a:srgbClr val="F2EEE6"/>
                </a:solidFill>
                <a:latin typeface="PT Serif"/>
                <a:ea typeface="PT Serif"/>
                <a:cs typeface="PT Serif"/>
                <a:sym typeface="PT Serif"/>
              </a:rPr>
              <a:t>Картинки</a:t>
            </a:r>
            <a:endParaRPr sz="2000" b="0" i="0" u="none" strike="noStrike" cap="none">
              <a:solidFill>
                <a:schemeClr val="dk1"/>
              </a:solidFill>
              <a:latin typeface="Golos Text"/>
              <a:ea typeface="Golos Text"/>
              <a:cs typeface="Golos Text"/>
              <a:sym typeface="Golos Text"/>
            </a:endParaRPr>
          </a:p>
        </p:txBody>
      </p:sp>
      <p:sp>
        <p:nvSpPr>
          <p:cNvPr id="629" name="Google Shape;629;p35"/>
          <p:cNvSpPr/>
          <p:nvPr/>
        </p:nvSpPr>
        <p:spPr>
          <a:xfrm>
            <a:off x="1015973" y="2824361"/>
            <a:ext cx="50232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9C3CF"/>
              </a:buClr>
              <a:buSzPts val="1400"/>
              <a:buFont typeface="Golos Text"/>
              <a:buNone/>
            </a:pPr>
            <a:r>
              <a:rPr lang="en-US" sz="1400" b="0" i="0" u="none" strike="noStrike" cap="none">
                <a:solidFill>
                  <a:srgbClr val="B9C3CF"/>
                </a:solidFill>
                <a:latin typeface="Golos Text"/>
                <a:ea typeface="Golos Text"/>
                <a:cs typeface="Golos Text"/>
                <a:sym typeface="Golos Text"/>
              </a:rPr>
              <a:t>Предпоследний слой обученной CNN — эмбеддинг изображения. Поиск похожих картинок — поиск ближайших векторов.</a:t>
            </a:r>
            <a:endParaRPr sz="1400" b="0" i="0" u="none" strike="noStrike" cap="none">
              <a:solidFill>
                <a:schemeClr val="dk1"/>
              </a:solidFill>
              <a:latin typeface="Golos Text"/>
              <a:ea typeface="Golos Text"/>
              <a:cs typeface="Golos Text"/>
              <a:sym typeface="Golos Text"/>
            </a:endParaRPr>
          </a:p>
        </p:txBody>
      </p:sp>
      <p:sp>
        <p:nvSpPr>
          <p:cNvPr id="630" name="Google Shape;630;p35"/>
          <p:cNvSpPr/>
          <p:nvPr/>
        </p:nvSpPr>
        <p:spPr>
          <a:xfrm>
            <a:off x="6099012" y="1953816"/>
            <a:ext cx="5277000" cy="1817100"/>
          </a:xfrm>
          <a:prstGeom prst="roundRect">
            <a:avLst>
              <a:gd name="adj" fmla="val 5417"/>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5"/>
          <p:cNvSpPr/>
          <p:nvPr/>
        </p:nvSpPr>
        <p:spPr>
          <a:xfrm>
            <a:off x="6305382" y="2160191"/>
            <a:ext cx="5010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Товары</a:t>
            </a:r>
            <a:endParaRPr sz="2000" b="0" i="0" u="none" strike="noStrike" cap="none">
              <a:solidFill>
                <a:schemeClr val="dk1"/>
              </a:solidFill>
              <a:latin typeface="Golos Text"/>
              <a:ea typeface="Golos Text"/>
              <a:cs typeface="Golos Text"/>
              <a:sym typeface="Golos Text"/>
            </a:endParaRPr>
          </a:p>
        </p:txBody>
      </p:sp>
      <p:sp>
        <p:nvSpPr>
          <p:cNvPr id="632" name="Google Shape;632;p35"/>
          <p:cNvSpPr/>
          <p:nvPr/>
        </p:nvSpPr>
        <p:spPr>
          <a:xfrm>
            <a:off x="6305382" y="2541191"/>
            <a:ext cx="50100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item2vec: сессия покупок — «предложение», товары — «слова». Тот же skip-gram даёт векторы для рекомендаций.</a:t>
            </a:r>
            <a:endParaRPr sz="1400" b="0" i="0" u="none" strike="noStrike" cap="none">
              <a:solidFill>
                <a:schemeClr val="dk1"/>
              </a:solidFill>
              <a:latin typeface="Golos Text"/>
              <a:ea typeface="Golos Text"/>
              <a:cs typeface="Golos Text"/>
              <a:sym typeface="Golos Text"/>
            </a:endParaRPr>
          </a:p>
        </p:txBody>
      </p:sp>
      <p:sp>
        <p:nvSpPr>
          <p:cNvPr id="633" name="Google Shape;633;p35"/>
          <p:cNvSpPr/>
          <p:nvPr/>
        </p:nvSpPr>
        <p:spPr>
          <a:xfrm>
            <a:off x="815953" y="3777258"/>
            <a:ext cx="5277000" cy="1291500"/>
          </a:xfrm>
          <a:prstGeom prst="roundRect">
            <a:avLst>
              <a:gd name="adj" fmla="val 7621"/>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5"/>
          <p:cNvSpPr/>
          <p:nvPr/>
        </p:nvSpPr>
        <p:spPr>
          <a:xfrm>
            <a:off x="1022323" y="3983633"/>
            <a:ext cx="5010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Графы</a:t>
            </a:r>
            <a:endParaRPr sz="2000" b="0" i="0" u="none" strike="noStrike" cap="none">
              <a:solidFill>
                <a:schemeClr val="dk1"/>
              </a:solidFill>
              <a:latin typeface="Golos Text"/>
              <a:ea typeface="Golos Text"/>
              <a:cs typeface="Golos Text"/>
              <a:sym typeface="Golos Text"/>
            </a:endParaRPr>
          </a:p>
        </p:txBody>
      </p:sp>
      <p:sp>
        <p:nvSpPr>
          <p:cNvPr id="635" name="Google Shape;635;p35"/>
          <p:cNvSpPr/>
          <p:nvPr/>
        </p:nvSpPr>
        <p:spPr>
          <a:xfrm>
            <a:off x="1022323" y="4364633"/>
            <a:ext cx="50100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node2vec: случайные блуждания по графу — «предложения», вершины — «слова».</a:t>
            </a:r>
            <a:endParaRPr sz="1400" b="0" i="0" u="none" strike="noStrike" cap="none">
              <a:solidFill>
                <a:schemeClr val="dk1"/>
              </a:solidFill>
              <a:latin typeface="Golos Text"/>
              <a:ea typeface="Golos Text"/>
              <a:cs typeface="Golos Text"/>
              <a:sym typeface="Golos Text"/>
            </a:endParaRPr>
          </a:p>
        </p:txBody>
      </p:sp>
      <p:sp>
        <p:nvSpPr>
          <p:cNvPr id="636" name="Google Shape;636;p35"/>
          <p:cNvSpPr/>
          <p:nvPr/>
        </p:nvSpPr>
        <p:spPr>
          <a:xfrm>
            <a:off x="6099012" y="3777258"/>
            <a:ext cx="5277000" cy="1291500"/>
          </a:xfrm>
          <a:prstGeom prst="roundRect">
            <a:avLst>
              <a:gd name="adj" fmla="val 7621"/>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5"/>
          <p:cNvSpPr/>
          <p:nvPr/>
        </p:nvSpPr>
        <p:spPr>
          <a:xfrm>
            <a:off x="6305382" y="3983633"/>
            <a:ext cx="5010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Текст и картинки вместе</a:t>
            </a:r>
            <a:endParaRPr sz="2000" b="0" i="0" u="none" strike="noStrike" cap="none">
              <a:solidFill>
                <a:schemeClr val="dk1"/>
              </a:solidFill>
              <a:latin typeface="Golos Text"/>
              <a:ea typeface="Golos Text"/>
              <a:cs typeface="Golos Text"/>
              <a:sym typeface="Golos Text"/>
            </a:endParaRPr>
          </a:p>
        </p:txBody>
      </p:sp>
      <p:sp>
        <p:nvSpPr>
          <p:cNvPr id="638" name="Google Shape;638;p35"/>
          <p:cNvSpPr/>
          <p:nvPr/>
        </p:nvSpPr>
        <p:spPr>
          <a:xfrm>
            <a:off x="6305382" y="4364633"/>
            <a:ext cx="50100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CLIP: тексты и изображения в одном пространстве; подпись «фото собаки» рядом с фотографией собаки.</a:t>
            </a:r>
            <a:endParaRPr sz="14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3"/>
        <p:cNvGrpSpPr/>
        <p:nvPr/>
      </p:nvGrpSpPr>
      <p:grpSpPr>
        <a:xfrm>
          <a:off x="0" y="0"/>
          <a:ext cx="0" cy="0"/>
          <a:chOff x="0" y="0"/>
          <a:chExt cx="0" cy="0"/>
        </a:xfrm>
      </p:grpSpPr>
      <p:sp>
        <p:nvSpPr>
          <p:cNvPr id="644" name="Google Shape;644;p36"/>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05 · ЭМБЕДДИНГИ ВЕЗДЕ</a:t>
            </a:r>
            <a:endParaRPr sz="1200" b="0" i="0" u="none" strike="noStrike" cap="none">
              <a:solidFill>
                <a:schemeClr val="dk1"/>
              </a:solidFill>
              <a:latin typeface="Golos Text"/>
              <a:ea typeface="Golos Text"/>
              <a:cs typeface="Golos Text"/>
              <a:sym typeface="Golos Text"/>
            </a:endParaRPr>
          </a:p>
        </p:txBody>
      </p:sp>
      <p:sp>
        <p:nvSpPr>
          <p:cNvPr id="645" name="Google Shape;645;p36"/>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Вектор предложения из векторов слов</a:t>
            </a:r>
            <a:endParaRPr sz="3200"/>
          </a:p>
        </p:txBody>
      </p:sp>
      <p:sp>
        <p:nvSpPr>
          <p:cNvPr id="646" name="Google Shape;646;p36"/>
          <p:cNvSpPr/>
          <p:nvPr/>
        </p:nvSpPr>
        <p:spPr>
          <a:xfrm>
            <a:off x="815953" y="1953816"/>
            <a:ext cx="3380400" cy="2439300"/>
          </a:xfrm>
          <a:prstGeom prst="roundRect">
            <a:avLst>
              <a:gd name="adj" fmla="val 4035"/>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6"/>
          <p:cNvSpPr/>
          <p:nvPr/>
        </p:nvSpPr>
        <p:spPr>
          <a:xfrm>
            <a:off x="1073121" y="2210991"/>
            <a:ext cx="2952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Среднее</a:t>
            </a:r>
            <a:endParaRPr sz="2000" b="0" i="0" u="none" strike="noStrike" cap="none">
              <a:solidFill>
                <a:schemeClr val="dk1"/>
              </a:solidFill>
              <a:latin typeface="Golos Text"/>
              <a:ea typeface="Golos Text"/>
              <a:cs typeface="Golos Text"/>
              <a:sym typeface="Golos Text"/>
            </a:endParaRPr>
          </a:p>
        </p:txBody>
      </p:sp>
      <p:sp>
        <p:nvSpPr>
          <p:cNvPr id="648" name="Google Shape;648;p36"/>
          <p:cNvSpPr/>
          <p:nvPr/>
        </p:nvSpPr>
        <p:spPr>
          <a:xfrm>
            <a:off x="1073121" y="2617391"/>
            <a:ext cx="29520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0" i="1" u="none" strike="noStrike" cap="none">
                <a:solidFill>
                  <a:srgbClr val="B34A1C"/>
                </a:solidFill>
                <a:latin typeface="PT Serif"/>
                <a:ea typeface="PT Serif"/>
                <a:cs typeface="PT Serif"/>
                <a:sym typeface="PT Serif"/>
              </a:rPr>
              <a:t>(1/n) · Σ v(w)</a:t>
            </a:r>
            <a:endParaRPr sz="2000" b="0" i="0" u="none" strike="noStrike" cap="none">
              <a:solidFill>
                <a:schemeClr val="dk1"/>
              </a:solidFill>
              <a:latin typeface="Golos Text"/>
              <a:ea typeface="Golos Text"/>
              <a:cs typeface="Golos Text"/>
              <a:sym typeface="Golos Text"/>
            </a:endParaRPr>
          </a:p>
        </p:txBody>
      </p:sp>
      <p:sp>
        <p:nvSpPr>
          <p:cNvPr id="649" name="Google Shape;649;p36"/>
          <p:cNvSpPr/>
          <p:nvPr/>
        </p:nvSpPr>
        <p:spPr>
          <a:xfrm>
            <a:off x="1073121" y="3074591"/>
            <a:ext cx="29520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Просто и быстро, но частые слова («и», «в», «на») тянут вектор на себя.</a:t>
            </a:r>
            <a:endParaRPr sz="1400" b="0" i="0" u="none" strike="noStrike" cap="none">
              <a:solidFill>
                <a:schemeClr val="dk1"/>
              </a:solidFill>
              <a:latin typeface="Golos Text"/>
              <a:ea typeface="Golos Text"/>
              <a:cs typeface="Golos Text"/>
              <a:sym typeface="Golos Text"/>
            </a:endParaRPr>
          </a:p>
        </p:txBody>
      </p:sp>
      <p:sp>
        <p:nvSpPr>
          <p:cNvPr id="650" name="Google Shape;650;p36"/>
          <p:cNvSpPr/>
          <p:nvPr/>
        </p:nvSpPr>
        <p:spPr>
          <a:xfrm>
            <a:off x="4405692" y="1953816"/>
            <a:ext cx="3380400" cy="2439300"/>
          </a:xfrm>
          <a:prstGeom prst="roundRect">
            <a:avLst>
              <a:gd name="adj" fmla="val 4035"/>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6"/>
          <p:cNvSpPr/>
          <p:nvPr/>
        </p:nvSpPr>
        <p:spPr>
          <a:xfrm>
            <a:off x="4662860" y="2210991"/>
            <a:ext cx="2952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SIF</a:t>
            </a:r>
            <a:endParaRPr sz="2000" b="0" i="0" u="none" strike="noStrike" cap="none">
              <a:solidFill>
                <a:schemeClr val="dk1"/>
              </a:solidFill>
              <a:latin typeface="Golos Text"/>
              <a:ea typeface="Golos Text"/>
              <a:cs typeface="Golos Text"/>
              <a:sym typeface="Golos Text"/>
            </a:endParaRPr>
          </a:p>
        </p:txBody>
      </p:sp>
      <p:sp>
        <p:nvSpPr>
          <p:cNvPr id="652" name="Google Shape;652;p36"/>
          <p:cNvSpPr/>
          <p:nvPr/>
        </p:nvSpPr>
        <p:spPr>
          <a:xfrm>
            <a:off x="4662860" y="2617391"/>
            <a:ext cx="29520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0" i="1" u="none" strike="noStrike" cap="none">
                <a:solidFill>
                  <a:srgbClr val="B34A1C"/>
                </a:solidFill>
                <a:latin typeface="PT Serif"/>
                <a:ea typeface="PT Serif"/>
                <a:cs typeface="PT Serif"/>
                <a:sym typeface="PT Serif"/>
              </a:rPr>
              <a:t>Σ a / (a + p(w)) · v(w)</a:t>
            </a:r>
            <a:endParaRPr sz="2000" b="0" i="0" u="none" strike="noStrike" cap="none">
              <a:solidFill>
                <a:schemeClr val="dk1"/>
              </a:solidFill>
              <a:latin typeface="Golos Text"/>
              <a:ea typeface="Golos Text"/>
              <a:cs typeface="Golos Text"/>
              <a:sym typeface="Golos Text"/>
            </a:endParaRPr>
          </a:p>
        </p:txBody>
      </p:sp>
      <p:sp>
        <p:nvSpPr>
          <p:cNvPr id="653" name="Google Shape;653;p36"/>
          <p:cNvSpPr/>
          <p:nvPr/>
        </p:nvSpPr>
        <p:spPr>
          <a:xfrm>
            <a:off x="4662860" y="3074591"/>
            <a:ext cx="29520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Редкие слова весят больше, a ≈ 10⁻³. Затем вычитаем проекцию на первую главную компоненту.</a:t>
            </a:r>
            <a:endParaRPr sz="1400" b="0" i="0" u="none" strike="noStrike" cap="none">
              <a:solidFill>
                <a:schemeClr val="dk1"/>
              </a:solidFill>
              <a:latin typeface="Golos Text"/>
              <a:ea typeface="Golos Text"/>
              <a:cs typeface="Golos Text"/>
              <a:sym typeface="Golos Text"/>
            </a:endParaRPr>
          </a:p>
        </p:txBody>
      </p:sp>
      <p:sp>
        <p:nvSpPr>
          <p:cNvPr id="654" name="Google Shape;654;p36"/>
          <p:cNvSpPr/>
          <p:nvPr/>
        </p:nvSpPr>
        <p:spPr>
          <a:xfrm>
            <a:off x="4662860" y="3922713"/>
            <a:ext cx="29520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Arora, Liang, Ma, 2017</a:t>
            </a:r>
            <a:endParaRPr sz="1200" b="0" i="0" u="none" strike="noStrike" cap="none">
              <a:solidFill>
                <a:schemeClr val="dk1"/>
              </a:solidFill>
              <a:latin typeface="Golos Text"/>
              <a:ea typeface="Golos Text"/>
              <a:cs typeface="Golos Text"/>
              <a:sym typeface="Golos Text"/>
            </a:endParaRPr>
          </a:p>
        </p:txBody>
      </p:sp>
      <p:sp>
        <p:nvSpPr>
          <p:cNvPr id="655" name="Google Shape;655;p36"/>
          <p:cNvSpPr/>
          <p:nvPr/>
        </p:nvSpPr>
        <p:spPr>
          <a:xfrm>
            <a:off x="7995528" y="1953816"/>
            <a:ext cx="3380400" cy="2439300"/>
          </a:xfrm>
          <a:prstGeom prst="roundRect">
            <a:avLst>
              <a:gd name="adj" fmla="val 4035"/>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6"/>
          <p:cNvSpPr/>
          <p:nvPr/>
        </p:nvSpPr>
        <p:spPr>
          <a:xfrm>
            <a:off x="8252696" y="2210991"/>
            <a:ext cx="29520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B2430"/>
              </a:buClr>
              <a:buSzPts val="2000"/>
              <a:buFont typeface="PT Serif"/>
              <a:buNone/>
            </a:pPr>
            <a:r>
              <a:rPr lang="en-US" sz="2000" b="1" i="0" u="none" strike="noStrike" cap="none">
                <a:solidFill>
                  <a:srgbClr val="1B2430"/>
                </a:solidFill>
                <a:latin typeface="PT Serif"/>
                <a:ea typeface="PT Serif"/>
                <a:cs typeface="PT Serif"/>
                <a:sym typeface="PT Serif"/>
              </a:rPr>
              <a:t>Веса TF-IDF</a:t>
            </a:r>
            <a:endParaRPr sz="2000" b="0" i="0" u="none" strike="noStrike" cap="none">
              <a:solidFill>
                <a:schemeClr val="dk1"/>
              </a:solidFill>
              <a:latin typeface="Golos Text"/>
              <a:ea typeface="Golos Text"/>
              <a:cs typeface="Golos Text"/>
              <a:sym typeface="Golos Text"/>
            </a:endParaRPr>
          </a:p>
        </p:txBody>
      </p:sp>
      <p:sp>
        <p:nvSpPr>
          <p:cNvPr id="657" name="Google Shape;657;p36"/>
          <p:cNvSpPr/>
          <p:nvPr/>
        </p:nvSpPr>
        <p:spPr>
          <a:xfrm>
            <a:off x="8252696" y="2617391"/>
            <a:ext cx="29520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2000"/>
              <a:buFont typeface="PT Serif"/>
              <a:buNone/>
            </a:pPr>
            <a:r>
              <a:rPr lang="en-US" sz="2000" b="0" i="1" u="none" strike="noStrike" cap="none">
                <a:solidFill>
                  <a:srgbClr val="B34A1C"/>
                </a:solidFill>
                <a:latin typeface="PT Serif"/>
                <a:ea typeface="PT Serif"/>
                <a:cs typeface="PT Serif"/>
                <a:sym typeface="PT Serif"/>
              </a:rPr>
              <a:t>Σ tfidf(w) · v(w)</a:t>
            </a:r>
            <a:endParaRPr sz="2000" b="0" i="0" u="none" strike="noStrike" cap="none">
              <a:solidFill>
                <a:schemeClr val="dk1"/>
              </a:solidFill>
              <a:latin typeface="Golos Text"/>
              <a:ea typeface="Golos Text"/>
              <a:cs typeface="Golos Text"/>
              <a:sym typeface="Golos Text"/>
            </a:endParaRPr>
          </a:p>
        </p:txBody>
      </p:sp>
      <p:sp>
        <p:nvSpPr>
          <p:cNvPr id="658" name="Google Shape;658;p36"/>
          <p:cNvSpPr/>
          <p:nvPr/>
        </p:nvSpPr>
        <p:spPr>
          <a:xfrm>
            <a:off x="8252696" y="3074591"/>
            <a:ext cx="2952000" cy="77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Взвешенное среднее с весами из TF-IDF — мостик к тому, что уже было в лекции.</a:t>
            </a:r>
            <a:endParaRPr sz="1400" b="0" i="0" u="none" strike="noStrike" cap="none">
              <a:solidFill>
                <a:schemeClr val="dk1"/>
              </a:solidFill>
              <a:latin typeface="Golos Text"/>
              <a:ea typeface="Golos Text"/>
              <a:cs typeface="Golos Text"/>
              <a:sym typeface="Golos Text"/>
            </a:endParaRPr>
          </a:p>
        </p:txBody>
      </p:sp>
      <p:sp>
        <p:nvSpPr>
          <p:cNvPr id="659" name="Google Shape;659;p36"/>
          <p:cNvSpPr/>
          <p:nvPr/>
        </p:nvSpPr>
        <p:spPr>
          <a:xfrm>
            <a:off x="812778" y="4751983"/>
            <a:ext cx="10883100" cy="292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500"/>
              <a:buFont typeface="Golos Text"/>
              <a:buNone/>
            </a:pPr>
            <a:r>
              <a:rPr lang="en-US" sz="1500" b="1" i="0" u="none" strike="noStrike" cap="none">
                <a:solidFill>
                  <a:srgbClr val="1B2430"/>
                </a:solidFill>
                <a:latin typeface="Golos Text"/>
                <a:ea typeface="Golos Text"/>
                <a:cs typeface="Golos Text"/>
                <a:sym typeface="Golos Text"/>
              </a:rPr>
              <a:t>Все три способа не видят порядка слов.</a:t>
            </a:r>
            <a:r>
              <a:rPr lang="en-US" sz="1500" b="0" i="0" u="none" strike="noStrike" cap="none">
                <a:solidFill>
                  <a:srgbClr val="1B2430"/>
                </a:solidFill>
                <a:latin typeface="Golos Text"/>
                <a:ea typeface="Golos Text"/>
                <a:cs typeface="Golos Text"/>
                <a:sym typeface="Golos Text"/>
              </a:rPr>
              <a:t> К этому вернёмся через слайд.</a:t>
            </a:r>
            <a:endParaRPr sz="15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4"/>
        <p:cNvGrpSpPr/>
        <p:nvPr/>
      </p:nvGrpSpPr>
      <p:grpSpPr>
        <a:xfrm>
          <a:off x="0" y="0"/>
          <a:ext cx="0" cy="0"/>
          <a:chOff x="0" y="0"/>
          <a:chExt cx="0" cy="0"/>
        </a:xfrm>
      </p:grpSpPr>
      <p:sp>
        <p:nvSpPr>
          <p:cNvPr id="665" name="Google Shape;665;p37"/>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05 · ЭМБЕДДИНГИ ВЕЗДЕ</a:t>
            </a:r>
            <a:endParaRPr sz="1200" b="0" i="0" u="none" strike="noStrike" cap="none">
              <a:solidFill>
                <a:schemeClr val="dk1"/>
              </a:solidFill>
              <a:latin typeface="Golos Text"/>
              <a:ea typeface="Golos Text"/>
              <a:cs typeface="Golos Text"/>
              <a:sym typeface="Golos Text"/>
            </a:endParaRPr>
          </a:p>
        </p:txBody>
      </p:sp>
      <p:sp>
        <p:nvSpPr>
          <p:cNvPr id="666" name="Google Shape;666;p37"/>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TextCNN: свёртка по эмбеддингам слов</a:t>
            </a:r>
            <a:endParaRPr sz="3200"/>
          </a:p>
        </p:txBody>
      </p:sp>
      <p:sp>
        <p:nvSpPr>
          <p:cNvPr id="667" name="Google Shape;667;p37"/>
          <p:cNvSpPr/>
          <p:nvPr/>
        </p:nvSpPr>
        <p:spPr>
          <a:xfrm>
            <a:off x="761980" y="2218432"/>
            <a:ext cx="10032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1B2430"/>
              </a:buClr>
              <a:buSzPts val="1200"/>
              <a:buFont typeface="JetBrains Mono"/>
              <a:buNone/>
            </a:pPr>
            <a:r>
              <a:rPr lang="en-US" sz="1200" b="0" i="0" u="none" strike="noStrike" cap="none">
                <a:solidFill>
                  <a:srgbClr val="1B2430"/>
                </a:solidFill>
                <a:latin typeface="JetBrains Mono"/>
                <a:ea typeface="JetBrains Mono"/>
                <a:cs typeface="JetBrains Mono"/>
                <a:sym typeface="JetBrains Mono"/>
              </a:rPr>
              <a:t>фильм</a:t>
            </a:r>
            <a:endParaRPr sz="1200" b="0" i="0" u="none" strike="noStrike" cap="none">
              <a:solidFill>
                <a:schemeClr val="dk1"/>
              </a:solidFill>
              <a:latin typeface="Golos Text"/>
              <a:ea typeface="Golos Text"/>
              <a:cs typeface="Golos Text"/>
              <a:sym typeface="Golos Text"/>
            </a:endParaRPr>
          </a:p>
        </p:txBody>
      </p:sp>
      <p:sp>
        <p:nvSpPr>
          <p:cNvPr id="668" name="Google Shape;668;p37"/>
          <p:cNvSpPr/>
          <p:nvPr/>
        </p:nvSpPr>
        <p:spPr>
          <a:xfrm>
            <a:off x="1841451" y="2185392"/>
            <a:ext cx="1269900" cy="279300"/>
          </a:xfrm>
          <a:prstGeom prst="roundRect">
            <a:avLst>
              <a:gd name="adj" fmla="val 13636"/>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7"/>
          <p:cNvSpPr/>
          <p:nvPr/>
        </p:nvSpPr>
        <p:spPr>
          <a:xfrm>
            <a:off x="761980" y="2548632"/>
            <a:ext cx="10032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B34A1C"/>
              </a:buClr>
              <a:buSzPts val="1200"/>
              <a:buFont typeface="JetBrains Mono"/>
              <a:buNone/>
            </a:pPr>
            <a:r>
              <a:rPr lang="en-US" sz="1200" b="0" i="0" u="none" strike="noStrike" cap="none">
                <a:solidFill>
                  <a:srgbClr val="B34A1C"/>
                </a:solidFill>
                <a:latin typeface="JetBrains Mono"/>
                <a:ea typeface="JetBrains Mono"/>
                <a:cs typeface="JetBrains Mono"/>
                <a:sym typeface="JetBrains Mono"/>
              </a:rPr>
              <a:t>не</a:t>
            </a:r>
            <a:endParaRPr sz="1200" b="0" i="0" u="none" strike="noStrike" cap="none">
              <a:solidFill>
                <a:schemeClr val="dk1"/>
              </a:solidFill>
              <a:latin typeface="Golos Text"/>
              <a:ea typeface="Golos Text"/>
              <a:cs typeface="Golos Text"/>
              <a:sym typeface="Golos Text"/>
            </a:endParaRPr>
          </a:p>
        </p:txBody>
      </p:sp>
      <p:sp>
        <p:nvSpPr>
          <p:cNvPr id="670" name="Google Shape;670;p37"/>
          <p:cNvSpPr/>
          <p:nvPr/>
        </p:nvSpPr>
        <p:spPr>
          <a:xfrm>
            <a:off x="1850976" y="2525117"/>
            <a:ext cx="1251000" cy="260400"/>
          </a:xfrm>
          <a:prstGeom prst="roundRect">
            <a:avLst>
              <a:gd name="adj" fmla="val 10976"/>
            </a:avLst>
          </a:prstGeom>
          <a:solidFill>
            <a:srgbClr val="F3D9CB"/>
          </a:solidFill>
          <a:ln w="19050" cap="flat" cmpd="sng">
            <a:solidFill>
              <a:srgbClr val="B34A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7"/>
          <p:cNvSpPr/>
          <p:nvPr/>
        </p:nvSpPr>
        <p:spPr>
          <a:xfrm>
            <a:off x="761980" y="2878832"/>
            <a:ext cx="10032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B34A1C"/>
              </a:buClr>
              <a:buSzPts val="1200"/>
              <a:buFont typeface="JetBrains Mono"/>
              <a:buNone/>
            </a:pPr>
            <a:r>
              <a:rPr lang="en-US" sz="1200" b="0" i="0" u="none" strike="noStrike" cap="none">
                <a:solidFill>
                  <a:srgbClr val="B34A1C"/>
                </a:solidFill>
                <a:latin typeface="JetBrains Mono"/>
                <a:ea typeface="JetBrains Mono"/>
                <a:cs typeface="JetBrains Mono"/>
                <a:sym typeface="JetBrains Mono"/>
              </a:rPr>
              <a:t>плохой</a:t>
            </a:r>
            <a:endParaRPr sz="1200" b="0" i="0" u="none" strike="noStrike" cap="none">
              <a:solidFill>
                <a:schemeClr val="dk1"/>
              </a:solidFill>
              <a:latin typeface="Golos Text"/>
              <a:ea typeface="Golos Text"/>
              <a:cs typeface="Golos Text"/>
              <a:sym typeface="Golos Text"/>
            </a:endParaRPr>
          </a:p>
        </p:txBody>
      </p:sp>
      <p:sp>
        <p:nvSpPr>
          <p:cNvPr id="672" name="Google Shape;672;p37"/>
          <p:cNvSpPr/>
          <p:nvPr/>
        </p:nvSpPr>
        <p:spPr>
          <a:xfrm>
            <a:off x="1850976" y="2855317"/>
            <a:ext cx="1251000" cy="260400"/>
          </a:xfrm>
          <a:prstGeom prst="roundRect">
            <a:avLst>
              <a:gd name="adj" fmla="val 10976"/>
            </a:avLst>
          </a:prstGeom>
          <a:solidFill>
            <a:srgbClr val="F3D9CB"/>
          </a:solidFill>
          <a:ln w="19050" cap="flat" cmpd="sng">
            <a:solidFill>
              <a:srgbClr val="B34A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7"/>
          <p:cNvSpPr/>
          <p:nvPr/>
        </p:nvSpPr>
        <p:spPr>
          <a:xfrm>
            <a:off x="761980" y="3209032"/>
            <a:ext cx="10032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B34A1C"/>
              </a:buClr>
              <a:buSzPts val="1200"/>
              <a:buFont typeface="JetBrains Mono"/>
              <a:buNone/>
            </a:pPr>
            <a:r>
              <a:rPr lang="en-US" sz="1200" b="0" i="0" u="none" strike="noStrike" cap="none">
                <a:solidFill>
                  <a:srgbClr val="B34A1C"/>
                </a:solidFill>
                <a:latin typeface="JetBrains Mono"/>
                <a:ea typeface="JetBrains Mono"/>
                <a:cs typeface="JetBrains Mono"/>
                <a:sym typeface="JetBrains Mono"/>
              </a:rPr>
              <a:t>а</a:t>
            </a:r>
            <a:endParaRPr sz="1200" b="0" i="0" u="none" strike="noStrike" cap="none">
              <a:solidFill>
                <a:schemeClr val="dk1"/>
              </a:solidFill>
              <a:latin typeface="Golos Text"/>
              <a:ea typeface="Golos Text"/>
              <a:cs typeface="Golos Text"/>
              <a:sym typeface="Golos Text"/>
            </a:endParaRPr>
          </a:p>
        </p:txBody>
      </p:sp>
      <p:sp>
        <p:nvSpPr>
          <p:cNvPr id="674" name="Google Shape;674;p37"/>
          <p:cNvSpPr/>
          <p:nvPr/>
        </p:nvSpPr>
        <p:spPr>
          <a:xfrm>
            <a:off x="1850976" y="3185517"/>
            <a:ext cx="1251000" cy="260400"/>
          </a:xfrm>
          <a:prstGeom prst="roundRect">
            <a:avLst>
              <a:gd name="adj" fmla="val 10976"/>
            </a:avLst>
          </a:prstGeom>
          <a:solidFill>
            <a:srgbClr val="F3D9CB"/>
          </a:solidFill>
          <a:ln w="19050" cap="flat" cmpd="sng">
            <a:solidFill>
              <a:srgbClr val="B34A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7"/>
          <p:cNvSpPr/>
          <p:nvPr/>
        </p:nvSpPr>
        <p:spPr>
          <a:xfrm>
            <a:off x="761980" y="3539232"/>
            <a:ext cx="10032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1B2430"/>
              </a:buClr>
              <a:buSzPts val="1200"/>
              <a:buFont typeface="JetBrains Mono"/>
              <a:buNone/>
            </a:pPr>
            <a:r>
              <a:rPr lang="en-US" sz="1200" b="0" i="0" u="none" strike="noStrike" cap="none">
                <a:solidFill>
                  <a:srgbClr val="1B2430"/>
                </a:solidFill>
                <a:latin typeface="JetBrains Mono"/>
                <a:ea typeface="JetBrains Mono"/>
                <a:cs typeface="JetBrains Mono"/>
                <a:sym typeface="JetBrains Mono"/>
              </a:rPr>
              <a:t>отличный</a:t>
            </a:r>
            <a:endParaRPr sz="1200" b="0" i="0" u="none" strike="noStrike" cap="none">
              <a:solidFill>
                <a:schemeClr val="dk1"/>
              </a:solidFill>
              <a:latin typeface="Golos Text"/>
              <a:ea typeface="Golos Text"/>
              <a:cs typeface="Golos Text"/>
              <a:sym typeface="Golos Text"/>
            </a:endParaRPr>
          </a:p>
        </p:txBody>
      </p:sp>
      <p:sp>
        <p:nvSpPr>
          <p:cNvPr id="676" name="Google Shape;676;p37"/>
          <p:cNvSpPr/>
          <p:nvPr/>
        </p:nvSpPr>
        <p:spPr>
          <a:xfrm>
            <a:off x="1841451" y="3506192"/>
            <a:ext cx="1269900" cy="279300"/>
          </a:xfrm>
          <a:prstGeom prst="roundRect">
            <a:avLst>
              <a:gd name="adj" fmla="val 13636"/>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7" name="Google Shape;677;p37" descr="arrow-right"/>
          <p:cNvPicPr preferRelativeResize="0"/>
          <p:nvPr/>
        </p:nvPicPr>
        <p:blipFill rotWithShape="1">
          <a:blip r:embed="rId3">
            <a:alphaModFix/>
          </a:blip>
          <a:srcRect/>
          <a:stretch/>
        </p:blipFill>
        <p:spPr>
          <a:xfrm>
            <a:off x="3263813" y="2896592"/>
            <a:ext cx="355590" cy="177795"/>
          </a:xfrm>
          <a:prstGeom prst="rect">
            <a:avLst/>
          </a:prstGeom>
          <a:noFill/>
          <a:ln>
            <a:noFill/>
          </a:ln>
        </p:spPr>
      </p:pic>
      <p:sp>
        <p:nvSpPr>
          <p:cNvPr id="678" name="Google Shape;678;p37"/>
          <p:cNvSpPr/>
          <p:nvPr/>
        </p:nvSpPr>
        <p:spPr>
          <a:xfrm>
            <a:off x="3771799" y="2515592"/>
            <a:ext cx="304800" cy="279300"/>
          </a:xfrm>
          <a:prstGeom prst="roundRect">
            <a:avLst>
              <a:gd name="adj" fmla="val 13636"/>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7"/>
          <p:cNvSpPr/>
          <p:nvPr/>
        </p:nvSpPr>
        <p:spPr>
          <a:xfrm>
            <a:off x="3771799" y="2845792"/>
            <a:ext cx="304800" cy="279300"/>
          </a:xfrm>
          <a:prstGeom prst="roundRect">
            <a:avLst>
              <a:gd name="adj" fmla="val 13636"/>
            </a:avLst>
          </a:prstGeom>
          <a:solidFill>
            <a:srgbClr val="B34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7"/>
          <p:cNvSpPr/>
          <p:nvPr/>
        </p:nvSpPr>
        <p:spPr>
          <a:xfrm>
            <a:off x="3771799" y="3175992"/>
            <a:ext cx="304800" cy="279300"/>
          </a:xfrm>
          <a:prstGeom prst="roundRect">
            <a:avLst>
              <a:gd name="adj" fmla="val 13636"/>
            </a:avLst>
          </a:prstGeom>
          <a:solidFill>
            <a:srgbClr val="E8E2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1" name="Google Shape;681;p37" descr="arrow-right"/>
          <p:cNvPicPr preferRelativeResize="0"/>
          <p:nvPr/>
        </p:nvPicPr>
        <p:blipFill rotWithShape="1">
          <a:blip r:embed="rId3">
            <a:alphaModFix/>
          </a:blip>
          <a:srcRect/>
          <a:stretch/>
        </p:blipFill>
        <p:spPr>
          <a:xfrm>
            <a:off x="4228987" y="2896592"/>
            <a:ext cx="355590" cy="177795"/>
          </a:xfrm>
          <a:prstGeom prst="rect">
            <a:avLst/>
          </a:prstGeom>
          <a:noFill/>
          <a:ln>
            <a:noFill/>
          </a:ln>
        </p:spPr>
      </p:pic>
      <p:sp>
        <p:nvSpPr>
          <p:cNvPr id="682" name="Google Shape;682;p37"/>
          <p:cNvSpPr/>
          <p:nvPr/>
        </p:nvSpPr>
        <p:spPr>
          <a:xfrm>
            <a:off x="4736974" y="2845792"/>
            <a:ext cx="304800" cy="279300"/>
          </a:xfrm>
          <a:prstGeom prst="roundRect">
            <a:avLst>
              <a:gd name="adj" fmla="val 13636"/>
            </a:avLst>
          </a:prstGeom>
          <a:solidFill>
            <a:srgbClr val="2B5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7"/>
          <p:cNvSpPr/>
          <p:nvPr/>
        </p:nvSpPr>
        <p:spPr>
          <a:xfrm>
            <a:off x="812778" y="3937992"/>
            <a:ext cx="4578300" cy="45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0" i="0" u="none" strike="noStrike" cap="none">
                <a:solidFill>
                  <a:srgbClr val="646B78"/>
                </a:solidFill>
                <a:latin typeface="Golos Text"/>
                <a:ea typeface="Golos Text"/>
                <a:cs typeface="Golos Text"/>
                <a:sym typeface="Golos Text"/>
              </a:rPr>
              <a:t>Слова n × d → фильтр ширины 3 → карта признаков длины n − 2 → max по времени → одно число на фильтр</a:t>
            </a:r>
            <a:endParaRPr sz="1200" b="0" i="0" u="none" strike="noStrike" cap="none">
              <a:solidFill>
                <a:schemeClr val="dk1"/>
              </a:solidFill>
              <a:latin typeface="Golos Text"/>
              <a:ea typeface="Golos Text"/>
              <a:cs typeface="Golos Text"/>
              <a:sym typeface="Golos Text"/>
            </a:endParaRPr>
          </a:p>
        </p:txBody>
      </p:sp>
      <p:sp>
        <p:nvSpPr>
          <p:cNvPr id="684" name="Google Shape;684;p37"/>
          <p:cNvSpPr/>
          <p:nvPr/>
        </p:nvSpPr>
        <p:spPr>
          <a:xfrm>
            <a:off x="5664049" y="1899841"/>
            <a:ext cx="58863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1400"/>
              <a:buFont typeface="Golos Text"/>
              <a:buNone/>
            </a:pPr>
            <a:r>
              <a:rPr lang="en-US" sz="1400" b="0" i="0" u="none" strike="noStrike" cap="none">
                <a:solidFill>
                  <a:srgbClr val="1B2430"/>
                </a:solidFill>
                <a:latin typeface="Golos Text"/>
                <a:ea typeface="Golos Text"/>
                <a:cs typeface="Golos Text"/>
                <a:sym typeface="Golos Text"/>
              </a:rPr>
              <a:t>Фильтр ширины k — обучаемый детектор k-грамм</a:t>
            </a:r>
            <a:endParaRPr sz="1400" b="0" i="0" u="none" strike="noStrike" cap="none">
              <a:solidFill>
                <a:schemeClr val="dk1"/>
              </a:solidFill>
              <a:latin typeface="Golos Text"/>
              <a:ea typeface="Golos Text"/>
              <a:cs typeface="Golos Text"/>
              <a:sym typeface="Golos Text"/>
            </a:endParaRPr>
          </a:p>
        </p:txBody>
      </p:sp>
      <p:sp>
        <p:nvSpPr>
          <p:cNvPr id="685" name="Google Shape;685;p37"/>
          <p:cNvSpPr/>
          <p:nvPr/>
        </p:nvSpPr>
        <p:spPr>
          <a:xfrm>
            <a:off x="5664049" y="2301081"/>
            <a:ext cx="5886300" cy="523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4A5361"/>
              </a:buClr>
              <a:buSzPts val="1400"/>
              <a:buFont typeface="Golos Text"/>
              <a:buNone/>
            </a:pPr>
            <a:r>
              <a:rPr lang="en-US" sz="1400" b="0" i="0" u="none" strike="noStrike" cap="none">
                <a:solidFill>
                  <a:srgbClr val="4A5361"/>
                </a:solidFill>
                <a:latin typeface="Golos Text"/>
                <a:ea typeface="Golos Text"/>
                <a:cs typeface="Golos Text"/>
                <a:sym typeface="Golos Text"/>
              </a:rPr>
              <a:t>Kim (2014): ширины 3, 4, 5 по 100 фильтров, max-pooling по времени, dropout 0,5</a:t>
            </a:r>
            <a:endParaRPr sz="1400" b="0" i="0" u="none" strike="noStrike" cap="none">
              <a:solidFill>
                <a:schemeClr val="dk1"/>
              </a:solidFill>
              <a:latin typeface="Golos Text"/>
              <a:ea typeface="Golos Text"/>
              <a:cs typeface="Golos Text"/>
              <a:sym typeface="Golos Text"/>
            </a:endParaRPr>
          </a:p>
        </p:txBody>
      </p:sp>
      <p:sp>
        <p:nvSpPr>
          <p:cNvPr id="686" name="Google Shape;686;p37"/>
          <p:cNvSpPr/>
          <p:nvPr/>
        </p:nvSpPr>
        <p:spPr>
          <a:xfrm>
            <a:off x="5664049" y="2951163"/>
            <a:ext cx="5714700" cy="1698900"/>
          </a:xfrm>
          <a:prstGeom prst="roundRect">
            <a:avLst>
              <a:gd name="adj" fmla="val 5980"/>
            </a:avLst>
          </a:prstGeom>
          <a:solidFill>
            <a:srgbClr val="1B24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7"/>
          <p:cNvSpPr/>
          <p:nvPr/>
        </p:nvSpPr>
        <p:spPr>
          <a:xfrm>
            <a:off x="5841844" y="3128963"/>
            <a:ext cx="5520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self.convs = nn.ModuleList(</a:t>
            </a:r>
            <a:endParaRPr sz="1200" b="0" i="0" u="none" strike="noStrike" cap="none">
              <a:solidFill>
                <a:schemeClr val="dk1"/>
              </a:solidFill>
              <a:latin typeface="Golos Text"/>
              <a:ea typeface="Golos Text"/>
              <a:cs typeface="Golos Text"/>
              <a:sym typeface="Golos Text"/>
            </a:endParaRPr>
          </a:p>
        </p:txBody>
      </p:sp>
      <p:sp>
        <p:nvSpPr>
          <p:cNvPr id="688" name="Google Shape;688;p37"/>
          <p:cNvSpPr/>
          <p:nvPr/>
        </p:nvSpPr>
        <p:spPr>
          <a:xfrm>
            <a:off x="5841844" y="3354983"/>
            <a:ext cx="5520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    nn.Conv1d(d, 100, k) for k in (3, 4, 5))</a:t>
            </a:r>
            <a:endParaRPr sz="1200" b="0" i="0" u="none" strike="noStrike" cap="none">
              <a:solidFill>
                <a:schemeClr val="dk1"/>
              </a:solidFill>
              <a:latin typeface="Golos Text"/>
              <a:ea typeface="Golos Text"/>
              <a:cs typeface="Golos Text"/>
              <a:sym typeface="Golos Text"/>
            </a:endParaRPr>
          </a:p>
        </p:txBody>
      </p:sp>
      <p:sp>
        <p:nvSpPr>
          <p:cNvPr id="689" name="Google Shape;689;p37"/>
          <p:cNvSpPr/>
          <p:nvPr/>
        </p:nvSpPr>
        <p:spPr>
          <a:xfrm>
            <a:off x="5841844" y="3581003"/>
            <a:ext cx="5520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x = self.emb(ids).transpose(1, 2) </a:t>
            </a:r>
            <a:r>
              <a:rPr lang="en-US" sz="1200" b="0" i="0" u="none" strike="noStrike" cap="none">
                <a:solidFill>
                  <a:srgbClr val="9FB0C3"/>
                </a:solidFill>
                <a:latin typeface="JetBrains Mono"/>
                <a:ea typeface="JetBrains Mono"/>
                <a:cs typeface="JetBrains Mono"/>
                <a:sym typeface="JetBrains Mono"/>
              </a:rPr>
              <a:t># (B, d, n)</a:t>
            </a:r>
            <a:endParaRPr sz="1200" b="0" i="0" u="none" strike="noStrike" cap="none">
              <a:solidFill>
                <a:schemeClr val="dk1"/>
              </a:solidFill>
              <a:latin typeface="Golos Text"/>
              <a:ea typeface="Golos Text"/>
              <a:cs typeface="Golos Text"/>
              <a:sym typeface="Golos Text"/>
            </a:endParaRPr>
          </a:p>
        </p:txBody>
      </p:sp>
      <p:sp>
        <p:nvSpPr>
          <p:cNvPr id="690" name="Google Shape;690;p37"/>
          <p:cNvSpPr/>
          <p:nvPr/>
        </p:nvSpPr>
        <p:spPr>
          <a:xfrm>
            <a:off x="5841844" y="3807023"/>
            <a:ext cx="5520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h = [F.relu(conv(x)).amax(dim=2)</a:t>
            </a:r>
            <a:endParaRPr sz="1200" b="0" i="0" u="none" strike="noStrike" cap="none">
              <a:solidFill>
                <a:schemeClr val="dk1"/>
              </a:solidFill>
              <a:latin typeface="Golos Text"/>
              <a:ea typeface="Golos Text"/>
              <a:cs typeface="Golos Text"/>
              <a:sym typeface="Golos Text"/>
            </a:endParaRPr>
          </a:p>
        </p:txBody>
      </p:sp>
      <p:sp>
        <p:nvSpPr>
          <p:cNvPr id="691" name="Google Shape;691;p37"/>
          <p:cNvSpPr/>
          <p:nvPr/>
        </p:nvSpPr>
        <p:spPr>
          <a:xfrm>
            <a:off x="5841844" y="4033044"/>
            <a:ext cx="5520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     for conv in self.convs] </a:t>
            </a:r>
            <a:r>
              <a:rPr lang="en-US" sz="1200" b="0" i="0" u="none" strike="noStrike" cap="none">
                <a:solidFill>
                  <a:srgbClr val="9FB0C3"/>
                </a:solidFill>
                <a:latin typeface="JetBrains Mono"/>
                <a:ea typeface="JetBrains Mono"/>
                <a:cs typeface="JetBrains Mono"/>
                <a:sym typeface="JetBrains Mono"/>
              </a:rPr>
              <a:t># 3 × (B, 100)</a:t>
            </a:r>
            <a:endParaRPr sz="1200" b="0" i="0" u="none" strike="noStrike" cap="none">
              <a:solidFill>
                <a:schemeClr val="dk1"/>
              </a:solidFill>
              <a:latin typeface="Golos Text"/>
              <a:ea typeface="Golos Text"/>
              <a:cs typeface="Golos Text"/>
              <a:sym typeface="Golos Text"/>
            </a:endParaRPr>
          </a:p>
        </p:txBody>
      </p:sp>
      <p:sp>
        <p:nvSpPr>
          <p:cNvPr id="692" name="Google Shape;692;p37"/>
          <p:cNvSpPr/>
          <p:nvPr/>
        </p:nvSpPr>
        <p:spPr>
          <a:xfrm>
            <a:off x="5841844" y="4259064"/>
            <a:ext cx="5520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E4DA"/>
              </a:buClr>
              <a:buSzPts val="1200"/>
              <a:buFont typeface="JetBrains Mono"/>
              <a:buNone/>
            </a:pPr>
            <a:r>
              <a:rPr lang="en-US" sz="1200" b="0" i="0" u="none" strike="noStrike" cap="none">
                <a:solidFill>
                  <a:srgbClr val="E8E4DA"/>
                </a:solidFill>
                <a:latin typeface="JetBrains Mono"/>
                <a:ea typeface="JetBrains Mono"/>
                <a:cs typeface="JetBrains Mono"/>
                <a:sym typeface="JetBrains Mono"/>
              </a:rPr>
              <a:t>logits = self.fc(torch.cat(h, dim=1))</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7"/>
        <p:cNvGrpSpPr/>
        <p:nvPr/>
      </p:nvGrpSpPr>
      <p:grpSpPr>
        <a:xfrm>
          <a:off x="0" y="0"/>
          <a:ext cx="0" cy="0"/>
          <a:chOff x="0" y="0"/>
          <a:chExt cx="0" cy="0"/>
        </a:xfrm>
      </p:grpSpPr>
      <p:sp>
        <p:nvSpPr>
          <p:cNvPr id="698" name="Google Shape;698;p38"/>
          <p:cNvSpPr/>
          <p:nvPr/>
        </p:nvSpPr>
        <p:spPr>
          <a:xfrm>
            <a:off x="812778" y="812800"/>
            <a:ext cx="10883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34A1C"/>
              </a:buClr>
              <a:buSzPts val="1200"/>
              <a:buFont typeface="Golos Text"/>
              <a:buNone/>
            </a:pPr>
            <a:r>
              <a:rPr lang="en-US" sz="1200" b="1" i="0" u="none" strike="noStrike" cap="none">
                <a:solidFill>
                  <a:srgbClr val="B34A1C"/>
                </a:solidFill>
                <a:latin typeface="Golos Text"/>
                <a:ea typeface="Golos Text"/>
                <a:cs typeface="Golos Text"/>
                <a:sym typeface="Golos Text"/>
              </a:rPr>
              <a:t>05 · ЭМБЕДДИНГИ ВЕЗДЕ</a:t>
            </a:r>
            <a:endParaRPr sz="1200" b="0" i="0" u="none" strike="noStrike" cap="none">
              <a:solidFill>
                <a:schemeClr val="dk1"/>
              </a:solidFill>
              <a:latin typeface="Golos Text"/>
              <a:ea typeface="Golos Text"/>
              <a:cs typeface="Golos Text"/>
              <a:sym typeface="Golos Text"/>
            </a:endParaRPr>
          </a:p>
        </p:txBody>
      </p:sp>
      <p:sp>
        <p:nvSpPr>
          <p:cNvPr id="699" name="Google Shape;699;p38"/>
          <p:cNvSpPr txBox="1">
            <a:spLocks noGrp="1"/>
          </p:cNvSpPr>
          <p:nvPr>
            <p:ph type="title"/>
          </p:nvPr>
        </p:nvSpPr>
        <p:spPr>
          <a:xfrm>
            <a:off x="812778" y="1127720"/>
            <a:ext cx="10883100" cy="49260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1B2430"/>
              </a:buClr>
              <a:buSzPts val="3200"/>
              <a:buFont typeface="PT Serif"/>
              <a:buNone/>
            </a:pPr>
            <a:r>
              <a:rPr lang="en-US" sz="3200" b="1" i="0">
                <a:solidFill>
                  <a:srgbClr val="1B2430"/>
                </a:solidFill>
                <a:latin typeface="PT Serif"/>
                <a:ea typeface="PT Serif"/>
                <a:cs typeface="PT Serif"/>
                <a:sym typeface="PT Serif"/>
              </a:rPr>
              <a:t>Что теряется без порядка слов</a:t>
            </a:r>
            <a:endParaRPr sz="3200"/>
          </a:p>
        </p:txBody>
      </p:sp>
      <p:sp>
        <p:nvSpPr>
          <p:cNvPr id="700" name="Google Shape;700;p38"/>
          <p:cNvSpPr/>
          <p:nvPr/>
        </p:nvSpPr>
        <p:spPr>
          <a:xfrm>
            <a:off x="815953" y="1903016"/>
            <a:ext cx="10559700" cy="1499700"/>
          </a:xfrm>
          <a:prstGeom prst="roundRect">
            <a:avLst>
              <a:gd name="adj" fmla="val 6563"/>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8"/>
          <p:cNvSpPr/>
          <p:nvPr/>
        </p:nvSpPr>
        <p:spPr>
          <a:xfrm>
            <a:off x="1073121" y="2109391"/>
            <a:ext cx="10346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1" i="0" u="none" strike="noStrike" cap="none">
                <a:solidFill>
                  <a:srgbClr val="646B78"/>
                </a:solidFill>
                <a:latin typeface="Golos Text"/>
                <a:ea typeface="Golos Text"/>
                <a:cs typeface="Golos Text"/>
                <a:sym typeface="Golos Text"/>
              </a:rPr>
              <a:t>ПРИМЕР 1 · ЛОКАЛЬНЫЙ ПОРЯДОК</a:t>
            </a:r>
            <a:endParaRPr sz="1200" b="0" i="0" u="none" strike="noStrike" cap="none">
              <a:solidFill>
                <a:schemeClr val="dk1"/>
              </a:solidFill>
              <a:latin typeface="Golos Text"/>
              <a:ea typeface="Golos Text"/>
              <a:cs typeface="Golos Text"/>
              <a:sym typeface="Golos Text"/>
            </a:endParaRPr>
          </a:p>
        </p:txBody>
      </p:sp>
      <p:sp>
        <p:nvSpPr>
          <p:cNvPr id="702" name="Google Shape;702;p38"/>
          <p:cNvSpPr/>
          <p:nvPr/>
        </p:nvSpPr>
        <p:spPr>
          <a:xfrm>
            <a:off x="1073121" y="2424311"/>
            <a:ext cx="40521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1" u="none" strike="noStrike" cap="none">
                <a:solidFill>
                  <a:srgbClr val="1B2430"/>
                </a:solidFill>
                <a:latin typeface="PT Serif"/>
                <a:ea typeface="PT Serif"/>
                <a:cs typeface="PT Serif"/>
                <a:sym typeface="PT Serif"/>
              </a:rPr>
              <a:t>«Фильм не плохой, а отличный»</a:t>
            </a:r>
            <a:endParaRPr sz="2000" b="0" i="0" u="none" strike="noStrike" cap="none">
              <a:solidFill>
                <a:schemeClr val="dk1"/>
              </a:solidFill>
              <a:latin typeface="Golos Text"/>
              <a:ea typeface="Golos Text"/>
              <a:cs typeface="Golos Text"/>
              <a:sym typeface="Golos Text"/>
            </a:endParaRPr>
          </a:p>
        </p:txBody>
      </p:sp>
      <p:sp>
        <p:nvSpPr>
          <p:cNvPr id="703" name="Google Shape;703;p38"/>
          <p:cNvSpPr/>
          <p:nvPr/>
        </p:nvSpPr>
        <p:spPr>
          <a:xfrm>
            <a:off x="5125107" y="2424311"/>
            <a:ext cx="43749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B2430"/>
              </a:buClr>
              <a:buSzPts val="2000"/>
              <a:buFont typeface="PT Serif"/>
              <a:buNone/>
            </a:pPr>
            <a:r>
              <a:rPr lang="en-US" sz="2000" b="0" i="1" u="none" strike="noStrike" cap="none">
                <a:solidFill>
                  <a:srgbClr val="1B2430"/>
                </a:solidFill>
                <a:latin typeface="PT Serif"/>
                <a:ea typeface="PT Serif"/>
                <a:cs typeface="PT Serif"/>
                <a:sym typeface="PT Serif"/>
              </a:rPr>
              <a:t>«Фильм не отличный, а плохой»</a:t>
            </a:r>
            <a:endParaRPr sz="2000" b="0" i="0" u="none" strike="noStrike" cap="none">
              <a:solidFill>
                <a:schemeClr val="dk1"/>
              </a:solidFill>
              <a:latin typeface="Golos Text"/>
              <a:ea typeface="Golos Text"/>
              <a:cs typeface="Golos Text"/>
              <a:sym typeface="Golos Text"/>
            </a:endParaRPr>
          </a:p>
        </p:txBody>
      </p:sp>
      <p:sp>
        <p:nvSpPr>
          <p:cNvPr id="704" name="Google Shape;704;p38"/>
          <p:cNvSpPr/>
          <p:nvPr/>
        </p:nvSpPr>
        <p:spPr>
          <a:xfrm>
            <a:off x="1073121" y="2881511"/>
            <a:ext cx="2833500" cy="315000"/>
          </a:xfrm>
          <a:prstGeom prst="roundRect">
            <a:avLst>
              <a:gd name="adj" fmla="val 5000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200"/>
              <a:buFont typeface="Golos Text"/>
              <a:buNone/>
            </a:pPr>
            <a:r>
              <a:rPr lang="en-US" sz="1200" b="0" i="0" u="none" strike="noStrike" cap="none">
                <a:solidFill>
                  <a:srgbClr val="1B2430"/>
                </a:solidFill>
                <a:latin typeface="Golos Text"/>
                <a:ea typeface="Golos Text"/>
                <a:cs typeface="Golos Text"/>
                <a:sym typeface="Golos Text"/>
              </a:rPr>
              <a:t>Мешок слов: одинаковые векторы</a:t>
            </a:r>
            <a:endParaRPr sz="1200" b="0" i="0" u="none" strike="noStrike" cap="none">
              <a:solidFill>
                <a:schemeClr val="dk1"/>
              </a:solidFill>
              <a:latin typeface="Golos Text"/>
              <a:ea typeface="Golos Text"/>
              <a:cs typeface="Golos Text"/>
              <a:sym typeface="Golos Text"/>
            </a:endParaRPr>
          </a:p>
        </p:txBody>
      </p:sp>
      <p:sp>
        <p:nvSpPr>
          <p:cNvPr id="705" name="Google Shape;705;p38"/>
          <p:cNvSpPr/>
          <p:nvPr/>
        </p:nvSpPr>
        <p:spPr>
          <a:xfrm>
            <a:off x="4008033" y="2881511"/>
            <a:ext cx="5027100" cy="315000"/>
          </a:xfrm>
          <a:prstGeom prst="roundRect">
            <a:avLst>
              <a:gd name="adj" fmla="val 50000"/>
            </a:avLst>
          </a:prstGeom>
          <a:solidFill>
            <a:srgbClr val="D6E2F2"/>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200"/>
              <a:buFont typeface="Golos Text"/>
              <a:buNone/>
            </a:pPr>
            <a:r>
              <a:rPr lang="en-US" sz="1200" b="0" i="0" u="none" strike="noStrike" cap="none">
                <a:solidFill>
                  <a:srgbClr val="1B2430"/>
                </a:solidFill>
                <a:latin typeface="Golos Text"/>
                <a:ea typeface="Golos Text"/>
                <a:cs typeface="Golos Text"/>
                <a:sym typeface="Golos Text"/>
              </a:rPr>
              <a:t>TextCNN: различает — окно видит «не плохой» и «не отличный»</a:t>
            </a:r>
            <a:endParaRPr sz="1200" b="0" i="0" u="none" strike="noStrike" cap="none">
              <a:solidFill>
                <a:schemeClr val="dk1"/>
              </a:solidFill>
              <a:latin typeface="Golos Text"/>
              <a:ea typeface="Golos Text"/>
              <a:cs typeface="Golos Text"/>
              <a:sym typeface="Golos Text"/>
            </a:endParaRPr>
          </a:p>
        </p:txBody>
      </p:sp>
      <p:sp>
        <p:nvSpPr>
          <p:cNvPr id="706" name="Google Shape;706;p38"/>
          <p:cNvSpPr/>
          <p:nvPr/>
        </p:nvSpPr>
        <p:spPr>
          <a:xfrm>
            <a:off x="815953" y="3561556"/>
            <a:ext cx="10559700" cy="1804500"/>
          </a:xfrm>
          <a:prstGeom prst="roundRect">
            <a:avLst>
              <a:gd name="adj" fmla="val 5454"/>
            </a:avLst>
          </a:prstGeom>
          <a:solidFill>
            <a:srgbClr val="FCFB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8"/>
          <p:cNvSpPr/>
          <p:nvPr/>
        </p:nvSpPr>
        <p:spPr>
          <a:xfrm>
            <a:off x="1073121" y="3767931"/>
            <a:ext cx="10346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46B78"/>
              </a:buClr>
              <a:buSzPts val="1200"/>
              <a:buFont typeface="Golos Text"/>
              <a:buNone/>
            </a:pPr>
            <a:r>
              <a:rPr lang="en-US" sz="1200" b="1" i="0" u="none" strike="noStrike" cap="none">
                <a:solidFill>
                  <a:srgbClr val="646B78"/>
                </a:solidFill>
                <a:latin typeface="Golos Text"/>
                <a:ea typeface="Golos Text"/>
                <a:cs typeface="Golos Text"/>
                <a:sym typeface="Golos Text"/>
              </a:rPr>
              <a:t>ПРИМЕР 2 · ДАЛЬНЯЯ ЗАВИСИМОСТЬ</a:t>
            </a:r>
            <a:endParaRPr sz="1200" b="0" i="0" u="none" strike="noStrike" cap="none">
              <a:solidFill>
                <a:schemeClr val="dk1"/>
              </a:solidFill>
              <a:latin typeface="Golos Text"/>
              <a:ea typeface="Golos Text"/>
              <a:cs typeface="Golos Text"/>
              <a:sym typeface="Golos Text"/>
            </a:endParaRPr>
          </a:p>
        </p:txBody>
      </p:sp>
      <p:sp>
        <p:nvSpPr>
          <p:cNvPr id="708" name="Google Shape;708;p38"/>
          <p:cNvSpPr/>
          <p:nvPr/>
        </p:nvSpPr>
        <p:spPr>
          <a:xfrm>
            <a:off x="1073121" y="4082852"/>
            <a:ext cx="10346700" cy="68580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1B2430"/>
              </a:buClr>
              <a:buSzPts val="2000"/>
              <a:buFont typeface="PT Serif"/>
              <a:buNone/>
            </a:pPr>
            <a:r>
              <a:rPr lang="en-US" sz="2000" b="0" i="1" u="none" strike="noStrike" cap="none" dirty="0">
                <a:solidFill>
                  <a:srgbClr val="1B2430"/>
                </a:solidFill>
                <a:latin typeface="PT Serif"/>
                <a:ea typeface="PT Serif"/>
                <a:cs typeface="PT Serif"/>
                <a:sym typeface="PT Serif"/>
              </a:rPr>
              <a:t>«</a:t>
            </a:r>
            <a:r>
              <a:rPr lang="en-US" sz="2000" b="0" i="1" u="none" strike="noStrike" cap="none" dirty="0" err="1">
                <a:solidFill>
                  <a:srgbClr val="B34A1C"/>
                </a:solidFill>
                <a:latin typeface="PT Serif"/>
                <a:ea typeface="PT Serif"/>
                <a:cs typeface="PT Serif"/>
                <a:sym typeface="PT Serif"/>
              </a:rPr>
              <a:t>Не</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могу</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сказать</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что</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этот</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длинный</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затянутый</a:t>
            </a:r>
            <a:r>
              <a:rPr lang="en-US" sz="2000" b="0" i="1" u="none" strike="noStrike" cap="none" dirty="0">
                <a:solidFill>
                  <a:srgbClr val="1B2430"/>
                </a:solidFill>
                <a:latin typeface="PT Serif"/>
                <a:ea typeface="PT Serif"/>
                <a:cs typeface="PT Serif"/>
                <a:sym typeface="PT Serif"/>
              </a:rPr>
              <a:t> и </a:t>
            </a:r>
            <a:r>
              <a:rPr lang="en-US" sz="2000" b="0" i="1" u="none" strike="noStrike" cap="none" dirty="0" err="1">
                <a:solidFill>
                  <a:srgbClr val="1B2430"/>
                </a:solidFill>
                <a:latin typeface="PT Serif"/>
                <a:ea typeface="PT Serif"/>
                <a:cs typeface="PT Serif"/>
                <a:sym typeface="PT Serif"/>
              </a:rPr>
              <a:t>местами</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откровенно</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скучный</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фильм</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1B2430"/>
                </a:solidFill>
                <a:latin typeface="PT Serif"/>
                <a:ea typeface="PT Serif"/>
                <a:cs typeface="PT Serif"/>
                <a:sym typeface="PT Serif"/>
              </a:rPr>
              <a:t>мне</a:t>
            </a:r>
            <a:r>
              <a:rPr lang="en-US" sz="2000" b="0" i="1" u="none" strike="noStrike" cap="none" dirty="0">
                <a:solidFill>
                  <a:srgbClr val="1B2430"/>
                </a:solidFill>
                <a:latin typeface="PT Serif"/>
                <a:ea typeface="PT Serif"/>
                <a:cs typeface="PT Serif"/>
                <a:sym typeface="PT Serif"/>
              </a:rPr>
              <a:t> </a:t>
            </a:r>
            <a:r>
              <a:rPr lang="en-US" sz="2000" b="0" i="1" u="none" strike="noStrike" cap="none" dirty="0" err="1">
                <a:solidFill>
                  <a:srgbClr val="B34A1C"/>
                </a:solidFill>
                <a:latin typeface="PT Serif"/>
                <a:ea typeface="PT Serif"/>
                <a:cs typeface="PT Serif"/>
                <a:sym typeface="PT Serif"/>
              </a:rPr>
              <a:t>понравился</a:t>
            </a:r>
            <a:r>
              <a:rPr lang="en-US" sz="2000" b="0" i="1" u="none" strike="noStrike" cap="none" dirty="0">
                <a:solidFill>
                  <a:srgbClr val="1B2430"/>
                </a:solidFill>
                <a:latin typeface="PT Serif"/>
                <a:ea typeface="PT Serif"/>
                <a:cs typeface="PT Serif"/>
                <a:sym typeface="PT Serif"/>
              </a:rPr>
              <a:t>»</a:t>
            </a:r>
            <a:endParaRPr sz="2000" b="0" i="0" u="none" strike="noStrike" cap="none" dirty="0">
              <a:solidFill>
                <a:schemeClr val="dk1"/>
              </a:solidFill>
              <a:latin typeface="Golos Text"/>
              <a:ea typeface="Golos Text"/>
              <a:cs typeface="Golos Text"/>
              <a:sym typeface="Golos Text"/>
            </a:endParaRPr>
          </a:p>
        </p:txBody>
      </p:sp>
      <p:sp>
        <p:nvSpPr>
          <p:cNvPr id="709" name="Google Shape;709;p38"/>
          <p:cNvSpPr/>
          <p:nvPr/>
        </p:nvSpPr>
        <p:spPr>
          <a:xfrm>
            <a:off x="1073121" y="4844852"/>
            <a:ext cx="4928100" cy="315000"/>
          </a:xfrm>
          <a:prstGeom prst="roundRect">
            <a:avLst>
              <a:gd name="adj" fmla="val 50000"/>
            </a:avLst>
          </a:prstGeom>
          <a:solidFill>
            <a:srgbClr val="F3D9CB"/>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200"/>
              <a:buFont typeface="Golos Text"/>
              <a:buNone/>
            </a:pPr>
            <a:r>
              <a:rPr lang="en-US" sz="1200" b="0" i="0" u="none" strike="noStrike" cap="none">
                <a:solidFill>
                  <a:srgbClr val="1B2430"/>
                </a:solidFill>
                <a:latin typeface="Golos Text"/>
                <a:ea typeface="Golos Text"/>
                <a:cs typeface="Golos Text"/>
                <a:sym typeface="Golos Text"/>
              </a:rPr>
              <a:t>TextCNN с окном 3–5: «не» и «понравился» разделяют 12 слов</a:t>
            </a:r>
            <a:endParaRPr sz="1200" b="0" i="0" u="none" strike="noStrike" cap="none">
              <a:solidFill>
                <a:schemeClr val="dk1"/>
              </a:solidFill>
              <a:latin typeface="Golos Text"/>
              <a:ea typeface="Golos Text"/>
              <a:cs typeface="Golos Text"/>
              <a:sym typeface="Golos Text"/>
            </a:endParaRPr>
          </a:p>
        </p:txBody>
      </p:sp>
      <p:sp>
        <p:nvSpPr>
          <p:cNvPr id="710" name="Google Shape;710;p38"/>
          <p:cNvSpPr/>
          <p:nvPr/>
        </p:nvSpPr>
        <p:spPr>
          <a:xfrm>
            <a:off x="6102782" y="4844852"/>
            <a:ext cx="3996900" cy="315000"/>
          </a:xfrm>
          <a:prstGeom prst="roundRect">
            <a:avLst>
              <a:gd name="adj" fmla="val 50000"/>
            </a:avLst>
          </a:prstGeom>
          <a:solidFill>
            <a:srgbClr val="E8E2D6"/>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B2430"/>
              </a:buClr>
              <a:buSzPts val="1200"/>
              <a:buFont typeface="Golos Text"/>
              <a:buNone/>
            </a:pPr>
            <a:r>
              <a:rPr lang="en-US" sz="1200" b="0" i="0" u="none" strike="noStrike" cap="none">
                <a:solidFill>
                  <a:srgbClr val="1B2430"/>
                </a:solidFill>
                <a:latin typeface="Golos Text"/>
                <a:ea typeface="Golos Text"/>
                <a:cs typeface="Golos Text"/>
                <a:sym typeface="Golos Text"/>
              </a:rPr>
              <a:t>Нужно читать по порядку и помнить прочитанное</a:t>
            </a:r>
            <a:endParaRPr sz="1200" b="0" i="0" u="none" strike="noStrike" cap="none">
              <a:solidFill>
                <a:schemeClr val="dk1"/>
              </a:solidFill>
              <a:latin typeface="Golos Text"/>
              <a:ea typeface="Golos Text"/>
              <a:cs typeface="Golos Text"/>
              <a:sym typeface="Golos Tex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11833</Words>
  <Application>Microsoft Office PowerPoint</Application>
  <PresentationFormat>Широкоэкранный</PresentationFormat>
  <Paragraphs>782</Paragraphs>
  <Slides>36</Slides>
  <Notes>36</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36</vt:i4>
      </vt:variant>
    </vt:vector>
  </HeadingPairs>
  <TitlesOfParts>
    <vt:vector size="45" baseType="lpstr">
      <vt:lpstr>Arial</vt:lpstr>
      <vt:lpstr>Golos Text</vt:lpstr>
      <vt:lpstr>Cambria</vt:lpstr>
      <vt:lpstr>Montserrat</vt:lpstr>
      <vt:lpstr>Calibri</vt:lpstr>
      <vt:lpstr>JetBrains Mono</vt:lpstr>
      <vt:lpstr>Consolas</vt:lpstr>
      <vt:lpstr>PT Serif</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Конвейер токенизации</vt:lpstr>
      <vt:lpstr>Почему не разбить текст по пробелам</vt:lpstr>
      <vt:lpstr>Лемматизация помогает, но стирает смысл</vt:lpstr>
      <vt:lpstr>Три уровня: символы, подслова, слова</vt:lpstr>
      <vt:lpstr>Byte Pair Encoding: алгоритм</vt:lpstr>
      <vt:lpstr>BPE на доске: игрушечный корпус</vt:lpstr>
      <vt:lpstr>Как BPE режет новые слова</vt:lpstr>
      <vt:lpstr>Семейство subword-токенизаторов</vt:lpstr>
      <vt:lpstr>Byte-level BPE: незнакомых символов нет</vt:lpstr>
      <vt:lpstr>Налог на язык: один текст — разная длина</vt:lpstr>
      <vt:lpstr>Странности, которые объясняет токенизация</vt:lpstr>
      <vt:lpstr>Слово определяется своим окружением</vt:lpstr>
      <vt:lpstr>PMI: убираем влияние частых слов</vt:lpstr>
      <vt:lpstr>word2vec — неявная факторизация PMI</vt:lpstr>
      <vt:lpstr>fastText: слово как сумма кусочков</vt:lpstr>
      <vt:lpstr>nn.Embedding — это one-hot × матрица</vt:lpstr>
      <vt:lpstr>Три способа получить эмбеддинги для задачи</vt:lpstr>
      <vt:lpstr>Как оценивать эмбеддинги</vt:lpstr>
      <vt:lpstr>Аналогии работают хуже, чем кажется</vt:lpstr>
      <vt:lpstr>Что именно меряет косинус</vt:lpstr>
      <vt:lpstr>Эмбеддинги наследуют стереотипы корпуса</vt:lpstr>
      <vt:lpstr>Эмбеддинг — любой выученный вектор объекта</vt:lpstr>
      <vt:lpstr>Вектор предложения из векторов слов</vt:lpstr>
      <vt:lpstr>TextCNN: свёртка по эмбеддингам слов</vt:lpstr>
      <vt:lpstr>Что теряется без порядка слов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Курбанов Камран Айтакинович</cp:lastModifiedBy>
  <cp:revision>6</cp:revision>
  <dcterms:modified xsi:type="dcterms:W3CDTF">2026-10-17T17:28:04Z</dcterms:modified>
</cp:coreProperties>
</file>