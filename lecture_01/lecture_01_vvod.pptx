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Вступление, знакомство. Обозначить формат курса: лекция + семинар 2 раза в неделю.</a:t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b9476c0b9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fb9476c0b9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fb9476c0b9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Быстро пройтись по плану — 1 минута, чтобы студенты понимали структуру.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Показать, что курс идёт от простого к сложному: сегодня — фундамент, на котором держится всё остальное.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Центральная идея слайда: задача «оцифровки» реальности = извлечение измеримых признаков → вектор. Это то самое x, которое мы использовали в формулах на предыдущих и следующих слайдах — явно навести мостик.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Ключевая мысль слайда: нейросети — не что-то принципиально иное, а развитие тех же идей ML. Пример с котом/собакой теперь на следующем слайде.</a:t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Слайды 6 и 8 объединены. Не задерживаться на биологии больше 2-3 минут. Уточнение: пример со зрительной корой относится к свёрточным сетям (CNN), а не к рекуррентным — важно не перепутать при рассказе. Вставить в рамку фото/схему реального нейрона перед лекцией.</a:t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Коротко, как исторический контекст — не грузить датами. Перед лекцией вставить в рамки внизу портреты учёных (McCulloch, Pitts, Rosenblatt, Minsky, Papert).</a:t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Важно проговорить явно: один нейрон без скрытых слоёв = обычная регрессия. Это снимает ощущение «магии».</a:t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Если группа не уверена в линейной алгебре — решить пример на слайде вместе, у доски. Явно связать x с вектором признаков кошки со слайда 6.</a:t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Хорошее место спросить: а что если классы нельзя разделить ни прямой, ни плоскостью? (подводка к XOR). Правая схема — намеренно условная 3D-проекция, не настоящая 3D-графика.</a:t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Ключевое отличие от современных нейронов: гладкие активации появятся на теме 2-3 — они нужны, чтобы обучать сеть градиентными методами. Графики — не показывать формулы производной сигмоиды подробно, это будет в теме 2, здесь только интуиция «плавная vs бинарная».</a:t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2d2c3f64eb4d013a_0_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2d2c3f64eb4d013a_0_3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Новый слайд. Явно связать с предыдущей и следующей темами: то, что раньше было просто линией на графике, — на самом деле срез (уровень z=0) целой поверхности значений. Хорошее место сказать: цвет — это не что-то отдельное, это просто окраска по числу z.</a:t>
            </a:r>
            <a:endParaRPr/>
          </a:p>
        </p:txBody>
      </p:sp>
      <p:sp>
        <p:nvSpPr>
          <p:cNvPr id="381" name="Google Shape;381;h2d2c3f64eb4d013a_0_3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Проговорить пошагово формулу обновления весов, прогнать пример на слайде. Дальше — переход к более общему взгляду через функцию потерь и градиентный спуск.</a:t>
            </a:r>
            <a:endParaRPr/>
          </a:p>
        </p:txBody>
      </p:sp>
      <p:sp>
        <p:nvSpPr>
          <p:cNvPr id="736" name="Google Shape;7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Новый слайд. Явно провести параллель: правило Розенблатта w←w+η(y−ŷ)x — это, по сути, частный (историч.) случай той же общей идеи «двигаться против роста ошибки». Формулу производной считать не нужно — здесь важна интуиция и связь с темой 2 (backprop = градиентный спуск для сети из многих слоёв).</a:t>
            </a:r>
            <a:endParaRPr/>
          </a:p>
        </p:txBody>
      </p:sp>
      <p:sp>
        <p:nvSpPr>
          <p:cNvPr id="767" name="Google Shape;7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Кульминация первой половины лекции. Дать студентам самим попробовать провести прямую — убедятся, что не получается.</a:t>
            </a:r>
            <a:endParaRPr/>
          </a:p>
        </p:txBody>
      </p:sp>
      <p:sp>
        <p:nvSpPr>
          <p:cNvPr id="834" name="Google Shape;8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</a:t>
            </a:r>
            <a:endParaRPr/>
          </a:p>
        </p:txBody>
      </p:sp>
      <p:sp>
        <p:nvSpPr>
          <p:cNvPr id="864" name="Google Shape;86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h2d2c3f64eb4d013a_0_6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h2d2c3f64eb4d013a_0_6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Новый слайд — геометрическое дополнение к предыдущей схеме с узлами. Полезно явно провести пальцем по обеим линиям h1 и h2, показать, что полоса между ними захватывает ровно точки (0,1) и (1,0), но не (0,0) и (1,1).</a:t>
            </a:r>
            <a:endParaRPr/>
          </a:p>
        </p:txBody>
      </p:sp>
      <p:sp>
        <p:nvSpPr>
          <p:cNvPr id="891" name="Google Shape;891;h2d2c3f64eb4d013a_0_6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 грузить доказательством теоремы — важна интуиция и связь с тем, что сеть должна быть выразительной, но её ещё надо уметь обучить.</a:t>
            </a:r>
            <a:endParaRPr/>
          </a:p>
        </p:txBody>
      </p:sp>
      <p:sp>
        <p:nvSpPr>
          <p:cNvPr id="917" name="Google Shape;9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2d2c3f64eb4d013a_0_7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h2d2c3f64eb4d013a_0_7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h2d2c3f64eb4d013a_0_7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Мостик к следующему занятию — проговорить, что на семинаре уже начнём писать код на Python (перцептрон с нуля), а на следующей лекции — PyTorch.</a:t>
            </a:r>
            <a:endParaRPr/>
          </a:p>
        </p:txBody>
      </p:sp>
      <p:sp>
        <p:nvSpPr>
          <p:cNvPr id="937" name="Google Shape;93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Попросить студентов своими словами сформулировать 1-2 пункта из резюме — хорошая проверка понимания.</a:t>
            </a:r>
            <a:endParaRPr/>
          </a:p>
        </p:txBody>
      </p:sp>
      <p:sp>
        <p:nvSpPr>
          <p:cNvPr id="964" name="Google Shape;96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9692640" y="201168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692640" y="2011680"/>
            <a:ext cx="1188720" cy="150876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 rot="10800000">
            <a:off x="9692640" y="251460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9692640" y="301752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 rot="10800000">
            <a:off x="9692640" y="2514600"/>
            <a:ext cx="1188720" cy="150876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flipH="1" rot="10800000">
            <a:off x="9692640" y="352044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9692640" y="201168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692640" y="301752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692640" y="402336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881360" y="251460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881360" y="352044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КУРС «НЕЙРОННЫЕ СЕТИ»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48640" y="1965960"/>
            <a:ext cx="8686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Тема 1. Введение в нейронные сети.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Перцептрон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48640" y="37947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Математическая основа нейросетей и связь с классическим машинным обучением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548640" y="461772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3"/>
          <p:cNvSpPr txBox="1"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Лекция 1 · Модуль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[Имя преподавателя]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2/19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225" y="152400"/>
            <a:ext cx="6658558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ПЛАН ЛЕКЦИИ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 чём сегодня говорим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3/19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1234440" y="1645920"/>
            <a:ext cx="4541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От классического ML к нейросетям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1234440" y="2039112"/>
            <a:ext cx="4541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зачем нужна ещё одна модель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370168" y="169164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6370168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7055968" y="1645920"/>
            <a:ext cx="4541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Математическая основа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7055968" y="2039112"/>
            <a:ext cx="4541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векторы, скалярное произведение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1234440" y="2880360"/>
            <a:ext cx="4541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Искусственный нейрон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234440" y="3273552"/>
            <a:ext cx="4541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взвешенная сумма и активация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370168" y="292608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6370168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7055968" y="2880360"/>
            <a:ext cx="4541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Перцептрон Розенблатта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7055968" y="3273552"/>
            <a:ext cx="4541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модель, обучение и градиентный спуск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234440" y="4114800"/>
            <a:ext cx="4541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Проблема XOR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1234440" y="4507992"/>
            <a:ext cx="4541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где один нейрон бессилен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370168" y="416052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6370168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7055968" y="4114800"/>
            <a:ext cx="4541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От перцептрона к сети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7055968" y="4507992"/>
            <a:ext cx="4541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скрытые слои и полносвязная сеть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КОНТЕКСТ КУРСА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Где мы сегодня: карта курса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214884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658368" y="22219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640080" y="247802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Введение,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перцептрон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807757" y="214884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2917485" y="22219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899197" y="247802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Backprop,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66873" y="214884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5176601" y="22219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5158313" y="247802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Оптимизация,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регуляризация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325990" y="214884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7435718" y="22219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417430" y="247802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CNN,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UNet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585107" y="214884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9694835" y="22219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9676547" y="247802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Эмбеддинги,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токенизация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356616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658368" y="36393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640080" y="389534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RNN, LSTM,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GRU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807757" y="356616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2917485" y="36393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2899197" y="389534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GAN, VAE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066873" y="356616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5176601" y="36393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5158313" y="389534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Трансформеры,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325990" y="356616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7435718" y="36393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7417430" y="389534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585107" y="3566160"/>
            <a:ext cx="2057949" cy="1051560"/>
          </a:xfrm>
          <a:prstGeom prst="roundRect">
            <a:avLst>
              <a:gd fmla="val 6957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9694835" y="36393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9676547" y="3895344"/>
            <a:ext cx="1875069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Оптимизация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моделей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Сегодня закладываем математический фундамент — дальше всё будет опираться именно на него.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ОТ РЕАЛЬНОСТИ — К ЧИСЛАМ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Пример: как «оцифровать» кошку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4471285" y="1317757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форма ушей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4709160" y="2025415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пропорция мордочки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4772585" y="2633485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размер глаз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4709160" y="313639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7C"/>
                </a:solidFill>
                <a:latin typeface="Calibri"/>
                <a:ea typeface="Calibri"/>
                <a:cs typeface="Calibri"/>
                <a:sym typeface="Calibri"/>
              </a:rPr>
              <a:t>густота шерсти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766560" y="1737360"/>
            <a:ext cx="4892040" cy="2331720"/>
          </a:xfrm>
          <a:prstGeom prst="roundRect">
            <a:avLst>
              <a:gd fmla="val 392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7040880" y="196596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b="1" lang="en-US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0.82, 0.35, 0.60, 0.91, …</a:t>
            </a:r>
            <a:r>
              <a:rPr b="1" lang="en-US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040880" y="2560320"/>
            <a:ext cx="434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0.82 — пропорция мордочки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0.35 — густота шерсти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0.60 — размер глаз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0.91 — форма ушей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48640" y="4709160"/>
            <a:ext cx="11094415" cy="1051560"/>
          </a:xfrm>
          <a:prstGeom prst="roundRect">
            <a:avLst>
              <a:gd fmla="val 8696" name="adj"/>
            </a:avLst>
          </a:prstGeom>
          <a:solidFill>
            <a:srgbClr val="44557C"/>
          </a:solidFill>
          <a:ln cap="flat" cmpd="sng" w="12700">
            <a:solidFill>
              <a:srgbClr val="4455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187" y="1158250"/>
            <a:ext cx="1886523" cy="33526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841248" y="4855464"/>
            <a:ext cx="10509199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Каждое число — конкретная измеримая характеристика. Вместе они образуют вектор признаков: представление реального объекта, понятное компьютеру. Именно с таким вектором дальше работает классификатор — например, перцептрон.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7"/>
          <p:cNvCxnSpPr>
            <a:endCxn id="124" idx="1"/>
          </p:cNvCxnSpPr>
          <p:nvPr/>
        </p:nvCxnSpPr>
        <p:spPr>
          <a:xfrm>
            <a:off x="3034560" y="2020165"/>
            <a:ext cx="1674600" cy="16530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7"/>
          <p:cNvCxnSpPr/>
          <p:nvPr/>
        </p:nvCxnSpPr>
        <p:spPr>
          <a:xfrm>
            <a:off x="2757200" y="2315525"/>
            <a:ext cx="1855200" cy="48360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7"/>
          <p:cNvCxnSpPr/>
          <p:nvPr/>
        </p:nvCxnSpPr>
        <p:spPr>
          <a:xfrm flipH="1" rot="10800000">
            <a:off x="2923048" y="1506885"/>
            <a:ext cx="1475400" cy="10710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7"/>
          <p:cNvCxnSpPr/>
          <p:nvPr/>
        </p:nvCxnSpPr>
        <p:spPr>
          <a:xfrm flipH="1" rot="10800000">
            <a:off x="2479700" y="3294875"/>
            <a:ext cx="2185200" cy="23370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МОТИВАЦИЯ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От классического ML к нейросетям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5/19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48640" y="1737360"/>
            <a:ext cx="5272888" cy="3657600"/>
          </a:xfrm>
          <a:prstGeom prst="roundRect">
            <a:avLst>
              <a:gd fmla="val 2500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822960" y="1965960"/>
            <a:ext cx="4724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Классический 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822960" y="2514600"/>
            <a:ext cx="472424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Задача: найти функцию f: X → Y по обучающим данным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Линейная / логистическая регрессия, решающие деревья, SVM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Признаки чаще проектирует человек вручную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Модель обычно — один относительно простой блок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370168" y="1737360"/>
            <a:ext cx="5272888" cy="3657600"/>
          </a:xfrm>
          <a:prstGeom prst="roundRect">
            <a:avLst>
              <a:gd fmla="val 25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6644488" y="1965960"/>
            <a:ext cx="4724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Нейросети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6644488" y="2514600"/>
            <a:ext cx="472424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3F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Та же идея: приближаем функцию по данным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F3F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Но собрана из множества простых блоков (нейронов), соединённых вместе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F3F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Признаки строятся автоматически, слой за слоем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F3F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Гибче: один и тот же «конструктор» решает и классификацию, и генерацию, и перевод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8"/>
          <p:cNvCxnSpPr/>
          <p:nvPr/>
        </p:nvCxnSpPr>
        <p:spPr>
          <a:xfrm>
            <a:off x="5775808" y="3566160"/>
            <a:ext cx="640080" cy="0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ОТКУДА ВСЁ НАЧАЛОСЬ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От биологии — к искусственному нейрону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8/19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548640" y="1508760"/>
            <a:ext cx="531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Биологический нейрон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548640" y="1828800"/>
            <a:ext cx="3947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Дендриты собирают сигналы, тело клетки суммирует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Порог превышен — импульс идёт по аксону дальше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6324448" y="1508760"/>
            <a:ext cx="531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Искусственный нейрон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324448" y="1828800"/>
            <a:ext cx="53186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Входы x₁...xₙ — аналог сигналов от дендритов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Взвешенная сумма + активация — аналог тела клетки и порога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712532" y="3730111"/>
            <a:ext cx="257400" cy="260700"/>
          </a:xfrm>
          <a:prstGeom prst="ellipse">
            <a:avLst/>
          </a:prstGeom>
          <a:solidFill>
            <a:srgbClr val="EEF3FD"/>
          </a:solidFill>
          <a:ln cap="flat" cmpd="sng" w="163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5712532" y="3730111"/>
            <a:ext cx="257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18"/>
              <a:buFont typeface="Calibri"/>
              <a:buNone/>
            </a:pPr>
            <a:r>
              <a:rPr b="1" i="0" lang="en-US" sz="1118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b="0" i="0" sz="1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9"/>
          <p:cNvCxnSpPr/>
          <p:nvPr/>
        </p:nvCxnSpPr>
        <p:spPr>
          <a:xfrm>
            <a:off x="5969950" y="3860462"/>
            <a:ext cx="1698900" cy="365100"/>
          </a:xfrm>
          <a:prstGeom prst="straightConnector1">
            <a:avLst/>
          </a:prstGeom>
          <a:noFill/>
          <a:ln cap="flat" cmpd="sng" w="120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9"/>
          <p:cNvSpPr/>
          <p:nvPr/>
        </p:nvSpPr>
        <p:spPr>
          <a:xfrm>
            <a:off x="5712532" y="4095094"/>
            <a:ext cx="257400" cy="260700"/>
          </a:xfrm>
          <a:prstGeom prst="ellipse">
            <a:avLst/>
          </a:prstGeom>
          <a:solidFill>
            <a:srgbClr val="EEF3FD"/>
          </a:solidFill>
          <a:ln cap="flat" cmpd="sng" w="163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5712532" y="4095094"/>
            <a:ext cx="257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18"/>
              <a:buFont typeface="Calibri"/>
              <a:buNone/>
            </a:pPr>
            <a:r>
              <a:rPr b="1" i="0" lang="en-US" sz="1118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1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5969950" y="4225445"/>
            <a:ext cx="1698900" cy="0"/>
          </a:xfrm>
          <a:prstGeom prst="straightConnector1">
            <a:avLst/>
          </a:prstGeom>
          <a:noFill/>
          <a:ln cap="flat" cmpd="sng" w="120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9"/>
          <p:cNvSpPr/>
          <p:nvPr/>
        </p:nvSpPr>
        <p:spPr>
          <a:xfrm>
            <a:off x="5712532" y="4460077"/>
            <a:ext cx="257400" cy="260700"/>
          </a:xfrm>
          <a:prstGeom prst="ellipse">
            <a:avLst/>
          </a:prstGeom>
          <a:solidFill>
            <a:srgbClr val="EEF3FD"/>
          </a:solidFill>
          <a:ln cap="flat" cmpd="sng" w="163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5712532" y="4460077"/>
            <a:ext cx="257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18"/>
              <a:buFont typeface="Calibri"/>
              <a:buNone/>
            </a:pPr>
            <a:r>
              <a:rPr b="1" i="0" lang="en-US" sz="1118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x₃</a:t>
            </a:r>
            <a:endParaRPr b="0" i="0" sz="1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9"/>
          <p:cNvCxnSpPr/>
          <p:nvPr/>
        </p:nvCxnSpPr>
        <p:spPr>
          <a:xfrm flipH="1" rot="10800000">
            <a:off x="5969950" y="4225328"/>
            <a:ext cx="1698900" cy="365100"/>
          </a:xfrm>
          <a:prstGeom prst="straightConnector1">
            <a:avLst/>
          </a:prstGeom>
          <a:noFill/>
          <a:ln cap="flat" cmpd="sng" w="120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9"/>
          <p:cNvSpPr/>
          <p:nvPr/>
        </p:nvSpPr>
        <p:spPr>
          <a:xfrm>
            <a:off x="7668911" y="4003849"/>
            <a:ext cx="437700" cy="443100"/>
          </a:xfrm>
          <a:prstGeom prst="ellipse">
            <a:avLst/>
          </a:prstGeom>
          <a:solidFill>
            <a:srgbClr val="1E2761"/>
          </a:solidFill>
          <a:ln cap="flat" cmpd="sng" w="163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7668911" y="4003849"/>
            <a:ext cx="437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64"/>
              <a:buFont typeface="Cambria"/>
              <a:buNone/>
            </a:pPr>
            <a:r>
              <a:rPr b="1" i="0" lang="en-US" sz="206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b="0" i="0" sz="20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8132264" y="4225445"/>
            <a:ext cx="694800" cy="0"/>
          </a:xfrm>
          <a:prstGeom prst="straightConnector1">
            <a:avLst/>
          </a:prstGeom>
          <a:noFill/>
          <a:ln cap="flat" cmpd="sng" w="191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p9"/>
          <p:cNvSpPr/>
          <p:nvPr/>
        </p:nvSpPr>
        <p:spPr>
          <a:xfrm>
            <a:off x="8853035" y="4016884"/>
            <a:ext cx="746400" cy="417000"/>
          </a:xfrm>
          <a:prstGeom prst="roundRect">
            <a:avLst>
              <a:gd fmla="val 1125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8853035" y="4016884"/>
            <a:ext cx="746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462"/>
              <a:buFont typeface="Cambria"/>
              <a:buNone/>
            </a:pPr>
            <a:r>
              <a:rPr b="1" i="0" lang="en-US" sz="1462" u="none" cap="none" strike="noStrike">
                <a:solidFill>
                  <a:srgbClr val="141B47"/>
                </a:solidFill>
                <a:latin typeface="Cambria"/>
                <a:ea typeface="Cambria"/>
                <a:cs typeface="Cambria"/>
                <a:sym typeface="Cambria"/>
              </a:rPr>
              <a:t>f( · )</a:t>
            </a:r>
            <a:endParaRPr b="0" i="0" sz="14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9625289" y="4225445"/>
            <a:ext cx="591900" cy="0"/>
          </a:xfrm>
          <a:prstGeom prst="straightConnector1">
            <a:avLst/>
          </a:prstGeom>
          <a:noFill/>
          <a:ln cap="flat" cmpd="sng" w="191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9"/>
          <p:cNvSpPr/>
          <p:nvPr/>
        </p:nvSpPr>
        <p:spPr>
          <a:xfrm>
            <a:off x="10243093" y="4082059"/>
            <a:ext cx="282900" cy="286800"/>
          </a:xfrm>
          <a:prstGeom prst="ellipse">
            <a:avLst/>
          </a:prstGeom>
          <a:solidFill>
            <a:srgbClr val="1E2761"/>
          </a:solidFill>
          <a:ln cap="flat" cmpd="sng" w="163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10243093" y="4082059"/>
            <a:ext cx="282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0"/>
              <a:buFont typeface="Cambria"/>
              <a:buNone/>
            </a:pPr>
            <a:r>
              <a:rPr b="1" i="0" lang="en-US" sz="129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endParaRPr b="0" i="0" sz="12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10680704" y="4069024"/>
            <a:ext cx="1287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90"/>
              <a:buFont typeface="Cambria"/>
              <a:buNone/>
            </a:pPr>
            <a:r>
              <a:rPr b="1" i="0" lang="en-US" sz="129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y = f( Σ w</a:t>
            </a:r>
            <a:r>
              <a:rPr b="1" baseline="-25000" i="0" lang="en-US" sz="774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i="0" lang="en-US" sz="129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="1" baseline="-25000" i="0" lang="en-US" sz="774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i="0" lang="en-US" sz="129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+ b )</a:t>
            </a:r>
            <a:endParaRPr b="0" i="0" sz="12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00" y="3018375"/>
            <a:ext cx="5042626" cy="209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НЕМНОГО ИСТОРИИ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Путь к перцептрону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10/19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1280160" y="3246120"/>
            <a:ext cx="9631375" cy="0"/>
          </a:xfrm>
          <a:prstGeom prst="straightConnector1">
            <a:avLst/>
          </a:prstGeom>
          <a:noFill/>
          <a:ln cap="flat" cmpd="sng" w="317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0"/>
          <p:cNvSpPr/>
          <p:nvPr/>
        </p:nvSpPr>
        <p:spPr>
          <a:xfrm>
            <a:off x="1755648" y="3081528"/>
            <a:ext cx="329184" cy="329184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914400" y="1920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77E12"/>
                </a:solidFill>
                <a:latin typeface="Cambria"/>
                <a:ea typeface="Cambria"/>
                <a:cs typeface="Cambria"/>
                <a:sym typeface="Cambria"/>
              </a:rPr>
              <a:t>1943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548640" y="22677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Маккаллок и Питтс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457200" y="256032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первая модель нейрона: бинарный вход, пороговая функция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144768" y="3081528"/>
            <a:ext cx="329184" cy="329184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5303520" y="35661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77E12"/>
                </a:solidFill>
                <a:latin typeface="Cambria"/>
                <a:ea typeface="Cambria"/>
                <a:cs typeface="Cambria"/>
                <a:sym typeface="Cambria"/>
              </a:rPr>
              <a:t>1958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4937760" y="39136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Розенблатт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4846320" y="420624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первая обучаемая модель — веса подстраиваются по данным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0076688" y="3081528"/>
            <a:ext cx="329184" cy="329184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9235440" y="1920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77E12"/>
                </a:solidFill>
                <a:latin typeface="Cambria"/>
                <a:ea typeface="Cambria"/>
                <a:cs typeface="Cambria"/>
                <a:sym typeface="Cambria"/>
              </a:rPr>
              <a:t>1969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8869680" y="22677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Минский и Пейперт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8778240" y="256032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показали предел перцептрона (см. далее)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48640" y="4892040"/>
            <a:ext cx="1188720" cy="1188720"/>
          </a:xfrm>
          <a:prstGeom prst="roundRect">
            <a:avLst>
              <a:gd fmla="val 6154" name="adj"/>
            </a:avLst>
          </a:prstGeom>
          <a:solidFill>
            <a:srgbClr val="EEF3FD"/>
          </a:solidFill>
          <a:ln cap="flat" cmpd="sng" w="15875">
            <a:solidFill>
              <a:srgbClr val="8592B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548640" y="5106010"/>
            <a:ext cx="1188720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640080" y="5581498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Маккаллок / Питтс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5592928" y="5581498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Рознблатт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10454335" y="5106010"/>
            <a:ext cx="1188720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00" y="3644250"/>
            <a:ext cx="3823688" cy="2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213" y="1208037"/>
            <a:ext cx="3918532" cy="179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4175" y="3773909"/>
            <a:ext cx="3740175" cy="2493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МОСТИК К НЕЙРОНУ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Линейная регрессия — предок нейрона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7/19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548640" y="1737360"/>
            <a:ext cx="8168335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Линейная регрессия: предсказание — взвешенная сумма признаков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B1F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Логистическая регрессия = линейная регрессия + сигмоида (для бинарной классификации)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B1F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Это ровно формула одного искусственного нейрона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48640" y="4206240"/>
            <a:ext cx="11094415" cy="1371600"/>
          </a:xfrm>
          <a:prstGeom prst="roundRect">
            <a:avLst>
              <a:gd fmla="val 666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548640" y="4370832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ŷ = w</a:t>
            </a:r>
            <a:r>
              <a:rPr b="1" baseline="-2500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="1" baseline="-2500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+ w</a:t>
            </a:r>
            <a:r>
              <a:rPr b="1" baseline="-2500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="1" baseline="-2500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+ ... + w</a:t>
            </a:r>
            <a:r>
              <a:rPr b="1" baseline="-2500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="1" baseline="-2500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+ 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линейная регрессия  ·  и одновременно — один искусственный нейрон (без активации)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МАТЕМАТИЧЕСКАЯ ОСНОВА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Векторы и скалярное произведение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9/19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548640" y="1737360"/>
            <a:ext cx="798545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Вход — вектор признаков: x = (x₁, x₂, ..., xₙ) — то самое «представление кошки», которое мы только что собрали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Веса — тоже вектор: w = (w₁, w₂, ..., wₙ)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Скалярное произведение: w · x = Σ wᵢxᵢ = w₁x₁ + w₂x₂ + ... + wₙxₙ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1F2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Это основная операция нейросети — поэтому GPU (заточенные под умножение матриц) так хорошо подходят для DL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48640" y="4709160"/>
            <a:ext cx="11094415" cy="1005840"/>
          </a:xfrm>
          <a:prstGeom prst="roundRect">
            <a:avLst>
              <a:gd fmla="val 9091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822960" y="4709160"/>
            <a:ext cx="1054577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Пример: w = (2, −1, 0.5),  x = (1, 3, 4)   →   w·x = 2·1 + (−1)·3 + 0.5·4 =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ГЕОМЕТРИЯ ПЕРЦЕПТРОНА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Перцептрон как линейный классификатор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12/19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822960" y="13990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 признака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6294760" y="1231057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 признака → гиперплоскость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6995160" y="1691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fmla="val 11765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 txBox="1"/>
          <p:nvPr/>
        </p:nvSpPr>
        <p:spPr>
          <a:xfrm>
            <a:off x="841248" y="5495544"/>
            <a:ext cx="10509199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Перцептрон разделяет классы линейно: при 2 признаках — прямой, при 3 — плоскостью, при n признаках — гиперплоскостью w·x+b=0. Нарисовать при n&gt;3 нельзя, но формула та же самая. Работает только если классы линейно разделимы.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750" y="1505244"/>
            <a:ext cx="4864599" cy="3648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25" y="1770890"/>
            <a:ext cx="5811755" cy="3371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ФОРМАЛЬНАЯ МОДЕЛЬ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Перцептрон Розенблатта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11/19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48640" y="1417320"/>
            <a:ext cx="11094415" cy="960120"/>
          </a:xfrm>
          <a:prstGeom prst="roundRect">
            <a:avLst>
              <a:gd fmla="val 857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548640" y="1490472"/>
            <a:ext cx="11094415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ŷ = 1,  если  w · x + b &gt; 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ŷ = 0,  иначе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548640" y="26060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Бинарный линейный классификатор; активация — жёсткая ступенька: выход строго 0 или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Ступенчатая функция не дифференцируема — обучать её градиентными методами нельзя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4"/>
          <p:cNvCxnSpPr/>
          <p:nvPr/>
        </p:nvCxnSpPr>
        <p:spPr>
          <a:xfrm>
            <a:off x="548640" y="3703320"/>
            <a:ext cx="0" cy="210312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4"/>
          <p:cNvCxnSpPr/>
          <p:nvPr/>
        </p:nvCxnSpPr>
        <p:spPr>
          <a:xfrm>
            <a:off x="548640" y="5806440"/>
            <a:ext cx="5272888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4"/>
          <p:cNvCxnSpPr/>
          <p:nvPr/>
        </p:nvCxnSpPr>
        <p:spPr>
          <a:xfrm>
            <a:off x="6370168" y="3703320"/>
            <a:ext cx="0" cy="210312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14"/>
          <p:cNvCxnSpPr/>
          <p:nvPr/>
        </p:nvCxnSpPr>
        <p:spPr>
          <a:xfrm>
            <a:off x="6370168" y="5806440"/>
            <a:ext cx="5272888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14"/>
          <p:cNvCxnSpPr/>
          <p:nvPr/>
        </p:nvCxnSpPr>
        <p:spPr>
          <a:xfrm>
            <a:off x="548640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14"/>
          <p:cNvCxnSpPr/>
          <p:nvPr/>
        </p:nvCxnSpPr>
        <p:spPr>
          <a:xfrm>
            <a:off x="812284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4"/>
          <p:cNvCxnSpPr/>
          <p:nvPr/>
        </p:nvCxnSpPr>
        <p:spPr>
          <a:xfrm>
            <a:off x="1075929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4"/>
          <p:cNvCxnSpPr/>
          <p:nvPr/>
        </p:nvCxnSpPr>
        <p:spPr>
          <a:xfrm>
            <a:off x="1339573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14"/>
          <p:cNvCxnSpPr/>
          <p:nvPr/>
        </p:nvCxnSpPr>
        <p:spPr>
          <a:xfrm>
            <a:off x="1603218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14"/>
          <p:cNvCxnSpPr/>
          <p:nvPr/>
        </p:nvCxnSpPr>
        <p:spPr>
          <a:xfrm>
            <a:off x="1866862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14"/>
          <p:cNvCxnSpPr/>
          <p:nvPr/>
        </p:nvCxnSpPr>
        <p:spPr>
          <a:xfrm>
            <a:off x="2130506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14"/>
          <p:cNvCxnSpPr/>
          <p:nvPr/>
        </p:nvCxnSpPr>
        <p:spPr>
          <a:xfrm>
            <a:off x="2394151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4"/>
          <p:cNvCxnSpPr/>
          <p:nvPr/>
        </p:nvCxnSpPr>
        <p:spPr>
          <a:xfrm>
            <a:off x="2657795" y="5701284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4"/>
          <p:cNvCxnSpPr/>
          <p:nvPr/>
        </p:nvCxnSpPr>
        <p:spPr>
          <a:xfrm>
            <a:off x="2921439" y="5701284"/>
            <a:ext cx="254856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4"/>
          <p:cNvCxnSpPr/>
          <p:nvPr/>
        </p:nvCxnSpPr>
        <p:spPr>
          <a:xfrm>
            <a:off x="3176296" y="5701284"/>
            <a:ext cx="8788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14"/>
          <p:cNvCxnSpPr/>
          <p:nvPr/>
        </p:nvCxnSpPr>
        <p:spPr>
          <a:xfrm>
            <a:off x="3185084" y="3808476"/>
            <a:ext cx="0" cy="1892808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14"/>
          <p:cNvCxnSpPr/>
          <p:nvPr/>
        </p:nvCxnSpPr>
        <p:spPr>
          <a:xfrm>
            <a:off x="3185084" y="3808476"/>
            <a:ext cx="8788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14"/>
          <p:cNvCxnSpPr/>
          <p:nvPr/>
        </p:nvCxnSpPr>
        <p:spPr>
          <a:xfrm>
            <a:off x="3193872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4"/>
          <p:cNvCxnSpPr/>
          <p:nvPr/>
        </p:nvCxnSpPr>
        <p:spPr>
          <a:xfrm>
            <a:off x="3457516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14"/>
          <p:cNvCxnSpPr/>
          <p:nvPr/>
        </p:nvCxnSpPr>
        <p:spPr>
          <a:xfrm>
            <a:off x="3721161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14"/>
          <p:cNvCxnSpPr/>
          <p:nvPr/>
        </p:nvCxnSpPr>
        <p:spPr>
          <a:xfrm>
            <a:off x="3984805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4"/>
          <p:cNvCxnSpPr/>
          <p:nvPr/>
        </p:nvCxnSpPr>
        <p:spPr>
          <a:xfrm>
            <a:off x="4248449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14"/>
          <p:cNvCxnSpPr/>
          <p:nvPr/>
        </p:nvCxnSpPr>
        <p:spPr>
          <a:xfrm>
            <a:off x="4512094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14"/>
          <p:cNvCxnSpPr/>
          <p:nvPr/>
        </p:nvCxnSpPr>
        <p:spPr>
          <a:xfrm>
            <a:off x="4775738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14"/>
          <p:cNvCxnSpPr/>
          <p:nvPr/>
        </p:nvCxnSpPr>
        <p:spPr>
          <a:xfrm>
            <a:off x="5039383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14"/>
          <p:cNvCxnSpPr/>
          <p:nvPr/>
        </p:nvCxnSpPr>
        <p:spPr>
          <a:xfrm>
            <a:off x="5303027" y="3808476"/>
            <a:ext cx="263644" cy="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4"/>
          <p:cNvSpPr txBox="1"/>
          <p:nvPr/>
        </p:nvSpPr>
        <p:spPr>
          <a:xfrm>
            <a:off x="548640" y="3410712"/>
            <a:ext cx="527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ступенчатая активация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548640" y="5861304"/>
            <a:ext cx="5272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производная = 0 почти всюду,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не определена в точке разрыва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4"/>
          <p:cNvCxnSpPr/>
          <p:nvPr/>
        </p:nvCxnSpPr>
        <p:spPr>
          <a:xfrm flipH="1" rot="10800000">
            <a:off x="6370168" y="5799427"/>
            <a:ext cx="131822" cy="1813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4"/>
          <p:cNvCxnSpPr/>
          <p:nvPr/>
        </p:nvCxnSpPr>
        <p:spPr>
          <a:xfrm flipH="1" rot="10800000">
            <a:off x="6501990" y="5796984"/>
            <a:ext cx="131822" cy="2443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4"/>
          <p:cNvCxnSpPr/>
          <p:nvPr/>
        </p:nvCxnSpPr>
        <p:spPr>
          <a:xfrm flipH="1" rot="10800000">
            <a:off x="6633812" y="5793696"/>
            <a:ext cx="131822" cy="3288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14"/>
          <p:cNvCxnSpPr/>
          <p:nvPr/>
        </p:nvCxnSpPr>
        <p:spPr>
          <a:xfrm flipH="1" rot="10800000">
            <a:off x="6765634" y="5789273"/>
            <a:ext cx="131822" cy="442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4"/>
          <p:cNvCxnSpPr/>
          <p:nvPr/>
        </p:nvCxnSpPr>
        <p:spPr>
          <a:xfrm flipH="1" rot="10800000">
            <a:off x="6897456" y="5783333"/>
            <a:ext cx="131822" cy="594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14"/>
          <p:cNvCxnSpPr/>
          <p:nvPr/>
        </p:nvCxnSpPr>
        <p:spPr>
          <a:xfrm flipH="1" rot="10800000">
            <a:off x="7029279" y="5775368"/>
            <a:ext cx="131822" cy="7965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4"/>
          <p:cNvCxnSpPr/>
          <p:nvPr/>
        </p:nvCxnSpPr>
        <p:spPr>
          <a:xfrm flipH="1" rot="10800000">
            <a:off x="7161101" y="5764713"/>
            <a:ext cx="131822" cy="10655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4"/>
          <p:cNvCxnSpPr/>
          <p:nvPr/>
        </p:nvCxnSpPr>
        <p:spPr>
          <a:xfrm flipH="1" rot="10800000">
            <a:off x="7292923" y="5750503"/>
            <a:ext cx="131822" cy="1421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4"/>
          <p:cNvCxnSpPr/>
          <p:nvPr/>
        </p:nvCxnSpPr>
        <p:spPr>
          <a:xfrm flipH="1" rot="10800000">
            <a:off x="7424745" y="5731630"/>
            <a:ext cx="131822" cy="18874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4"/>
          <p:cNvCxnSpPr/>
          <p:nvPr/>
        </p:nvCxnSpPr>
        <p:spPr>
          <a:xfrm flipH="1" rot="10800000">
            <a:off x="7556567" y="5706698"/>
            <a:ext cx="131822" cy="2493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4"/>
          <p:cNvCxnSpPr/>
          <p:nvPr/>
        </p:nvCxnSpPr>
        <p:spPr>
          <a:xfrm flipH="1" rot="10800000">
            <a:off x="7688390" y="5673999"/>
            <a:ext cx="131822" cy="32698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14"/>
          <p:cNvCxnSpPr/>
          <p:nvPr/>
        </p:nvCxnSpPr>
        <p:spPr>
          <a:xfrm flipH="1" rot="10800000">
            <a:off x="7820212" y="5631518"/>
            <a:ext cx="131822" cy="4248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4"/>
          <p:cNvCxnSpPr/>
          <p:nvPr/>
        </p:nvCxnSpPr>
        <p:spPr>
          <a:xfrm flipH="1" rot="10800000">
            <a:off x="7952034" y="5576996"/>
            <a:ext cx="131822" cy="5452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4"/>
          <p:cNvCxnSpPr/>
          <p:nvPr/>
        </p:nvCxnSpPr>
        <p:spPr>
          <a:xfrm flipH="1" rot="10800000">
            <a:off x="8083856" y="5508110"/>
            <a:ext cx="131822" cy="68886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4"/>
          <p:cNvCxnSpPr/>
          <p:nvPr/>
        </p:nvCxnSpPr>
        <p:spPr>
          <a:xfrm flipH="1" rot="10800000">
            <a:off x="8215678" y="5422777"/>
            <a:ext cx="131822" cy="85333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4"/>
          <p:cNvCxnSpPr/>
          <p:nvPr/>
        </p:nvCxnSpPr>
        <p:spPr>
          <a:xfrm flipH="1" rot="10800000">
            <a:off x="8347500" y="5319620"/>
            <a:ext cx="131822" cy="103157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4"/>
          <p:cNvCxnSpPr/>
          <p:nvPr/>
        </p:nvCxnSpPr>
        <p:spPr>
          <a:xfrm flipH="1" rot="10800000">
            <a:off x="8479323" y="5198532"/>
            <a:ext cx="131822" cy="121088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4"/>
          <p:cNvCxnSpPr/>
          <p:nvPr/>
        </p:nvCxnSpPr>
        <p:spPr>
          <a:xfrm flipH="1" rot="10800000">
            <a:off x="8611145" y="5061213"/>
            <a:ext cx="131822" cy="137319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4"/>
          <p:cNvCxnSpPr/>
          <p:nvPr/>
        </p:nvCxnSpPr>
        <p:spPr>
          <a:xfrm flipH="1" rot="10800000">
            <a:off x="8742967" y="4911442"/>
            <a:ext cx="131822" cy="149771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4"/>
          <p:cNvCxnSpPr/>
          <p:nvPr/>
        </p:nvCxnSpPr>
        <p:spPr>
          <a:xfrm flipH="1" rot="10800000">
            <a:off x="8874789" y="4754880"/>
            <a:ext cx="131822" cy="15656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4"/>
          <p:cNvCxnSpPr/>
          <p:nvPr/>
        </p:nvCxnSpPr>
        <p:spPr>
          <a:xfrm flipH="1" rot="10800000">
            <a:off x="9006611" y="4598318"/>
            <a:ext cx="131822" cy="15656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14"/>
          <p:cNvCxnSpPr/>
          <p:nvPr/>
        </p:nvCxnSpPr>
        <p:spPr>
          <a:xfrm flipH="1" rot="10800000">
            <a:off x="9138434" y="4448547"/>
            <a:ext cx="131822" cy="149771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14"/>
          <p:cNvCxnSpPr/>
          <p:nvPr/>
        </p:nvCxnSpPr>
        <p:spPr>
          <a:xfrm flipH="1" rot="10800000">
            <a:off x="9270256" y="4311228"/>
            <a:ext cx="131822" cy="137319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14"/>
          <p:cNvCxnSpPr/>
          <p:nvPr/>
        </p:nvCxnSpPr>
        <p:spPr>
          <a:xfrm flipH="1" rot="10800000">
            <a:off x="9402078" y="4190140"/>
            <a:ext cx="131822" cy="121088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4"/>
          <p:cNvCxnSpPr/>
          <p:nvPr/>
        </p:nvCxnSpPr>
        <p:spPr>
          <a:xfrm flipH="1" rot="10800000">
            <a:off x="9533900" y="4086983"/>
            <a:ext cx="131822" cy="103157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4"/>
          <p:cNvCxnSpPr/>
          <p:nvPr/>
        </p:nvCxnSpPr>
        <p:spPr>
          <a:xfrm flipH="1" rot="10800000">
            <a:off x="9665722" y="4001650"/>
            <a:ext cx="131822" cy="85333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4"/>
          <p:cNvCxnSpPr/>
          <p:nvPr/>
        </p:nvCxnSpPr>
        <p:spPr>
          <a:xfrm flipH="1" rot="10800000">
            <a:off x="9797545" y="3932764"/>
            <a:ext cx="131822" cy="68886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4"/>
          <p:cNvCxnSpPr/>
          <p:nvPr/>
        </p:nvCxnSpPr>
        <p:spPr>
          <a:xfrm flipH="1" rot="10800000">
            <a:off x="9929367" y="3878242"/>
            <a:ext cx="131822" cy="5452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4"/>
          <p:cNvCxnSpPr/>
          <p:nvPr/>
        </p:nvCxnSpPr>
        <p:spPr>
          <a:xfrm flipH="1" rot="10800000">
            <a:off x="10061189" y="3835761"/>
            <a:ext cx="131822" cy="4248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4"/>
          <p:cNvCxnSpPr/>
          <p:nvPr/>
        </p:nvCxnSpPr>
        <p:spPr>
          <a:xfrm flipH="1" rot="10800000">
            <a:off x="10193011" y="3803062"/>
            <a:ext cx="131822" cy="32698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4"/>
          <p:cNvCxnSpPr/>
          <p:nvPr/>
        </p:nvCxnSpPr>
        <p:spPr>
          <a:xfrm flipH="1" rot="10800000">
            <a:off x="10324833" y="3778130"/>
            <a:ext cx="131822" cy="2493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4"/>
          <p:cNvCxnSpPr/>
          <p:nvPr/>
        </p:nvCxnSpPr>
        <p:spPr>
          <a:xfrm flipH="1" rot="10800000">
            <a:off x="10456655" y="3759257"/>
            <a:ext cx="131822" cy="18874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4"/>
          <p:cNvCxnSpPr/>
          <p:nvPr/>
        </p:nvCxnSpPr>
        <p:spPr>
          <a:xfrm flipH="1" rot="10800000">
            <a:off x="10588478" y="3745047"/>
            <a:ext cx="131822" cy="1421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4"/>
          <p:cNvCxnSpPr/>
          <p:nvPr/>
        </p:nvCxnSpPr>
        <p:spPr>
          <a:xfrm flipH="1" rot="10800000">
            <a:off x="10720300" y="3734392"/>
            <a:ext cx="131822" cy="10655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4"/>
          <p:cNvCxnSpPr/>
          <p:nvPr/>
        </p:nvCxnSpPr>
        <p:spPr>
          <a:xfrm flipH="1" rot="10800000">
            <a:off x="10852122" y="3726427"/>
            <a:ext cx="131822" cy="7965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4"/>
          <p:cNvCxnSpPr/>
          <p:nvPr/>
        </p:nvCxnSpPr>
        <p:spPr>
          <a:xfrm flipH="1" rot="10800000">
            <a:off x="10983944" y="3720487"/>
            <a:ext cx="131822" cy="5940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4"/>
          <p:cNvCxnSpPr/>
          <p:nvPr/>
        </p:nvCxnSpPr>
        <p:spPr>
          <a:xfrm flipH="1" rot="10800000">
            <a:off x="11115766" y="3716064"/>
            <a:ext cx="131822" cy="4422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4"/>
          <p:cNvCxnSpPr/>
          <p:nvPr/>
        </p:nvCxnSpPr>
        <p:spPr>
          <a:xfrm flipH="1" rot="10800000">
            <a:off x="11247589" y="3712776"/>
            <a:ext cx="131822" cy="3288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4"/>
          <p:cNvCxnSpPr/>
          <p:nvPr/>
        </p:nvCxnSpPr>
        <p:spPr>
          <a:xfrm flipH="1" rot="10800000">
            <a:off x="11379411" y="3710333"/>
            <a:ext cx="131822" cy="2443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4"/>
          <p:cNvCxnSpPr/>
          <p:nvPr/>
        </p:nvCxnSpPr>
        <p:spPr>
          <a:xfrm flipH="1" rot="10800000">
            <a:off x="11511233" y="3708520"/>
            <a:ext cx="131822" cy="1813"/>
          </a:xfrm>
          <a:prstGeom prst="straightConnector1">
            <a:avLst/>
          </a:prstGeom>
          <a:noFill/>
          <a:ln cap="flat" cmpd="sng" w="285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14"/>
          <p:cNvCxnSpPr/>
          <p:nvPr/>
        </p:nvCxnSpPr>
        <p:spPr>
          <a:xfrm flipH="1" rot="10800000">
            <a:off x="6370168" y="5779555"/>
            <a:ext cx="131822" cy="6934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4"/>
          <p:cNvCxnSpPr/>
          <p:nvPr/>
        </p:nvCxnSpPr>
        <p:spPr>
          <a:xfrm flipH="1" rot="10800000">
            <a:off x="6501990" y="5770234"/>
            <a:ext cx="131822" cy="9321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14"/>
          <p:cNvCxnSpPr/>
          <p:nvPr/>
        </p:nvCxnSpPr>
        <p:spPr>
          <a:xfrm flipH="1" rot="10800000">
            <a:off x="6633812" y="5757720"/>
            <a:ext cx="131822" cy="12514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14"/>
          <p:cNvCxnSpPr/>
          <p:nvPr/>
        </p:nvCxnSpPr>
        <p:spPr>
          <a:xfrm flipH="1" rot="10800000">
            <a:off x="6765634" y="5740953"/>
            <a:ext cx="131822" cy="16767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14"/>
          <p:cNvCxnSpPr/>
          <p:nvPr/>
        </p:nvCxnSpPr>
        <p:spPr>
          <a:xfrm flipH="1" rot="10800000">
            <a:off x="6897456" y="5718544"/>
            <a:ext cx="131822" cy="22409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4"/>
          <p:cNvCxnSpPr/>
          <p:nvPr/>
        </p:nvCxnSpPr>
        <p:spPr>
          <a:xfrm flipH="1" rot="10800000">
            <a:off x="7029279" y="5688700"/>
            <a:ext cx="131822" cy="29844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4"/>
          <p:cNvCxnSpPr/>
          <p:nvPr/>
        </p:nvCxnSpPr>
        <p:spPr>
          <a:xfrm flipH="1" rot="10800000">
            <a:off x="7161101" y="5649137"/>
            <a:ext cx="131822" cy="3956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4"/>
          <p:cNvCxnSpPr/>
          <p:nvPr/>
        </p:nvCxnSpPr>
        <p:spPr>
          <a:xfrm flipH="1" rot="10800000">
            <a:off x="7292923" y="5597021"/>
            <a:ext cx="131822" cy="52116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14"/>
          <p:cNvCxnSpPr/>
          <p:nvPr/>
        </p:nvCxnSpPr>
        <p:spPr>
          <a:xfrm flipH="1" rot="10800000">
            <a:off x="7424745" y="5528942"/>
            <a:ext cx="131822" cy="68079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14"/>
          <p:cNvCxnSpPr/>
          <p:nvPr/>
        </p:nvCxnSpPr>
        <p:spPr>
          <a:xfrm flipH="1" rot="10800000">
            <a:off x="7556567" y="5441009"/>
            <a:ext cx="131822" cy="87933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14"/>
          <p:cNvCxnSpPr/>
          <p:nvPr/>
        </p:nvCxnSpPr>
        <p:spPr>
          <a:xfrm flipH="1" rot="10800000">
            <a:off x="7688390" y="5329131"/>
            <a:ext cx="131822" cy="111878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14"/>
          <p:cNvCxnSpPr/>
          <p:nvPr/>
        </p:nvCxnSpPr>
        <p:spPr>
          <a:xfrm flipH="1" rot="10800000">
            <a:off x="7820212" y="5189619"/>
            <a:ext cx="131822" cy="13951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14"/>
          <p:cNvCxnSpPr/>
          <p:nvPr/>
        </p:nvCxnSpPr>
        <p:spPr>
          <a:xfrm flipH="1" rot="10800000">
            <a:off x="7952034" y="5020240"/>
            <a:ext cx="131822" cy="169380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4"/>
          <p:cNvCxnSpPr/>
          <p:nvPr/>
        </p:nvCxnSpPr>
        <p:spPr>
          <a:xfrm flipH="1" rot="10800000">
            <a:off x="8083856" y="4821781"/>
            <a:ext cx="131822" cy="198459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14"/>
          <p:cNvCxnSpPr/>
          <p:nvPr/>
        </p:nvCxnSpPr>
        <p:spPr>
          <a:xfrm flipH="1" rot="10800000">
            <a:off x="8215678" y="4600006"/>
            <a:ext cx="131822" cy="221775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14"/>
          <p:cNvCxnSpPr/>
          <p:nvPr/>
        </p:nvCxnSpPr>
        <p:spPr>
          <a:xfrm flipH="1" rot="10800000">
            <a:off x="8347500" y="4367466"/>
            <a:ext cx="131822" cy="232540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14"/>
          <p:cNvCxnSpPr/>
          <p:nvPr/>
        </p:nvCxnSpPr>
        <p:spPr>
          <a:xfrm flipH="1" rot="10800000">
            <a:off x="8479323" y="4144164"/>
            <a:ext cx="131822" cy="22330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14"/>
          <p:cNvCxnSpPr/>
          <p:nvPr/>
        </p:nvCxnSpPr>
        <p:spPr>
          <a:xfrm flipH="1" rot="10800000">
            <a:off x="8611145" y="3955822"/>
            <a:ext cx="131822" cy="18834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4"/>
          <p:cNvCxnSpPr/>
          <p:nvPr/>
        </p:nvCxnSpPr>
        <p:spPr>
          <a:xfrm flipH="1" rot="10800000">
            <a:off x="8742967" y="3829036"/>
            <a:ext cx="131822" cy="126786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14"/>
          <p:cNvCxnSpPr/>
          <p:nvPr/>
        </p:nvCxnSpPr>
        <p:spPr>
          <a:xfrm flipH="1" rot="10800000">
            <a:off x="8874789" y="3784209"/>
            <a:ext cx="131822" cy="44826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14"/>
          <p:cNvCxnSpPr/>
          <p:nvPr/>
        </p:nvCxnSpPr>
        <p:spPr>
          <a:xfrm>
            <a:off x="9006611" y="3784209"/>
            <a:ext cx="131822" cy="44826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4"/>
          <p:cNvCxnSpPr/>
          <p:nvPr/>
        </p:nvCxnSpPr>
        <p:spPr>
          <a:xfrm>
            <a:off x="9138434" y="3829036"/>
            <a:ext cx="131822" cy="126786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14"/>
          <p:cNvCxnSpPr/>
          <p:nvPr/>
        </p:nvCxnSpPr>
        <p:spPr>
          <a:xfrm>
            <a:off x="9270256" y="3955822"/>
            <a:ext cx="131822" cy="18834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4"/>
          <p:cNvCxnSpPr/>
          <p:nvPr/>
        </p:nvCxnSpPr>
        <p:spPr>
          <a:xfrm>
            <a:off x="9402078" y="4144164"/>
            <a:ext cx="131822" cy="22330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4"/>
          <p:cNvCxnSpPr/>
          <p:nvPr/>
        </p:nvCxnSpPr>
        <p:spPr>
          <a:xfrm>
            <a:off x="9533900" y="4367466"/>
            <a:ext cx="131822" cy="232540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4"/>
          <p:cNvCxnSpPr/>
          <p:nvPr/>
        </p:nvCxnSpPr>
        <p:spPr>
          <a:xfrm>
            <a:off x="9665722" y="4600006"/>
            <a:ext cx="131822" cy="221775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14"/>
          <p:cNvCxnSpPr/>
          <p:nvPr/>
        </p:nvCxnSpPr>
        <p:spPr>
          <a:xfrm>
            <a:off x="9797545" y="4821781"/>
            <a:ext cx="131822" cy="198459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14"/>
          <p:cNvCxnSpPr/>
          <p:nvPr/>
        </p:nvCxnSpPr>
        <p:spPr>
          <a:xfrm>
            <a:off x="9929367" y="5020240"/>
            <a:ext cx="131822" cy="169380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14"/>
          <p:cNvCxnSpPr/>
          <p:nvPr/>
        </p:nvCxnSpPr>
        <p:spPr>
          <a:xfrm>
            <a:off x="10061189" y="5189619"/>
            <a:ext cx="131822" cy="13951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14"/>
          <p:cNvCxnSpPr/>
          <p:nvPr/>
        </p:nvCxnSpPr>
        <p:spPr>
          <a:xfrm>
            <a:off x="10193011" y="5329131"/>
            <a:ext cx="131822" cy="111878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14"/>
          <p:cNvCxnSpPr/>
          <p:nvPr/>
        </p:nvCxnSpPr>
        <p:spPr>
          <a:xfrm>
            <a:off x="10324833" y="5441009"/>
            <a:ext cx="131822" cy="87933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4"/>
          <p:cNvCxnSpPr/>
          <p:nvPr/>
        </p:nvCxnSpPr>
        <p:spPr>
          <a:xfrm>
            <a:off x="10456655" y="5528942"/>
            <a:ext cx="131822" cy="68079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4"/>
          <p:cNvCxnSpPr/>
          <p:nvPr/>
        </p:nvCxnSpPr>
        <p:spPr>
          <a:xfrm>
            <a:off x="10588478" y="5597021"/>
            <a:ext cx="131822" cy="52116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14"/>
          <p:cNvCxnSpPr/>
          <p:nvPr/>
        </p:nvCxnSpPr>
        <p:spPr>
          <a:xfrm>
            <a:off x="10720300" y="5649137"/>
            <a:ext cx="131822" cy="39562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14"/>
          <p:cNvCxnSpPr/>
          <p:nvPr/>
        </p:nvCxnSpPr>
        <p:spPr>
          <a:xfrm>
            <a:off x="10852122" y="5688700"/>
            <a:ext cx="131822" cy="29844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14"/>
          <p:cNvCxnSpPr/>
          <p:nvPr/>
        </p:nvCxnSpPr>
        <p:spPr>
          <a:xfrm>
            <a:off x="10983944" y="5718544"/>
            <a:ext cx="131822" cy="22409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14"/>
          <p:cNvCxnSpPr/>
          <p:nvPr/>
        </p:nvCxnSpPr>
        <p:spPr>
          <a:xfrm>
            <a:off x="11115766" y="5740953"/>
            <a:ext cx="131822" cy="16767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4"/>
          <p:cNvCxnSpPr/>
          <p:nvPr/>
        </p:nvCxnSpPr>
        <p:spPr>
          <a:xfrm>
            <a:off x="11247589" y="5757720"/>
            <a:ext cx="131822" cy="12514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14"/>
          <p:cNvCxnSpPr/>
          <p:nvPr/>
        </p:nvCxnSpPr>
        <p:spPr>
          <a:xfrm>
            <a:off x="11379411" y="5770234"/>
            <a:ext cx="131822" cy="9321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14"/>
          <p:cNvCxnSpPr/>
          <p:nvPr/>
        </p:nvCxnSpPr>
        <p:spPr>
          <a:xfrm>
            <a:off x="11511233" y="5779555"/>
            <a:ext cx="131822" cy="6934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4"/>
          <p:cNvSpPr txBox="1"/>
          <p:nvPr/>
        </p:nvSpPr>
        <p:spPr>
          <a:xfrm>
            <a:off x="6370168" y="3410712"/>
            <a:ext cx="527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гладкая активация (сигмоида)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6370168" y="5861304"/>
            <a:ext cx="5272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синяя — f(x);  оранжевая — f′(x): гладкая, непрерывная, не бинарная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ОТ СУММЫ К ЛИНИИ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Как из суммы рождается значение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12/23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548640" y="141732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z = w·x + b — это просто число, которое можно посчитать в КАЖДОЙ точке пространства признаков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Ниже — тепловая карта значения z: синим показаны отрицательные z (класс 0), оранжевым — положительные (класс 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914400" y="5873496"/>
            <a:ext cx="288000" cy="266700"/>
          </a:xfrm>
          <a:prstGeom prst="rect">
            <a:avLst/>
          </a:prstGeom>
          <a:solidFill>
            <a:srgbClr val="333B7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914400" y="5620512"/>
            <a:ext cx="288000" cy="266700"/>
          </a:xfrm>
          <a:prstGeom prst="rect">
            <a:avLst/>
          </a:prstGeom>
          <a:solidFill>
            <a:srgbClr val="4C538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914400" y="5367528"/>
            <a:ext cx="288000" cy="266700"/>
          </a:xfrm>
          <a:prstGeom prst="rect">
            <a:avLst/>
          </a:prstGeom>
          <a:solidFill>
            <a:srgbClr val="656B9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914400" y="5114544"/>
            <a:ext cx="288000" cy="266700"/>
          </a:xfrm>
          <a:prstGeom prst="rect">
            <a:avLst/>
          </a:prstGeom>
          <a:solidFill>
            <a:srgbClr val="7E83A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914400" y="4861560"/>
            <a:ext cx="288000" cy="266700"/>
          </a:xfrm>
          <a:prstGeom prst="rect">
            <a:avLst/>
          </a:prstGeom>
          <a:solidFill>
            <a:srgbClr val="979BB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914400" y="4608576"/>
            <a:ext cx="288000" cy="266700"/>
          </a:xfrm>
          <a:prstGeom prst="rect">
            <a:avLst/>
          </a:prstGeom>
          <a:solidFill>
            <a:srgbClr val="B0B3C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914400" y="4355592"/>
            <a:ext cx="288000" cy="266700"/>
          </a:xfrm>
          <a:prstGeom prst="rect">
            <a:avLst/>
          </a:prstGeom>
          <a:solidFill>
            <a:srgbClr val="C9CBD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914400" y="4102608"/>
            <a:ext cx="288000" cy="266700"/>
          </a:xfrm>
          <a:prstGeom prst="rect">
            <a:avLst/>
          </a:prstGeom>
          <a:solidFill>
            <a:srgbClr val="E2E3E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914400" y="3849624"/>
            <a:ext cx="288000" cy="266700"/>
          </a:xfrm>
          <a:prstGeom prst="rect">
            <a:avLst/>
          </a:prstGeom>
          <a:solidFill>
            <a:srgbClr val="FBFBF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914400" y="3596640"/>
            <a:ext cx="288000" cy="266700"/>
          </a:xfrm>
          <a:prstGeom prst="rect">
            <a:avLst/>
          </a:prstGeom>
          <a:solidFill>
            <a:srgbClr val="FEFC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914400" y="3343656"/>
            <a:ext cx="288000" cy="266700"/>
          </a:xfrm>
          <a:prstGeom prst="rect">
            <a:avLst/>
          </a:prstGeom>
          <a:solidFill>
            <a:srgbClr val="FEF7E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914400" y="3090672"/>
            <a:ext cx="288000" cy="266700"/>
          </a:xfrm>
          <a:prstGeom prst="rect">
            <a:avLst/>
          </a:prstGeom>
          <a:solidFill>
            <a:srgbClr val="FDF3E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914400" y="2837688"/>
            <a:ext cx="288000" cy="266700"/>
          </a:xfrm>
          <a:prstGeom prst="rect">
            <a:avLst/>
          </a:prstGeom>
          <a:solidFill>
            <a:srgbClr val="FDEFD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914400" y="2584704"/>
            <a:ext cx="288000" cy="266700"/>
          </a:xfrm>
          <a:prstGeom prst="rect">
            <a:avLst/>
          </a:prstGeom>
          <a:solidFill>
            <a:srgbClr val="FCEBD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914400" y="2331720"/>
            <a:ext cx="288000" cy="266700"/>
          </a:xfrm>
          <a:prstGeom prst="rect">
            <a:avLst/>
          </a:prstGeom>
          <a:solidFill>
            <a:srgbClr val="FBE7C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1188720" y="5873496"/>
            <a:ext cx="288000" cy="266700"/>
          </a:xfrm>
          <a:prstGeom prst="rect">
            <a:avLst/>
          </a:prstGeom>
          <a:solidFill>
            <a:srgbClr val="444C7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1188720" y="5620512"/>
            <a:ext cx="288000" cy="266700"/>
          </a:xfrm>
          <a:prstGeom prst="rect">
            <a:avLst/>
          </a:prstGeom>
          <a:solidFill>
            <a:srgbClr val="5D648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1188720" y="5367528"/>
            <a:ext cx="288000" cy="266700"/>
          </a:xfrm>
          <a:prstGeom prst="rect">
            <a:avLst/>
          </a:prstGeom>
          <a:solidFill>
            <a:srgbClr val="767C9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1188720" y="5114544"/>
            <a:ext cx="288000" cy="266700"/>
          </a:xfrm>
          <a:prstGeom prst="rect">
            <a:avLst/>
          </a:prstGeom>
          <a:solidFill>
            <a:srgbClr val="8F94B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188720" y="4861560"/>
            <a:ext cx="288000" cy="266700"/>
          </a:xfrm>
          <a:prstGeom prst="rect">
            <a:avLst/>
          </a:prstGeom>
          <a:solidFill>
            <a:srgbClr val="A8ACC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1188720" y="4608576"/>
            <a:ext cx="288000" cy="266700"/>
          </a:xfrm>
          <a:prstGeom prst="rect">
            <a:avLst/>
          </a:prstGeom>
          <a:solidFill>
            <a:srgbClr val="C1C4D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188720" y="4355592"/>
            <a:ext cx="288000" cy="266700"/>
          </a:xfrm>
          <a:prstGeom prst="rect">
            <a:avLst/>
          </a:prstGeom>
          <a:solidFill>
            <a:srgbClr val="DADCE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1188720" y="4102608"/>
            <a:ext cx="288000" cy="266700"/>
          </a:xfrm>
          <a:prstGeom prst="rect">
            <a:avLst/>
          </a:prstGeom>
          <a:solidFill>
            <a:srgbClr val="F3F4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1188720" y="3849624"/>
            <a:ext cx="288000" cy="266700"/>
          </a:xfrm>
          <a:prstGeom prst="rect">
            <a:avLst/>
          </a:prstGeom>
          <a:solidFill>
            <a:srgbClr val="FFFDF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1188720" y="3596640"/>
            <a:ext cx="288000" cy="266700"/>
          </a:xfrm>
          <a:prstGeom prst="rect">
            <a:avLst/>
          </a:prstGeom>
          <a:solidFill>
            <a:srgbClr val="FEF9F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1188720" y="3343656"/>
            <a:ext cx="288000" cy="266700"/>
          </a:xfrm>
          <a:prstGeom prst="rect">
            <a:avLst/>
          </a:prstGeom>
          <a:solidFill>
            <a:srgbClr val="FDF5E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1188720" y="3090672"/>
            <a:ext cx="288000" cy="266700"/>
          </a:xfrm>
          <a:prstGeom prst="rect">
            <a:avLst/>
          </a:prstGeom>
          <a:solidFill>
            <a:srgbClr val="FDF1D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188720" y="2837688"/>
            <a:ext cx="288000" cy="266700"/>
          </a:xfrm>
          <a:prstGeom prst="rect">
            <a:avLst/>
          </a:prstGeom>
          <a:solidFill>
            <a:srgbClr val="FCECD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1188720" y="2584704"/>
            <a:ext cx="288000" cy="266700"/>
          </a:xfrm>
          <a:prstGeom prst="rect">
            <a:avLst/>
          </a:prstGeom>
          <a:solidFill>
            <a:srgbClr val="FCE8C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1188720" y="2331720"/>
            <a:ext cx="288000" cy="266700"/>
          </a:xfrm>
          <a:prstGeom prst="rect">
            <a:avLst/>
          </a:prstGeom>
          <a:solidFill>
            <a:srgbClr val="FBE4C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1463040" y="5873496"/>
            <a:ext cx="288000" cy="266700"/>
          </a:xfrm>
          <a:prstGeom prst="rect">
            <a:avLst/>
          </a:prstGeom>
          <a:solidFill>
            <a:srgbClr val="555C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1463040" y="5620512"/>
            <a:ext cx="288000" cy="266700"/>
          </a:xfrm>
          <a:prstGeom prst="rect">
            <a:avLst/>
          </a:prstGeom>
          <a:solidFill>
            <a:srgbClr val="6E749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1463040" y="5367528"/>
            <a:ext cx="288000" cy="266700"/>
          </a:xfrm>
          <a:prstGeom prst="rect">
            <a:avLst/>
          </a:prstGeom>
          <a:solidFill>
            <a:srgbClr val="878CA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1463040" y="5114544"/>
            <a:ext cx="288000" cy="266700"/>
          </a:xfrm>
          <a:prstGeom prst="rect">
            <a:avLst/>
          </a:prstGeom>
          <a:solidFill>
            <a:srgbClr val="A0A4B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1463040" y="4861560"/>
            <a:ext cx="288000" cy="266700"/>
          </a:xfrm>
          <a:prstGeom prst="rect">
            <a:avLst/>
          </a:prstGeom>
          <a:solidFill>
            <a:srgbClr val="B9BCC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1463040" y="4608576"/>
            <a:ext cx="288000" cy="266700"/>
          </a:xfrm>
          <a:prstGeom prst="rect">
            <a:avLst/>
          </a:prstGeom>
          <a:solidFill>
            <a:srgbClr val="D2D4D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1463040" y="4355592"/>
            <a:ext cx="288000" cy="266700"/>
          </a:xfrm>
          <a:prstGeom prst="rect">
            <a:avLst/>
          </a:prstGeom>
          <a:solidFill>
            <a:srgbClr val="EBECF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1463040" y="4102608"/>
            <a:ext cx="288000" cy="266700"/>
          </a:xfrm>
          <a:prstGeom prst="rect">
            <a:avLst/>
          </a:prstGeom>
          <a:solidFill>
            <a:srgbClr val="FFFE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1463040" y="3849624"/>
            <a:ext cx="288000" cy="266700"/>
          </a:xfrm>
          <a:prstGeom prst="rect">
            <a:avLst/>
          </a:prstGeom>
          <a:solidFill>
            <a:srgbClr val="FEFAF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1463040" y="3596640"/>
            <a:ext cx="288000" cy="266700"/>
          </a:xfrm>
          <a:prstGeom prst="rect">
            <a:avLst/>
          </a:prstGeom>
          <a:solidFill>
            <a:srgbClr val="FEF6E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1463040" y="3343656"/>
            <a:ext cx="288000" cy="266700"/>
          </a:xfrm>
          <a:prstGeom prst="rect">
            <a:avLst/>
          </a:prstGeom>
          <a:solidFill>
            <a:srgbClr val="FDF2E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1463040" y="3090672"/>
            <a:ext cx="288000" cy="266700"/>
          </a:xfrm>
          <a:prstGeom prst="rect">
            <a:avLst/>
          </a:prstGeom>
          <a:solidFill>
            <a:srgbClr val="FCEED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1463040" y="2837688"/>
            <a:ext cx="288000" cy="266700"/>
          </a:xfrm>
          <a:prstGeom prst="rect">
            <a:avLst/>
          </a:prstGeom>
          <a:solidFill>
            <a:srgbClr val="FCEAC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1463040" y="2584704"/>
            <a:ext cx="288000" cy="266700"/>
          </a:xfrm>
          <a:prstGeom prst="rect">
            <a:avLst/>
          </a:prstGeom>
          <a:solidFill>
            <a:srgbClr val="FBE6C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1463040" y="2331720"/>
            <a:ext cx="288000" cy="266700"/>
          </a:xfrm>
          <a:prstGeom prst="rect">
            <a:avLst/>
          </a:prstGeom>
          <a:solidFill>
            <a:srgbClr val="FBE1B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1737360" y="5873496"/>
            <a:ext cx="288000" cy="266700"/>
          </a:xfrm>
          <a:prstGeom prst="rect">
            <a:avLst/>
          </a:prstGeom>
          <a:solidFill>
            <a:srgbClr val="666C9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1737360" y="5620512"/>
            <a:ext cx="288000" cy="266700"/>
          </a:xfrm>
          <a:prstGeom prst="rect">
            <a:avLst/>
          </a:prstGeom>
          <a:solidFill>
            <a:srgbClr val="7F84A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1737360" y="5367528"/>
            <a:ext cx="288000" cy="266700"/>
          </a:xfrm>
          <a:prstGeom prst="rect">
            <a:avLst/>
          </a:prstGeom>
          <a:solidFill>
            <a:srgbClr val="989CB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1737360" y="5114544"/>
            <a:ext cx="288000" cy="266700"/>
          </a:xfrm>
          <a:prstGeom prst="rect">
            <a:avLst/>
          </a:prstGeom>
          <a:solidFill>
            <a:srgbClr val="B1B4C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1737360" y="4861560"/>
            <a:ext cx="288000" cy="266700"/>
          </a:xfrm>
          <a:prstGeom prst="rect">
            <a:avLst/>
          </a:prstGeom>
          <a:solidFill>
            <a:srgbClr val="CACCD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1737360" y="4608576"/>
            <a:ext cx="288000" cy="266700"/>
          </a:xfrm>
          <a:prstGeom prst="rect">
            <a:avLst/>
          </a:prstGeom>
          <a:solidFill>
            <a:srgbClr val="E3E4E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1737360" y="4355592"/>
            <a:ext cx="288000" cy="266700"/>
          </a:xfrm>
          <a:prstGeom prst="rect">
            <a:avLst/>
          </a:prstGeom>
          <a:solidFill>
            <a:srgbClr val="FCF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1737360" y="4102608"/>
            <a:ext cx="288000" cy="266700"/>
          </a:xfrm>
          <a:prstGeom prst="rect">
            <a:avLst/>
          </a:prstGeom>
          <a:solidFill>
            <a:srgbClr val="FEFB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1737360" y="3849624"/>
            <a:ext cx="288000" cy="266700"/>
          </a:xfrm>
          <a:prstGeom prst="rect">
            <a:avLst/>
          </a:prstGeom>
          <a:solidFill>
            <a:srgbClr val="FEF7E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1737360" y="3596640"/>
            <a:ext cx="288000" cy="266700"/>
          </a:xfrm>
          <a:prstGeom prst="rect">
            <a:avLst/>
          </a:prstGeom>
          <a:solidFill>
            <a:srgbClr val="FDF3E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1737360" y="3343656"/>
            <a:ext cx="288000" cy="266700"/>
          </a:xfrm>
          <a:prstGeom prst="rect">
            <a:avLst/>
          </a:prstGeom>
          <a:solidFill>
            <a:srgbClr val="FDEFD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1737360" y="3090672"/>
            <a:ext cx="288000" cy="266700"/>
          </a:xfrm>
          <a:prstGeom prst="rect">
            <a:avLst/>
          </a:prstGeom>
          <a:solidFill>
            <a:srgbClr val="FCEBD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1737360" y="2837688"/>
            <a:ext cx="288000" cy="266700"/>
          </a:xfrm>
          <a:prstGeom prst="rect">
            <a:avLst/>
          </a:prstGeom>
          <a:solidFill>
            <a:srgbClr val="FBE7C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1737360" y="2584704"/>
            <a:ext cx="288000" cy="266700"/>
          </a:xfrm>
          <a:prstGeom prst="rect">
            <a:avLst/>
          </a:prstGeom>
          <a:solidFill>
            <a:srgbClr val="FBE3B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1737360" y="2331720"/>
            <a:ext cx="288000" cy="266700"/>
          </a:xfrm>
          <a:prstGeom prst="rect">
            <a:avLst/>
          </a:prstGeom>
          <a:solidFill>
            <a:srgbClr val="FADFB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2011680" y="5873496"/>
            <a:ext cx="288000" cy="266700"/>
          </a:xfrm>
          <a:prstGeom prst="rect">
            <a:avLst/>
          </a:prstGeom>
          <a:solidFill>
            <a:srgbClr val="777DA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2011680" y="5620512"/>
            <a:ext cx="288000" cy="266700"/>
          </a:xfrm>
          <a:prstGeom prst="rect">
            <a:avLst/>
          </a:prstGeom>
          <a:solidFill>
            <a:srgbClr val="9095B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2011680" y="5367528"/>
            <a:ext cx="288000" cy="266700"/>
          </a:xfrm>
          <a:prstGeom prst="rect">
            <a:avLst/>
          </a:prstGeom>
          <a:solidFill>
            <a:srgbClr val="A9ADC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2011680" y="5114544"/>
            <a:ext cx="288000" cy="266700"/>
          </a:xfrm>
          <a:prstGeom prst="rect">
            <a:avLst/>
          </a:prstGeom>
          <a:solidFill>
            <a:srgbClr val="C2C5D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2011680" y="4861560"/>
            <a:ext cx="288000" cy="266700"/>
          </a:xfrm>
          <a:prstGeom prst="rect">
            <a:avLst/>
          </a:prstGeom>
          <a:solidFill>
            <a:srgbClr val="DBDDE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2011680" y="4608576"/>
            <a:ext cx="288000" cy="266700"/>
          </a:xfrm>
          <a:prstGeom prst="rect">
            <a:avLst/>
          </a:prstGeom>
          <a:solidFill>
            <a:srgbClr val="F4F5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2011680" y="4355592"/>
            <a:ext cx="288000" cy="266700"/>
          </a:xfrm>
          <a:prstGeom prst="rect">
            <a:avLst/>
          </a:prstGeom>
          <a:solidFill>
            <a:srgbClr val="FFFDF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2011680" y="4102608"/>
            <a:ext cx="288000" cy="266700"/>
          </a:xfrm>
          <a:prstGeom prst="rect">
            <a:avLst/>
          </a:prstGeom>
          <a:solidFill>
            <a:srgbClr val="FEF9F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2011680" y="3849624"/>
            <a:ext cx="288000" cy="266700"/>
          </a:xfrm>
          <a:prstGeom prst="rect">
            <a:avLst/>
          </a:prstGeom>
          <a:solidFill>
            <a:srgbClr val="FDF4E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2011680" y="3596640"/>
            <a:ext cx="288000" cy="266700"/>
          </a:xfrm>
          <a:prstGeom prst="rect">
            <a:avLst/>
          </a:prstGeom>
          <a:solidFill>
            <a:srgbClr val="FDF0D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2011680" y="3343656"/>
            <a:ext cx="288000" cy="266700"/>
          </a:xfrm>
          <a:prstGeom prst="rect">
            <a:avLst/>
          </a:prstGeom>
          <a:solidFill>
            <a:srgbClr val="FCECD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2011680" y="3090672"/>
            <a:ext cx="288000" cy="266700"/>
          </a:xfrm>
          <a:prstGeom prst="rect">
            <a:avLst/>
          </a:prstGeom>
          <a:solidFill>
            <a:srgbClr val="FCE8C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2011680" y="2837688"/>
            <a:ext cx="288000" cy="266700"/>
          </a:xfrm>
          <a:prstGeom prst="rect">
            <a:avLst/>
          </a:prstGeom>
          <a:solidFill>
            <a:srgbClr val="FBE4C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2011680" y="2584704"/>
            <a:ext cx="288000" cy="266700"/>
          </a:xfrm>
          <a:prstGeom prst="rect">
            <a:avLst/>
          </a:prstGeom>
          <a:solidFill>
            <a:srgbClr val="FAE0B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2011680" y="2331720"/>
            <a:ext cx="288000" cy="266700"/>
          </a:xfrm>
          <a:prstGeom prst="rect">
            <a:avLst/>
          </a:prstGeom>
          <a:solidFill>
            <a:srgbClr val="FADCA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2286000" y="5873496"/>
            <a:ext cx="288000" cy="266700"/>
          </a:xfrm>
          <a:prstGeom prst="rect">
            <a:avLst/>
          </a:prstGeom>
          <a:solidFill>
            <a:srgbClr val="888DA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2286000" y="5620512"/>
            <a:ext cx="288000" cy="266700"/>
          </a:xfrm>
          <a:prstGeom prst="rect">
            <a:avLst/>
          </a:prstGeom>
          <a:solidFill>
            <a:srgbClr val="A1A5B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2286000" y="5367528"/>
            <a:ext cx="288000" cy="266700"/>
          </a:xfrm>
          <a:prstGeom prst="rect">
            <a:avLst/>
          </a:prstGeom>
          <a:solidFill>
            <a:srgbClr val="BABDC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2286000" y="5114544"/>
            <a:ext cx="288000" cy="266700"/>
          </a:xfrm>
          <a:prstGeom prst="rect">
            <a:avLst/>
          </a:prstGeom>
          <a:solidFill>
            <a:srgbClr val="D3D5E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2286000" y="4861560"/>
            <a:ext cx="288000" cy="266700"/>
          </a:xfrm>
          <a:prstGeom prst="rect">
            <a:avLst/>
          </a:prstGeom>
          <a:solidFill>
            <a:srgbClr val="ECEDF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2286000" y="4608576"/>
            <a:ext cx="288000" cy="266700"/>
          </a:xfrm>
          <a:prstGeom prst="rect">
            <a:avLst/>
          </a:prstGeom>
          <a:solidFill>
            <a:srgbClr val="FFFE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2286000" y="4355592"/>
            <a:ext cx="288000" cy="266700"/>
          </a:xfrm>
          <a:prstGeom prst="rect">
            <a:avLst/>
          </a:prstGeom>
          <a:solidFill>
            <a:srgbClr val="FEFAF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2286000" y="4102608"/>
            <a:ext cx="288000" cy="266700"/>
          </a:xfrm>
          <a:prstGeom prst="rect">
            <a:avLst/>
          </a:prstGeom>
          <a:solidFill>
            <a:srgbClr val="FEF6E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2286000" y="3849624"/>
            <a:ext cx="288000" cy="266700"/>
          </a:xfrm>
          <a:prstGeom prst="rect">
            <a:avLst/>
          </a:prstGeom>
          <a:solidFill>
            <a:srgbClr val="FDF2E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2286000" y="3596640"/>
            <a:ext cx="288000" cy="266700"/>
          </a:xfrm>
          <a:prstGeom prst="rect">
            <a:avLst/>
          </a:prstGeom>
          <a:solidFill>
            <a:srgbClr val="FCEED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2286000" y="3343656"/>
            <a:ext cx="288000" cy="266700"/>
          </a:xfrm>
          <a:prstGeom prst="rect">
            <a:avLst/>
          </a:prstGeom>
          <a:solidFill>
            <a:srgbClr val="FCEAC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2286000" y="3090672"/>
            <a:ext cx="288000" cy="266700"/>
          </a:xfrm>
          <a:prstGeom prst="rect">
            <a:avLst/>
          </a:prstGeom>
          <a:solidFill>
            <a:srgbClr val="FBE5C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2286000" y="2837688"/>
            <a:ext cx="288000" cy="266700"/>
          </a:xfrm>
          <a:prstGeom prst="rect">
            <a:avLst/>
          </a:prstGeom>
          <a:solidFill>
            <a:srgbClr val="FBE1B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2286000" y="2584704"/>
            <a:ext cx="288000" cy="266700"/>
          </a:xfrm>
          <a:prstGeom prst="rect">
            <a:avLst/>
          </a:prstGeom>
          <a:solidFill>
            <a:srgbClr val="FADDB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2286000" y="2331720"/>
            <a:ext cx="288000" cy="266700"/>
          </a:xfrm>
          <a:prstGeom prst="rect">
            <a:avLst/>
          </a:prstGeom>
          <a:solidFill>
            <a:srgbClr val="F9D9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2560320" y="5873496"/>
            <a:ext cx="288000" cy="266700"/>
          </a:xfrm>
          <a:prstGeom prst="rect">
            <a:avLst/>
          </a:prstGeom>
          <a:solidFill>
            <a:srgbClr val="999DB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2560320" y="5620512"/>
            <a:ext cx="288000" cy="266700"/>
          </a:xfrm>
          <a:prstGeom prst="rect">
            <a:avLst/>
          </a:prstGeom>
          <a:solidFill>
            <a:srgbClr val="B2B5C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2560320" y="5367528"/>
            <a:ext cx="288000" cy="266700"/>
          </a:xfrm>
          <a:prstGeom prst="rect">
            <a:avLst/>
          </a:prstGeom>
          <a:solidFill>
            <a:srgbClr val="CBCDD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2560320" y="5114544"/>
            <a:ext cx="288000" cy="266700"/>
          </a:xfrm>
          <a:prstGeom prst="rect">
            <a:avLst/>
          </a:prstGeom>
          <a:solidFill>
            <a:srgbClr val="E4E5E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2560320" y="4861560"/>
            <a:ext cx="288000" cy="266700"/>
          </a:xfrm>
          <a:prstGeom prst="rect">
            <a:avLst/>
          </a:prstGeom>
          <a:solidFill>
            <a:srgbClr val="FDFDF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2560320" y="4608576"/>
            <a:ext cx="288000" cy="266700"/>
          </a:xfrm>
          <a:prstGeom prst="rect">
            <a:avLst/>
          </a:prstGeom>
          <a:solidFill>
            <a:srgbClr val="FEFBF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2560320" y="4355592"/>
            <a:ext cx="288000" cy="266700"/>
          </a:xfrm>
          <a:prstGeom prst="rect">
            <a:avLst/>
          </a:prstGeom>
          <a:solidFill>
            <a:srgbClr val="FEF7E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2560320" y="4102608"/>
            <a:ext cx="288000" cy="266700"/>
          </a:xfrm>
          <a:prstGeom prst="rect">
            <a:avLst/>
          </a:prstGeom>
          <a:solidFill>
            <a:srgbClr val="FDF3E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2560320" y="3849624"/>
            <a:ext cx="288000" cy="266700"/>
          </a:xfrm>
          <a:prstGeom prst="rect">
            <a:avLst/>
          </a:prstGeom>
          <a:solidFill>
            <a:srgbClr val="FDEFD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2560320" y="3596640"/>
            <a:ext cx="288000" cy="266700"/>
          </a:xfrm>
          <a:prstGeom prst="rect">
            <a:avLst/>
          </a:prstGeom>
          <a:solidFill>
            <a:srgbClr val="FCEBD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2560320" y="3343656"/>
            <a:ext cx="288000" cy="266700"/>
          </a:xfrm>
          <a:prstGeom prst="rect">
            <a:avLst/>
          </a:prstGeom>
          <a:solidFill>
            <a:srgbClr val="FBE7C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2560320" y="3090672"/>
            <a:ext cx="288000" cy="266700"/>
          </a:xfrm>
          <a:prstGeom prst="rect">
            <a:avLst/>
          </a:prstGeom>
          <a:solidFill>
            <a:srgbClr val="FBE3B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2560320" y="2837688"/>
            <a:ext cx="288000" cy="266700"/>
          </a:xfrm>
          <a:prstGeom prst="rect">
            <a:avLst/>
          </a:prstGeom>
          <a:solidFill>
            <a:srgbClr val="FADFB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2560320" y="2584704"/>
            <a:ext cx="288000" cy="266700"/>
          </a:xfrm>
          <a:prstGeom prst="rect">
            <a:avLst/>
          </a:prstGeom>
          <a:solidFill>
            <a:srgbClr val="F9DAA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2560320" y="2331720"/>
            <a:ext cx="288000" cy="266700"/>
          </a:xfrm>
          <a:prstGeom prst="rect">
            <a:avLst/>
          </a:prstGeom>
          <a:solidFill>
            <a:srgbClr val="F9D6A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2834640" y="5873496"/>
            <a:ext cx="288000" cy="266700"/>
          </a:xfrm>
          <a:prstGeom prst="rect">
            <a:avLst/>
          </a:prstGeom>
          <a:solidFill>
            <a:srgbClr val="AAAEC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2834640" y="5620512"/>
            <a:ext cx="288000" cy="266700"/>
          </a:xfrm>
          <a:prstGeom prst="rect">
            <a:avLst/>
          </a:prstGeom>
          <a:solidFill>
            <a:srgbClr val="C3C6D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2834640" y="5367528"/>
            <a:ext cx="288000" cy="266700"/>
          </a:xfrm>
          <a:prstGeom prst="rect">
            <a:avLst/>
          </a:prstGeom>
          <a:solidFill>
            <a:srgbClr val="DCDEE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2834640" y="5114544"/>
            <a:ext cx="288000" cy="2667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2834640" y="4861560"/>
            <a:ext cx="288000" cy="266700"/>
          </a:xfrm>
          <a:prstGeom prst="rect">
            <a:avLst/>
          </a:prstGeom>
          <a:solidFill>
            <a:srgbClr val="FFFC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2834640" y="4608576"/>
            <a:ext cx="288000" cy="266700"/>
          </a:xfrm>
          <a:prstGeom prst="rect">
            <a:avLst/>
          </a:prstGeom>
          <a:solidFill>
            <a:srgbClr val="FEF8F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2834640" y="4355592"/>
            <a:ext cx="288000" cy="266700"/>
          </a:xfrm>
          <a:prstGeom prst="rect">
            <a:avLst/>
          </a:prstGeom>
          <a:solidFill>
            <a:srgbClr val="FDF4E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2834640" y="4102608"/>
            <a:ext cx="288000" cy="266700"/>
          </a:xfrm>
          <a:prstGeom prst="rect">
            <a:avLst/>
          </a:prstGeom>
          <a:solidFill>
            <a:srgbClr val="FDF0D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2834640" y="3849624"/>
            <a:ext cx="288000" cy="266700"/>
          </a:xfrm>
          <a:prstGeom prst="rect">
            <a:avLst/>
          </a:prstGeom>
          <a:solidFill>
            <a:srgbClr val="FCECD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2834640" y="3596640"/>
            <a:ext cx="288000" cy="266700"/>
          </a:xfrm>
          <a:prstGeom prst="rect">
            <a:avLst/>
          </a:prstGeom>
          <a:solidFill>
            <a:srgbClr val="FCE8C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2834640" y="3343656"/>
            <a:ext cx="288000" cy="266700"/>
          </a:xfrm>
          <a:prstGeom prst="rect">
            <a:avLst/>
          </a:prstGeom>
          <a:solidFill>
            <a:srgbClr val="FBE4C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2834640" y="3090672"/>
            <a:ext cx="288000" cy="266700"/>
          </a:xfrm>
          <a:prstGeom prst="rect">
            <a:avLst/>
          </a:prstGeom>
          <a:solidFill>
            <a:srgbClr val="FAE0B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2834640" y="2837688"/>
            <a:ext cx="288000" cy="266700"/>
          </a:xfrm>
          <a:prstGeom prst="rect">
            <a:avLst/>
          </a:prstGeom>
          <a:solidFill>
            <a:srgbClr val="FADCA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2834640" y="2584704"/>
            <a:ext cx="288000" cy="266700"/>
          </a:xfrm>
          <a:prstGeom prst="rect">
            <a:avLst/>
          </a:prstGeom>
          <a:solidFill>
            <a:srgbClr val="F9D8A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2834640" y="2331720"/>
            <a:ext cx="288000" cy="266700"/>
          </a:xfrm>
          <a:prstGeom prst="rect">
            <a:avLst/>
          </a:prstGeom>
          <a:solidFill>
            <a:srgbClr val="F8D49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3108960" y="5873496"/>
            <a:ext cx="288000" cy="266700"/>
          </a:xfrm>
          <a:prstGeom prst="rect">
            <a:avLst/>
          </a:prstGeom>
          <a:solidFill>
            <a:srgbClr val="BBBED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3108960" y="5620512"/>
            <a:ext cx="288000" cy="266700"/>
          </a:xfrm>
          <a:prstGeom prst="rect">
            <a:avLst/>
          </a:prstGeom>
          <a:solidFill>
            <a:srgbClr val="D4D6E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5"/>
          <p:cNvSpPr/>
          <p:nvPr/>
        </p:nvSpPr>
        <p:spPr>
          <a:xfrm>
            <a:off x="3108960" y="5367528"/>
            <a:ext cx="288000" cy="266700"/>
          </a:xfrm>
          <a:prstGeom prst="rect">
            <a:avLst/>
          </a:prstGeom>
          <a:solidFill>
            <a:srgbClr val="EDEEF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3108960" y="5114544"/>
            <a:ext cx="288000" cy="266700"/>
          </a:xfrm>
          <a:prstGeom prst="rect">
            <a:avLst/>
          </a:prstGeom>
          <a:solidFill>
            <a:srgbClr val="FFFEF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3108960" y="4861560"/>
            <a:ext cx="288000" cy="266700"/>
          </a:xfrm>
          <a:prstGeom prst="rect">
            <a:avLst/>
          </a:prstGeom>
          <a:solidFill>
            <a:srgbClr val="FEFAF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3108960" y="4608576"/>
            <a:ext cx="288000" cy="266700"/>
          </a:xfrm>
          <a:prstGeom prst="rect">
            <a:avLst/>
          </a:prstGeom>
          <a:solidFill>
            <a:srgbClr val="FEF6E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3108960" y="4355592"/>
            <a:ext cx="288000" cy="266700"/>
          </a:xfrm>
          <a:prstGeom prst="rect">
            <a:avLst/>
          </a:prstGeom>
          <a:solidFill>
            <a:srgbClr val="FDF2E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3108960" y="4102608"/>
            <a:ext cx="288000" cy="266700"/>
          </a:xfrm>
          <a:prstGeom prst="rect">
            <a:avLst/>
          </a:prstGeom>
          <a:solidFill>
            <a:srgbClr val="FCEDD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3108960" y="3849624"/>
            <a:ext cx="288000" cy="266700"/>
          </a:xfrm>
          <a:prstGeom prst="rect">
            <a:avLst/>
          </a:prstGeom>
          <a:solidFill>
            <a:srgbClr val="FCE9C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3108960" y="3596640"/>
            <a:ext cx="288000" cy="266700"/>
          </a:xfrm>
          <a:prstGeom prst="rect">
            <a:avLst/>
          </a:prstGeom>
          <a:solidFill>
            <a:srgbClr val="FBE5C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3108960" y="3343656"/>
            <a:ext cx="288000" cy="266700"/>
          </a:xfrm>
          <a:prstGeom prst="rect">
            <a:avLst/>
          </a:prstGeom>
          <a:solidFill>
            <a:srgbClr val="FAE1B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3108960" y="3090672"/>
            <a:ext cx="288000" cy="266700"/>
          </a:xfrm>
          <a:prstGeom prst="rect">
            <a:avLst/>
          </a:prstGeom>
          <a:solidFill>
            <a:srgbClr val="FADDB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5"/>
          <p:cNvSpPr/>
          <p:nvPr/>
        </p:nvSpPr>
        <p:spPr>
          <a:xfrm>
            <a:off x="3108960" y="2837688"/>
            <a:ext cx="288000" cy="266700"/>
          </a:xfrm>
          <a:prstGeom prst="rect">
            <a:avLst/>
          </a:prstGeom>
          <a:solidFill>
            <a:srgbClr val="F9D9A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3108960" y="2584704"/>
            <a:ext cx="288000" cy="266700"/>
          </a:xfrm>
          <a:prstGeom prst="rect">
            <a:avLst/>
          </a:prstGeom>
          <a:solidFill>
            <a:srgbClr val="F9D59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3108960" y="2331720"/>
            <a:ext cx="288000" cy="266700"/>
          </a:xfrm>
          <a:prstGeom prst="rect">
            <a:avLst/>
          </a:prstGeom>
          <a:solidFill>
            <a:srgbClr val="F8D19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3383280" y="5873496"/>
            <a:ext cx="288000" cy="266700"/>
          </a:xfrm>
          <a:prstGeom prst="rect">
            <a:avLst/>
          </a:prstGeom>
          <a:solidFill>
            <a:srgbClr val="CCCED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3383280" y="5620512"/>
            <a:ext cx="288000" cy="266700"/>
          </a:xfrm>
          <a:prstGeom prst="rect">
            <a:avLst/>
          </a:prstGeom>
          <a:solidFill>
            <a:srgbClr val="E5E6E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3383280" y="5367528"/>
            <a:ext cx="288000" cy="266700"/>
          </a:xfrm>
          <a:prstGeom prst="rect">
            <a:avLst/>
          </a:prstGeom>
          <a:solidFill>
            <a:srgbClr val="FEFE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3383280" y="5114544"/>
            <a:ext cx="288000" cy="266700"/>
          </a:xfrm>
          <a:prstGeom prst="rect">
            <a:avLst/>
          </a:prstGeom>
          <a:solidFill>
            <a:srgbClr val="FEFBF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3383280" y="4861560"/>
            <a:ext cx="288000" cy="266700"/>
          </a:xfrm>
          <a:prstGeom prst="rect">
            <a:avLst/>
          </a:prstGeom>
          <a:solidFill>
            <a:srgbClr val="FEF7E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3383280" y="4608576"/>
            <a:ext cx="288000" cy="266700"/>
          </a:xfrm>
          <a:prstGeom prst="rect">
            <a:avLst/>
          </a:prstGeom>
          <a:solidFill>
            <a:srgbClr val="FDF3E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3383280" y="4355592"/>
            <a:ext cx="288000" cy="266700"/>
          </a:xfrm>
          <a:prstGeom prst="rect">
            <a:avLst/>
          </a:prstGeom>
          <a:solidFill>
            <a:srgbClr val="FDEFD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3383280" y="4102608"/>
            <a:ext cx="288000" cy="266700"/>
          </a:xfrm>
          <a:prstGeom prst="rect">
            <a:avLst/>
          </a:prstGeom>
          <a:solidFill>
            <a:srgbClr val="FCEBD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3383280" y="3849624"/>
            <a:ext cx="288000" cy="266700"/>
          </a:xfrm>
          <a:prstGeom prst="rect">
            <a:avLst/>
          </a:prstGeom>
          <a:solidFill>
            <a:srgbClr val="FBE7C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3383280" y="3596640"/>
            <a:ext cx="288000" cy="266700"/>
          </a:xfrm>
          <a:prstGeom prst="rect">
            <a:avLst/>
          </a:prstGeom>
          <a:solidFill>
            <a:srgbClr val="FBE2B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3383280" y="3343656"/>
            <a:ext cx="288000" cy="266700"/>
          </a:xfrm>
          <a:prstGeom prst="rect">
            <a:avLst/>
          </a:prstGeom>
          <a:solidFill>
            <a:srgbClr val="FADEB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3383280" y="3090672"/>
            <a:ext cx="288000" cy="266700"/>
          </a:xfrm>
          <a:prstGeom prst="rect">
            <a:avLst/>
          </a:prstGeom>
          <a:solidFill>
            <a:srgbClr val="F9DAA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3383280" y="2837688"/>
            <a:ext cx="288000" cy="266700"/>
          </a:xfrm>
          <a:prstGeom prst="rect">
            <a:avLst/>
          </a:prstGeom>
          <a:solidFill>
            <a:srgbClr val="F9D6A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3383280" y="2584704"/>
            <a:ext cx="288000" cy="266700"/>
          </a:xfrm>
          <a:prstGeom prst="rect">
            <a:avLst/>
          </a:prstGeom>
          <a:solidFill>
            <a:srgbClr val="F8D29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3383280" y="2331720"/>
            <a:ext cx="288000" cy="266700"/>
          </a:xfrm>
          <a:prstGeom prst="rect">
            <a:avLst/>
          </a:prstGeom>
          <a:solidFill>
            <a:srgbClr val="F8CE8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3657600" y="5873496"/>
            <a:ext cx="288000" cy="266700"/>
          </a:xfrm>
          <a:prstGeom prst="rect">
            <a:avLst/>
          </a:prstGeom>
          <a:solidFill>
            <a:srgbClr val="DDDFE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3657600" y="5620512"/>
            <a:ext cx="288000" cy="266700"/>
          </a:xfrm>
          <a:prstGeom prst="rect">
            <a:avLst/>
          </a:prstGeom>
          <a:solidFill>
            <a:srgbClr val="F6F7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3657600" y="5367528"/>
            <a:ext cx="288000" cy="266700"/>
          </a:xfrm>
          <a:prstGeom prst="rect">
            <a:avLst/>
          </a:prstGeom>
          <a:solidFill>
            <a:srgbClr val="FFFC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3657600" y="5114544"/>
            <a:ext cx="288000" cy="266700"/>
          </a:xfrm>
          <a:prstGeom prst="rect">
            <a:avLst/>
          </a:prstGeom>
          <a:solidFill>
            <a:srgbClr val="FEF8F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3657600" y="4861560"/>
            <a:ext cx="288000" cy="266700"/>
          </a:xfrm>
          <a:prstGeom prst="rect">
            <a:avLst/>
          </a:prstGeom>
          <a:solidFill>
            <a:srgbClr val="FDF4E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3657600" y="4608576"/>
            <a:ext cx="288000" cy="266700"/>
          </a:xfrm>
          <a:prstGeom prst="rect">
            <a:avLst/>
          </a:prstGeom>
          <a:solidFill>
            <a:srgbClr val="FDF0D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3657600" y="4355592"/>
            <a:ext cx="288000" cy="266700"/>
          </a:xfrm>
          <a:prstGeom prst="rect">
            <a:avLst/>
          </a:prstGeom>
          <a:solidFill>
            <a:srgbClr val="FCECD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3657600" y="4102608"/>
            <a:ext cx="288000" cy="266700"/>
          </a:xfrm>
          <a:prstGeom prst="rect">
            <a:avLst/>
          </a:prstGeom>
          <a:solidFill>
            <a:srgbClr val="FBE8C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3657600" y="3849624"/>
            <a:ext cx="288000" cy="266700"/>
          </a:xfrm>
          <a:prstGeom prst="rect">
            <a:avLst/>
          </a:prstGeom>
          <a:solidFill>
            <a:srgbClr val="FBE4C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3657600" y="3596640"/>
            <a:ext cx="288000" cy="266700"/>
          </a:xfrm>
          <a:prstGeom prst="rect">
            <a:avLst/>
          </a:prstGeom>
          <a:solidFill>
            <a:srgbClr val="FAE0B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3657600" y="3343656"/>
            <a:ext cx="288000" cy="266700"/>
          </a:xfrm>
          <a:prstGeom prst="rect">
            <a:avLst/>
          </a:prstGeom>
          <a:solidFill>
            <a:srgbClr val="FADCA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3657600" y="3090672"/>
            <a:ext cx="288000" cy="266700"/>
          </a:xfrm>
          <a:prstGeom prst="rect">
            <a:avLst/>
          </a:prstGeom>
          <a:solidFill>
            <a:srgbClr val="F9D7A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3657600" y="2837688"/>
            <a:ext cx="288000" cy="266700"/>
          </a:xfrm>
          <a:prstGeom prst="rect">
            <a:avLst/>
          </a:prstGeom>
          <a:solidFill>
            <a:srgbClr val="F8D39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3657600" y="2584704"/>
            <a:ext cx="288000" cy="266700"/>
          </a:xfrm>
          <a:prstGeom prst="rect">
            <a:avLst/>
          </a:prstGeom>
          <a:solidFill>
            <a:srgbClr val="F8CF9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3657600" y="2331720"/>
            <a:ext cx="288000" cy="266700"/>
          </a:xfrm>
          <a:prstGeom prst="rect">
            <a:avLst/>
          </a:prstGeom>
          <a:solidFill>
            <a:srgbClr val="F7CB8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3931920" y="5873496"/>
            <a:ext cx="288000" cy="266700"/>
          </a:xfrm>
          <a:prstGeom prst="rect">
            <a:avLst/>
          </a:prstGeom>
          <a:solidFill>
            <a:srgbClr val="EFEFF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3931920" y="5620512"/>
            <a:ext cx="288000" cy="266700"/>
          </a:xfrm>
          <a:prstGeom prst="rect">
            <a:avLst/>
          </a:prstGeom>
          <a:solidFill>
            <a:srgbClr val="FFFEF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3931920" y="5367528"/>
            <a:ext cx="288000" cy="266700"/>
          </a:xfrm>
          <a:prstGeom prst="rect">
            <a:avLst/>
          </a:prstGeom>
          <a:solidFill>
            <a:srgbClr val="FEFAF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3931920" y="5114544"/>
            <a:ext cx="288000" cy="266700"/>
          </a:xfrm>
          <a:prstGeom prst="rect">
            <a:avLst/>
          </a:prstGeom>
          <a:solidFill>
            <a:srgbClr val="FEF5E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3931920" y="4861560"/>
            <a:ext cx="288000" cy="266700"/>
          </a:xfrm>
          <a:prstGeom prst="rect">
            <a:avLst/>
          </a:prstGeom>
          <a:solidFill>
            <a:srgbClr val="FDF1E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3931920" y="4608576"/>
            <a:ext cx="288000" cy="266700"/>
          </a:xfrm>
          <a:prstGeom prst="rect">
            <a:avLst/>
          </a:prstGeom>
          <a:solidFill>
            <a:srgbClr val="FCEDD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3931920" y="4355592"/>
            <a:ext cx="288000" cy="266700"/>
          </a:xfrm>
          <a:prstGeom prst="rect">
            <a:avLst/>
          </a:prstGeom>
          <a:solidFill>
            <a:srgbClr val="FCE9C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3931920" y="4102608"/>
            <a:ext cx="288000" cy="266700"/>
          </a:xfrm>
          <a:prstGeom prst="rect">
            <a:avLst/>
          </a:prstGeom>
          <a:solidFill>
            <a:srgbClr val="FBE5C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3931920" y="3849624"/>
            <a:ext cx="288000" cy="266700"/>
          </a:xfrm>
          <a:prstGeom prst="rect">
            <a:avLst/>
          </a:prstGeom>
          <a:solidFill>
            <a:srgbClr val="FAE1B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3931920" y="3596640"/>
            <a:ext cx="288000" cy="266700"/>
          </a:xfrm>
          <a:prstGeom prst="rect">
            <a:avLst/>
          </a:prstGeom>
          <a:solidFill>
            <a:srgbClr val="FADDB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3931920" y="3343656"/>
            <a:ext cx="288000" cy="266700"/>
          </a:xfrm>
          <a:prstGeom prst="rect">
            <a:avLst/>
          </a:prstGeom>
          <a:solidFill>
            <a:srgbClr val="F9D9A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5"/>
          <p:cNvSpPr/>
          <p:nvPr/>
        </p:nvSpPr>
        <p:spPr>
          <a:xfrm>
            <a:off x="3931920" y="3090672"/>
            <a:ext cx="288000" cy="266700"/>
          </a:xfrm>
          <a:prstGeom prst="rect">
            <a:avLst/>
          </a:prstGeom>
          <a:solidFill>
            <a:srgbClr val="F9D59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3931920" y="2837688"/>
            <a:ext cx="288000" cy="266700"/>
          </a:xfrm>
          <a:prstGeom prst="rect">
            <a:avLst/>
          </a:prstGeom>
          <a:solidFill>
            <a:srgbClr val="F8D19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3931920" y="2584704"/>
            <a:ext cx="288000" cy="266700"/>
          </a:xfrm>
          <a:prstGeom prst="rect">
            <a:avLst/>
          </a:prstGeom>
          <a:solidFill>
            <a:srgbClr val="F7CC8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3931920" y="2331720"/>
            <a:ext cx="288000" cy="266700"/>
          </a:xfrm>
          <a:prstGeom prst="rect">
            <a:avLst/>
          </a:prstGeom>
          <a:solidFill>
            <a:srgbClr val="F7C88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4206240" y="5873496"/>
            <a:ext cx="288000" cy="26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4206240" y="5620512"/>
            <a:ext cx="288000" cy="266700"/>
          </a:xfrm>
          <a:prstGeom prst="rect">
            <a:avLst/>
          </a:prstGeom>
          <a:solidFill>
            <a:srgbClr val="FEFBF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4206240" y="5367528"/>
            <a:ext cx="288000" cy="266700"/>
          </a:xfrm>
          <a:prstGeom prst="rect">
            <a:avLst/>
          </a:prstGeom>
          <a:solidFill>
            <a:srgbClr val="FEF7E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4206240" y="5114544"/>
            <a:ext cx="288000" cy="266700"/>
          </a:xfrm>
          <a:prstGeom prst="rect">
            <a:avLst/>
          </a:prstGeom>
          <a:solidFill>
            <a:srgbClr val="FDF3E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4206240" y="4861560"/>
            <a:ext cx="288000" cy="266700"/>
          </a:xfrm>
          <a:prstGeom prst="rect">
            <a:avLst/>
          </a:prstGeom>
          <a:solidFill>
            <a:srgbClr val="FDEFD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4206240" y="4608576"/>
            <a:ext cx="288000" cy="266700"/>
          </a:xfrm>
          <a:prstGeom prst="rect">
            <a:avLst/>
          </a:prstGeom>
          <a:solidFill>
            <a:srgbClr val="FCEAD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4206240" y="4355592"/>
            <a:ext cx="288000" cy="266700"/>
          </a:xfrm>
          <a:prstGeom prst="rect">
            <a:avLst/>
          </a:prstGeom>
          <a:solidFill>
            <a:srgbClr val="FBE6C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4206240" y="4102608"/>
            <a:ext cx="288000" cy="266700"/>
          </a:xfrm>
          <a:prstGeom prst="rect">
            <a:avLst/>
          </a:prstGeom>
          <a:solidFill>
            <a:srgbClr val="FBE2B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4206240" y="3849624"/>
            <a:ext cx="288000" cy="266700"/>
          </a:xfrm>
          <a:prstGeom prst="rect">
            <a:avLst/>
          </a:prstGeom>
          <a:solidFill>
            <a:srgbClr val="FADEB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4206240" y="3596640"/>
            <a:ext cx="288000" cy="266700"/>
          </a:xfrm>
          <a:prstGeom prst="rect">
            <a:avLst/>
          </a:prstGeom>
          <a:solidFill>
            <a:srgbClr val="F9DAA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4206240" y="3343656"/>
            <a:ext cx="288000" cy="266700"/>
          </a:xfrm>
          <a:prstGeom prst="rect">
            <a:avLst/>
          </a:prstGeom>
          <a:solidFill>
            <a:srgbClr val="F9D6A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4206240" y="3090672"/>
            <a:ext cx="288000" cy="266700"/>
          </a:xfrm>
          <a:prstGeom prst="rect">
            <a:avLst/>
          </a:prstGeom>
          <a:solidFill>
            <a:srgbClr val="F8D29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4206240" y="2837688"/>
            <a:ext cx="288000" cy="266700"/>
          </a:xfrm>
          <a:prstGeom prst="rect">
            <a:avLst/>
          </a:prstGeom>
          <a:solidFill>
            <a:srgbClr val="F8CE8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4206240" y="2584704"/>
            <a:ext cx="288000" cy="266700"/>
          </a:xfrm>
          <a:prstGeom prst="rect">
            <a:avLst/>
          </a:prstGeom>
          <a:solidFill>
            <a:srgbClr val="F7CA8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5"/>
          <p:cNvSpPr/>
          <p:nvPr/>
        </p:nvSpPr>
        <p:spPr>
          <a:xfrm>
            <a:off x="4206240" y="2331720"/>
            <a:ext cx="288000" cy="266700"/>
          </a:xfrm>
          <a:prstGeom prst="rect">
            <a:avLst/>
          </a:prstGeom>
          <a:solidFill>
            <a:srgbClr val="F6C67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4480560" y="5873496"/>
            <a:ext cx="288000" cy="266700"/>
          </a:xfrm>
          <a:prstGeom prst="rect">
            <a:avLst/>
          </a:prstGeom>
          <a:solidFill>
            <a:srgbClr val="FFFCF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4480560" y="5620512"/>
            <a:ext cx="288000" cy="266700"/>
          </a:xfrm>
          <a:prstGeom prst="rect">
            <a:avLst/>
          </a:prstGeom>
          <a:solidFill>
            <a:srgbClr val="FEF8E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4480560" y="5367528"/>
            <a:ext cx="288000" cy="266700"/>
          </a:xfrm>
          <a:prstGeom prst="rect">
            <a:avLst/>
          </a:prstGeom>
          <a:solidFill>
            <a:srgbClr val="FDF4E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5"/>
          <p:cNvSpPr/>
          <p:nvPr/>
        </p:nvSpPr>
        <p:spPr>
          <a:xfrm>
            <a:off x="4480560" y="5114544"/>
            <a:ext cx="288000" cy="266700"/>
          </a:xfrm>
          <a:prstGeom prst="rect">
            <a:avLst/>
          </a:prstGeom>
          <a:solidFill>
            <a:srgbClr val="FDF0D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4480560" y="4861560"/>
            <a:ext cx="288000" cy="266700"/>
          </a:xfrm>
          <a:prstGeom prst="rect">
            <a:avLst/>
          </a:prstGeom>
          <a:solidFill>
            <a:srgbClr val="FCECD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4480560" y="4608576"/>
            <a:ext cx="288000" cy="266700"/>
          </a:xfrm>
          <a:prstGeom prst="rect">
            <a:avLst/>
          </a:prstGeom>
          <a:solidFill>
            <a:srgbClr val="FBE8C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>
            <a:off x="4480560" y="4355592"/>
            <a:ext cx="288000" cy="266700"/>
          </a:xfrm>
          <a:prstGeom prst="rect">
            <a:avLst/>
          </a:prstGeom>
          <a:solidFill>
            <a:srgbClr val="FBE4C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4480560" y="4102608"/>
            <a:ext cx="288000" cy="266700"/>
          </a:xfrm>
          <a:prstGeom prst="rect">
            <a:avLst/>
          </a:prstGeom>
          <a:solidFill>
            <a:srgbClr val="FADFB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4480560" y="3849624"/>
            <a:ext cx="288000" cy="266700"/>
          </a:xfrm>
          <a:prstGeom prst="rect">
            <a:avLst/>
          </a:prstGeom>
          <a:solidFill>
            <a:srgbClr val="FADBA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4480560" y="3596640"/>
            <a:ext cx="288000" cy="266700"/>
          </a:xfrm>
          <a:prstGeom prst="rect">
            <a:avLst/>
          </a:prstGeom>
          <a:solidFill>
            <a:srgbClr val="F9D7A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4480560" y="3343656"/>
            <a:ext cx="288000" cy="266700"/>
          </a:xfrm>
          <a:prstGeom prst="rect">
            <a:avLst/>
          </a:prstGeom>
          <a:solidFill>
            <a:srgbClr val="F8D39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4480560" y="3090672"/>
            <a:ext cx="288000" cy="266700"/>
          </a:xfrm>
          <a:prstGeom prst="rect">
            <a:avLst/>
          </a:prstGeom>
          <a:solidFill>
            <a:srgbClr val="F8CF9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4480560" y="2837688"/>
            <a:ext cx="288000" cy="266700"/>
          </a:xfrm>
          <a:prstGeom prst="rect">
            <a:avLst/>
          </a:prstGeom>
          <a:solidFill>
            <a:srgbClr val="F7CB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4480560" y="2584704"/>
            <a:ext cx="288000" cy="266700"/>
          </a:xfrm>
          <a:prstGeom prst="rect">
            <a:avLst/>
          </a:prstGeom>
          <a:solidFill>
            <a:srgbClr val="F7C77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4480560" y="2331720"/>
            <a:ext cx="288000" cy="266700"/>
          </a:xfrm>
          <a:prstGeom prst="rect">
            <a:avLst/>
          </a:prstGeom>
          <a:solidFill>
            <a:srgbClr val="F6C37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5"/>
          <p:cNvSpPr/>
          <p:nvPr/>
        </p:nvSpPr>
        <p:spPr>
          <a:xfrm>
            <a:off x="4754880" y="5873496"/>
            <a:ext cx="288000" cy="266700"/>
          </a:xfrm>
          <a:prstGeom prst="rect">
            <a:avLst/>
          </a:prstGeom>
          <a:solidFill>
            <a:srgbClr val="FEF9F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4754880" y="5620512"/>
            <a:ext cx="288000" cy="266700"/>
          </a:xfrm>
          <a:prstGeom prst="rect">
            <a:avLst/>
          </a:prstGeom>
          <a:solidFill>
            <a:srgbClr val="FEF5E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4754880" y="5367528"/>
            <a:ext cx="288000" cy="266700"/>
          </a:xfrm>
          <a:prstGeom prst="rect">
            <a:avLst/>
          </a:prstGeom>
          <a:solidFill>
            <a:srgbClr val="FDF1D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5"/>
          <p:cNvSpPr/>
          <p:nvPr/>
        </p:nvSpPr>
        <p:spPr>
          <a:xfrm>
            <a:off x="4754880" y="5114544"/>
            <a:ext cx="288000" cy="266700"/>
          </a:xfrm>
          <a:prstGeom prst="rect">
            <a:avLst/>
          </a:prstGeom>
          <a:solidFill>
            <a:srgbClr val="FCEDD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5"/>
          <p:cNvSpPr/>
          <p:nvPr/>
        </p:nvSpPr>
        <p:spPr>
          <a:xfrm>
            <a:off x="4754880" y="4861560"/>
            <a:ext cx="288000" cy="266700"/>
          </a:xfrm>
          <a:prstGeom prst="rect">
            <a:avLst/>
          </a:prstGeom>
          <a:solidFill>
            <a:srgbClr val="FCE9C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4754880" y="4608576"/>
            <a:ext cx="288000" cy="266700"/>
          </a:xfrm>
          <a:prstGeom prst="rect">
            <a:avLst/>
          </a:prstGeom>
          <a:solidFill>
            <a:srgbClr val="FBE5C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5"/>
          <p:cNvSpPr/>
          <p:nvPr/>
        </p:nvSpPr>
        <p:spPr>
          <a:xfrm>
            <a:off x="4754880" y="4355592"/>
            <a:ext cx="288000" cy="266700"/>
          </a:xfrm>
          <a:prstGeom prst="rect">
            <a:avLst/>
          </a:prstGeom>
          <a:solidFill>
            <a:srgbClr val="FAE1B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4754880" y="4102608"/>
            <a:ext cx="288000" cy="266700"/>
          </a:xfrm>
          <a:prstGeom prst="rect">
            <a:avLst/>
          </a:prstGeom>
          <a:solidFill>
            <a:srgbClr val="FADDB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4754880" y="3849624"/>
            <a:ext cx="288000" cy="266700"/>
          </a:xfrm>
          <a:prstGeom prst="rect">
            <a:avLst/>
          </a:prstGeom>
          <a:solidFill>
            <a:srgbClr val="F9D9A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5"/>
          <p:cNvSpPr/>
          <p:nvPr/>
        </p:nvSpPr>
        <p:spPr>
          <a:xfrm>
            <a:off x="4754880" y="3596640"/>
            <a:ext cx="288000" cy="266700"/>
          </a:xfrm>
          <a:prstGeom prst="rect">
            <a:avLst/>
          </a:prstGeom>
          <a:solidFill>
            <a:srgbClr val="F9D49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"/>
          <p:cNvSpPr/>
          <p:nvPr/>
        </p:nvSpPr>
        <p:spPr>
          <a:xfrm>
            <a:off x="4754880" y="3343656"/>
            <a:ext cx="288000" cy="266700"/>
          </a:xfrm>
          <a:prstGeom prst="rect">
            <a:avLst/>
          </a:prstGeom>
          <a:solidFill>
            <a:srgbClr val="F8D09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4754880" y="3090672"/>
            <a:ext cx="288000" cy="266700"/>
          </a:xfrm>
          <a:prstGeom prst="rect">
            <a:avLst/>
          </a:prstGeom>
          <a:solidFill>
            <a:srgbClr val="F7CC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5"/>
          <p:cNvSpPr/>
          <p:nvPr/>
        </p:nvSpPr>
        <p:spPr>
          <a:xfrm>
            <a:off x="4754880" y="2837688"/>
            <a:ext cx="288000" cy="266700"/>
          </a:xfrm>
          <a:prstGeom prst="rect">
            <a:avLst/>
          </a:prstGeom>
          <a:solidFill>
            <a:srgbClr val="F7C88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4754880" y="2584704"/>
            <a:ext cx="288000" cy="266700"/>
          </a:xfrm>
          <a:prstGeom prst="rect">
            <a:avLst/>
          </a:prstGeom>
          <a:solidFill>
            <a:srgbClr val="F6C47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4754880" y="2331720"/>
            <a:ext cx="288000" cy="266700"/>
          </a:xfrm>
          <a:prstGeom prst="rect">
            <a:avLst/>
          </a:prstGeom>
          <a:solidFill>
            <a:srgbClr val="F5C06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5029200" y="5873496"/>
            <a:ext cx="288000" cy="266700"/>
          </a:xfrm>
          <a:prstGeom prst="rect">
            <a:avLst/>
          </a:prstGeom>
          <a:solidFill>
            <a:srgbClr val="FEF7E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5"/>
          <p:cNvSpPr/>
          <p:nvPr/>
        </p:nvSpPr>
        <p:spPr>
          <a:xfrm>
            <a:off x="5029200" y="5620512"/>
            <a:ext cx="288000" cy="266700"/>
          </a:xfrm>
          <a:prstGeom prst="rect">
            <a:avLst/>
          </a:prstGeom>
          <a:solidFill>
            <a:srgbClr val="FDF2E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5029200" y="5367528"/>
            <a:ext cx="288000" cy="266700"/>
          </a:xfrm>
          <a:prstGeom prst="rect">
            <a:avLst/>
          </a:prstGeom>
          <a:solidFill>
            <a:srgbClr val="FCEED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5"/>
          <p:cNvSpPr/>
          <p:nvPr/>
        </p:nvSpPr>
        <p:spPr>
          <a:xfrm>
            <a:off x="5029200" y="5114544"/>
            <a:ext cx="288000" cy="266700"/>
          </a:xfrm>
          <a:prstGeom prst="rect">
            <a:avLst/>
          </a:prstGeom>
          <a:solidFill>
            <a:srgbClr val="FCEAD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5029200" y="4861560"/>
            <a:ext cx="288000" cy="266700"/>
          </a:xfrm>
          <a:prstGeom prst="rect">
            <a:avLst/>
          </a:prstGeom>
          <a:solidFill>
            <a:srgbClr val="FBE6C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5029200" y="4608576"/>
            <a:ext cx="288000" cy="266700"/>
          </a:xfrm>
          <a:prstGeom prst="rect">
            <a:avLst/>
          </a:prstGeom>
          <a:solidFill>
            <a:srgbClr val="FBE2B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5029200" y="4355592"/>
            <a:ext cx="288000" cy="266700"/>
          </a:xfrm>
          <a:prstGeom prst="rect">
            <a:avLst/>
          </a:prstGeom>
          <a:solidFill>
            <a:srgbClr val="FADEB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5029200" y="4102608"/>
            <a:ext cx="288000" cy="266700"/>
          </a:xfrm>
          <a:prstGeom prst="rect">
            <a:avLst/>
          </a:prstGeom>
          <a:solidFill>
            <a:srgbClr val="F9DAA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5029200" y="3849624"/>
            <a:ext cx="288000" cy="266700"/>
          </a:xfrm>
          <a:prstGeom prst="rect">
            <a:avLst/>
          </a:prstGeom>
          <a:solidFill>
            <a:srgbClr val="F9D6A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5029200" y="3596640"/>
            <a:ext cx="288000" cy="266700"/>
          </a:xfrm>
          <a:prstGeom prst="rect">
            <a:avLst/>
          </a:prstGeom>
          <a:solidFill>
            <a:srgbClr val="F8D29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5029200" y="3343656"/>
            <a:ext cx="288000" cy="266700"/>
          </a:xfrm>
          <a:prstGeom prst="rect">
            <a:avLst/>
          </a:prstGeom>
          <a:solidFill>
            <a:srgbClr val="F8CE8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5029200" y="3090672"/>
            <a:ext cx="288000" cy="266700"/>
          </a:xfrm>
          <a:prstGeom prst="rect">
            <a:avLst/>
          </a:prstGeom>
          <a:solidFill>
            <a:srgbClr val="F7C98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5029200" y="2837688"/>
            <a:ext cx="288000" cy="266700"/>
          </a:xfrm>
          <a:prstGeom prst="rect">
            <a:avLst/>
          </a:prstGeom>
          <a:solidFill>
            <a:srgbClr val="F6C57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5029200" y="2584704"/>
            <a:ext cx="288000" cy="266700"/>
          </a:xfrm>
          <a:prstGeom prst="rect">
            <a:avLst/>
          </a:prstGeom>
          <a:solidFill>
            <a:srgbClr val="F6C17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5029200" y="2331720"/>
            <a:ext cx="288000" cy="266700"/>
          </a:xfrm>
          <a:prstGeom prst="rect">
            <a:avLst/>
          </a:prstGeom>
          <a:solidFill>
            <a:srgbClr val="F5BD6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5303520" y="5873496"/>
            <a:ext cx="288000" cy="266700"/>
          </a:xfrm>
          <a:prstGeom prst="rect">
            <a:avLst/>
          </a:prstGeom>
          <a:solidFill>
            <a:srgbClr val="FDF4E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5303520" y="5620512"/>
            <a:ext cx="288000" cy="266700"/>
          </a:xfrm>
          <a:prstGeom prst="rect">
            <a:avLst/>
          </a:prstGeom>
          <a:solidFill>
            <a:srgbClr val="FDF0D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5303520" y="5367528"/>
            <a:ext cx="288000" cy="266700"/>
          </a:xfrm>
          <a:prstGeom prst="rect">
            <a:avLst/>
          </a:prstGeom>
          <a:solidFill>
            <a:srgbClr val="FCECD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5303520" y="5114544"/>
            <a:ext cx="288000" cy="266700"/>
          </a:xfrm>
          <a:prstGeom prst="rect">
            <a:avLst/>
          </a:prstGeom>
          <a:solidFill>
            <a:srgbClr val="FBE7C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5303520" y="4861560"/>
            <a:ext cx="288000" cy="266700"/>
          </a:xfrm>
          <a:prstGeom prst="rect">
            <a:avLst/>
          </a:prstGeom>
          <a:solidFill>
            <a:srgbClr val="FBE3C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5303520" y="4608576"/>
            <a:ext cx="288000" cy="266700"/>
          </a:xfrm>
          <a:prstGeom prst="rect">
            <a:avLst/>
          </a:prstGeom>
          <a:solidFill>
            <a:srgbClr val="FADFB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5303520" y="4355592"/>
            <a:ext cx="288000" cy="266700"/>
          </a:xfrm>
          <a:prstGeom prst="rect">
            <a:avLst/>
          </a:prstGeom>
          <a:solidFill>
            <a:srgbClr val="FADBA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5"/>
          <p:cNvSpPr/>
          <p:nvPr/>
        </p:nvSpPr>
        <p:spPr>
          <a:xfrm>
            <a:off x="5303520" y="4102608"/>
            <a:ext cx="288000" cy="266700"/>
          </a:xfrm>
          <a:prstGeom prst="rect">
            <a:avLst/>
          </a:prstGeom>
          <a:solidFill>
            <a:srgbClr val="F9D7A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5303520" y="3849624"/>
            <a:ext cx="288000" cy="266700"/>
          </a:xfrm>
          <a:prstGeom prst="rect">
            <a:avLst/>
          </a:prstGeom>
          <a:solidFill>
            <a:srgbClr val="F8D39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5"/>
          <p:cNvSpPr/>
          <p:nvPr/>
        </p:nvSpPr>
        <p:spPr>
          <a:xfrm>
            <a:off x="5303520" y="3596640"/>
            <a:ext cx="288000" cy="266700"/>
          </a:xfrm>
          <a:prstGeom prst="rect">
            <a:avLst/>
          </a:prstGeom>
          <a:solidFill>
            <a:srgbClr val="F8CF9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5303520" y="3343656"/>
            <a:ext cx="288000" cy="266700"/>
          </a:xfrm>
          <a:prstGeom prst="rect">
            <a:avLst/>
          </a:prstGeom>
          <a:solidFill>
            <a:srgbClr val="F7CB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5"/>
          <p:cNvSpPr/>
          <p:nvPr/>
        </p:nvSpPr>
        <p:spPr>
          <a:xfrm>
            <a:off x="5303520" y="3090672"/>
            <a:ext cx="288000" cy="266700"/>
          </a:xfrm>
          <a:prstGeom prst="rect">
            <a:avLst/>
          </a:prstGeom>
          <a:solidFill>
            <a:srgbClr val="F6C77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5303520" y="2837688"/>
            <a:ext cx="288000" cy="266700"/>
          </a:xfrm>
          <a:prstGeom prst="rect">
            <a:avLst/>
          </a:prstGeom>
          <a:solidFill>
            <a:srgbClr val="F6C37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5303520" y="2584704"/>
            <a:ext cx="288000" cy="266700"/>
          </a:xfrm>
          <a:prstGeom prst="rect">
            <a:avLst/>
          </a:prstGeom>
          <a:solidFill>
            <a:srgbClr val="F5BF6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5303520" y="2331720"/>
            <a:ext cx="288000" cy="266700"/>
          </a:xfrm>
          <a:prstGeom prst="rect">
            <a:avLst/>
          </a:prstGeom>
          <a:solidFill>
            <a:srgbClr val="F5BA6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>
            <a:off x="5577840" y="5873496"/>
            <a:ext cx="288000" cy="266700"/>
          </a:xfrm>
          <a:prstGeom prst="rect">
            <a:avLst/>
          </a:prstGeom>
          <a:solidFill>
            <a:srgbClr val="FDF1D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5577840" y="5620512"/>
            <a:ext cx="288000" cy="266700"/>
          </a:xfrm>
          <a:prstGeom prst="rect">
            <a:avLst/>
          </a:prstGeom>
          <a:solidFill>
            <a:srgbClr val="FCEDD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5577840" y="5367528"/>
            <a:ext cx="288000" cy="266700"/>
          </a:xfrm>
          <a:prstGeom prst="rect">
            <a:avLst/>
          </a:prstGeom>
          <a:solidFill>
            <a:srgbClr val="FCE9C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5577840" y="5114544"/>
            <a:ext cx="288000" cy="266700"/>
          </a:xfrm>
          <a:prstGeom prst="rect">
            <a:avLst/>
          </a:prstGeom>
          <a:solidFill>
            <a:srgbClr val="FBE5C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>
            <a:off x="5577840" y="4861560"/>
            <a:ext cx="288000" cy="266700"/>
          </a:xfrm>
          <a:prstGeom prst="rect">
            <a:avLst/>
          </a:prstGeom>
          <a:solidFill>
            <a:srgbClr val="FAE1B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5577840" y="4608576"/>
            <a:ext cx="288000" cy="266700"/>
          </a:xfrm>
          <a:prstGeom prst="rect">
            <a:avLst/>
          </a:prstGeom>
          <a:solidFill>
            <a:srgbClr val="FADCB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5577840" y="4355592"/>
            <a:ext cx="288000" cy="266700"/>
          </a:xfrm>
          <a:prstGeom prst="rect">
            <a:avLst/>
          </a:prstGeom>
          <a:solidFill>
            <a:srgbClr val="F9D8A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5577840" y="4102608"/>
            <a:ext cx="288000" cy="266700"/>
          </a:xfrm>
          <a:prstGeom prst="rect">
            <a:avLst/>
          </a:prstGeom>
          <a:solidFill>
            <a:srgbClr val="F9D49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5577840" y="3849624"/>
            <a:ext cx="288000" cy="266700"/>
          </a:xfrm>
          <a:prstGeom prst="rect">
            <a:avLst/>
          </a:prstGeom>
          <a:solidFill>
            <a:srgbClr val="F8D09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5577840" y="3596640"/>
            <a:ext cx="288000" cy="266700"/>
          </a:xfrm>
          <a:prstGeom prst="rect">
            <a:avLst/>
          </a:prstGeom>
          <a:solidFill>
            <a:srgbClr val="F7CC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5577840" y="3343656"/>
            <a:ext cx="288000" cy="266700"/>
          </a:xfrm>
          <a:prstGeom prst="rect">
            <a:avLst/>
          </a:prstGeom>
          <a:solidFill>
            <a:srgbClr val="F7C88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5577840" y="3090672"/>
            <a:ext cx="288000" cy="266700"/>
          </a:xfrm>
          <a:prstGeom prst="rect">
            <a:avLst/>
          </a:prstGeom>
          <a:solidFill>
            <a:srgbClr val="F6C47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5577840" y="2837688"/>
            <a:ext cx="288000" cy="266700"/>
          </a:xfrm>
          <a:prstGeom prst="rect">
            <a:avLst/>
          </a:prstGeom>
          <a:solidFill>
            <a:srgbClr val="F5C06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5577840" y="2584704"/>
            <a:ext cx="288000" cy="266700"/>
          </a:xfrm>
          <a:prstGeom prst="rect">
            <a:avLst/>
          </a:prstGeom>
          <a:solidFill>
            <a:srgbClr val="F5BC6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>
            <a:off x="5577840" y="2331720"/>
            <a:ext cx="288000" cy="266700"/>
          </a:xfrm>
          <a:prstGeom prst="rect">
            <a:avLst/>
          </a:prstGeom>
          <a:solidFill>
            <a:srgbClr val="F4B85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5852160" y="5873496"/>
            <a:ext cx="288000" cy="266700"/>
          </a:xfrm>
          <a:prstGeom prst="rect">
            <a:avLst/>
          </a:prstGeom>
          <a:solidFill>
            <a:srgbClr val="FCEED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/>
          <p:nvPr/>
        </p:nvSpPr>
        <p:spPr>
          <a:xfrm>
            <a:off x="5852160" y="5620512"/>
            <a:ext cx="288000" cy="266700"/>
          </a:xfrm>
          <a:prstGeom prst="rect">
            <a:avLst/>
          </a:prstGeom>
          <a:solidFill>
            <a:srgbClr val="FCEAC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5852160" y="5367528"/>
            <a:ext cx="288000" cy="266700"/>
          </a:xfrm>
          <a:prstGeom prst="rect">
            <a:avLst/>
          </a:prstGeom>
          <a:solidFill>
            <a:srgbClr val="FBE6C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5852160" y="5114544"/>
            <a:ext cx="288000" cy="266700"/>
          </a:xfrm>
          <a:prstGeom prst="rect">
            <a:avLst/>
          </a:prstGeom>
          <a:solidFill>
            <a:srgbClr val="FBE2B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5852160" y="4861560"/>
            <a:ext cx="288000" cy="266700"/>
          </a:xfrm>
          <a:prstGeom prst="rect">
            <a:avLst/>
          </a:prstGeom>
          <a:solidFill>
            <a:srgbClr val="FADEB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5852160" y="4608576"/>
            <a:ext cx="288000" cy="266700"/>
          </a:xfrm>
          <a:prstGeom prst="rect">
            <a:avLst/>
          </a:prstGeom>
          <a:solidFill>
            <a:srgbClr val="F9DAA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>
            <a:off x="5852160" y="4355592"/>
            <a:ext cx="288000" cy="266700"/>
          </a:xfrm>
          <a:prstGeom prst="rect">
            <a:avLst/>
          </a:prstGeom>
          <a:solidFill>
            <a:srgbClr val="F9D6A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5852160" y="4102608"/>
            <a:ext cx="288000" cy="266700"/>
          </a:xfrm>
          <a:prstGeom prst="rect">
            <a:avLst/>
          </a:prstGeom>
          <a:solidFill>
            <a:srgbClr val="F8D19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>
            <a:off x="5852160" y="3849624"/>
            <a:ext cx="288000" cy="266700"/>
          </a:xfrm>
          <a:prstGeom prst="rect">
            <a:avLst/>
          </a:prstGeom>
          <a:solidFill>
            <a:srgbClr val="F8CD8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5852160" y="3596640"/>
            <a:ext cx="288000" cy="266700"/>
          </a:xfrm>
          <a:prstGeom prst="rect">
            <a:avLst/>
          </a:prstGeom>
          <a:solidFill>
            <a:srgbClr val="F7C98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>
            <a:off x="5852160" y="3343656"/>
            <a:ext cx="288000" cy="266700"/>
          </a:xfrm>
          <a:prstGeom prst="rect">
            <a:avLst/>
          </a:prstGeom>
          <a:solidFill>
            <a:srgbClr val="F6C57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5852160" y="3090672"/>
            <a:ext cx="288000" cy="266700"/>
          </a:xfrm>
          <a:prstGeom prst="rect">
            <a:avLst/>
          </a:prstGeom>
          <a:solidFill>
            <a:srgbClr val="F6C17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5852160" y="2837688"/>
            <a:ext cx="288000" cy="266700"/>
          </a:xfrm>
          <a:prstGeom prst="rect">
            <a:avLst/>
          </a:prstGeom>
          <a:solidFill>
            <a:srgbClr val="F5BD6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5852160" y="2584704"/>
            <a:ext cx="288000" cy="266700"/>
          </a:xfrm>
          <a:prstGeom prst="rect">
            <a:avLst/>
          </a:prstGeom>
          <a:solidFill>
            <a:srgbClr val="F4B95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5852160" y="2331720"/>
            <a:ext cx="288000" cy="266700"/>
          </a:xfrm>
          <a:prstGeom prst="rect">
            <a:avLst/>
          </a:prstGeom>
          <a:solidFill>
            <a:srgbClr val="F4B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6126480" y="5873496"/>
            <a:ext cx="288000" cy="266700"/>
          </a:xfrm>
          <a:prstGeom prst="rect">
            <a:avLst/>
          </a:prstGeom>
          <a:solidFill>
            <a:srgbClr val="FCEBD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6126480" y="5620512"/>
            <a:ext cx="288000" cy="266700"/>
          </a:xfrm>
          <a:prstGeom prst="rect">
            <a:avLst/>
          </a:prstGeom>
          <a:solidFill>
            <a:srgbClr val="FBE7C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6126480" y="5367528"/>
            <a:ext cx="288000" cy="266700"/>
          </a:xfrm>
          <a:prstGeom prst="rect">
            <a:avLst/>
          </a:prstGeom>
          <a:solidFill>
            <a:srgbClr val="FBE3C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/>
          <p:nvPr/>
        </p:nvSpPr>
        <p:spPr>
          <a:xfrm>
            <a:off x="6126480" y="5114544"/>
            <a:ext cx="288000" cy="266700"/>
          </a:xfrm>
          <a:prstGeom prst="rect">
            <a:avLst/>
          </a:prstGeom>
          <a:solidFill>
            <a:srgbClr val="FADFB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6126480" y="4861560"/>
            <a:ext cx="288000" cy="266700"/>
          </a:xfrm>
          <a:prstGeom prst="rect">
            <a:avLst/>
          </a:prstGeom>
          <a:solidFill>
            <a:srgbClr val="FADBA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6126480" y="4608576"/>
            <a:ext cx="288000" cy="266700"/>
          </a:xfrm>
          <a:prstGeom prst="rect">
            <a:avLst/>
          </a:prstGeom>
          <a:solidFill>
            <a:srgbClr val="F9D7A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6126480" y="4355592"/>
            <a:ext cx="288000" cy="266700"/>
          </a:xfrm>
          <a:prstGeom prst="rect">
            <a:avLst/>
          </a:prstGeom>
          <a:solidFill>
            <a:srgbClr val="F8D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5"/>
          <p:cNvSpPr/>
          <p:nvPr/>
        </p:nvSpPr>
        <p:spPr>
          <a:xfrm>
            <a:off x="6126480" y="4102608"/>
            <a:ext cx="288000" cy="266700"/>
          </a:xfrm>
          <a:prstGeom prst="rect">
            <a:avLst/>
          </a:prstGeom>
          <a:solidFill>
            <a:srgbClr val="F8CF9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6126480" y="3849624"/>
            <a:ext cx="288000" cy="266700"/>
          </a:xfrm>
          <a:prstGeom prst="rect">
            <a:avLst/>
          </a:prstGeom>
          <a:solidFill>
            <a:srgbClr val="F7CB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6126480" y="3596640"/>
            <a:ext cx="288000" cy="266700"/>
          </a:xfrm>
          <a:prstGeom prst="rect">
            <a:avLst/>
          </a:prstGeom>
          <a:solidFill>
            <a:srgbClr val="F6C77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6126480" y="3343656"/>
            <a:ext cx="288000" cy="266700"/>
          </a:xfrm>
          <a:prstGeom prst="rect">
            <a:avLst/>
          </a:prstGeom>
          <a:solidFill>
            <a:srgbClr val="F6C27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6126480" y="3090672"/>
            <a:ext cx="288000" cy="266700"/>
          </a:xfrm>
          <a:prstGeom prst="rect">
            <a:avLst/>
          </a:prstGeom>
          <a:solidFill>
            <a:srgbClr val="F5BE6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6126480" y="2837688"/>
            <a:ext cx="288000" cy="266700"/>
          </a:xfrm>
          <a:prstGeom prst="rect">
            <a:avLst/>
          </a:prstGeom>
          <a:solidFill>
            <a:srgbClr val="F5BA6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6126480" y="2584704"/>
            <a:ext cx="288000" cy="266700"/>
          </a:xfrm>
          <a:prstGeom prst="rect">
            <a:avLst/>
          </a:prstGeom>
          <a:solidFill>
            <a:srgbClr val="F4B65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6126480" y="2331720"/>
            <a:ext cx="288000" cy="266700"/>
          </a:xfrm>
          <a:prstGeom prst="rect">
            <a:avLst/>
          </a:prstGeom>
          <a:solidFill>
            <a:srgbClr val="F3B25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6400800" y="5873496"/>
            <a:ext cx="288000" cy="266700"/>
          </a:xfrm>
          <a:prstGeom prst="rect">
            <a:avLst/>
          </a:prstGeom>
          <a:solidFill>
            <a:srgbClr val="FCE9C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6400800" y="5620512"/>
            <a:ext cx="288000" cy="266700"/>
          </a:xfrm>
          <a:prstGeom prst="rect">
            <a:avLst/>
          </a:prstGeom>
          <a:solidFill>
            <a:srgbClr val="FBE4C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6400800" y="5367528"/>
            <a:ext cx="288000" cy="266700"/>
          </a:xfrm>
          <a:prstGeom prst="rect">
            <a:avLst/>
          </a:prstGeom>
          <a:solidFill>
            <a:srgbClr val="FAE0B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6400800" y="5114544"/>
            <a:ext cx="288000" cy="266700"/>
          </a:xfrm>
          <a:prstGeom prst="rect">
            <a:avLst/>
          </a:prstGeom>
          <a:solidFill>
            <a:srgbClr val="FADCB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6400800" y="4861560"/>
            <a:ext cx="288000" cy="266700"/>
          </a:xfrm>
          <a:prstGeom prst="rect">
            <a:avLst/>
          </a:prstGeom>
          <a:solidFill>
            <a:srgbClr val="F9D8A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6400800" y="4608576"/>
            <a:ext cx="288000" cy="266700"/>
          </a:xfrm>
          <a:prstGeom prst="rect">
            <a:avLst/>
          </a:prstGeom>
          <a:solidFill>
            <a:srgbClr val="F9D4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6400800" y="4355592"/>
            <a:ext cx="288000" cy="266700"/>
          </a:xfrm>
          <a:prstGeom prst="rect">
            <a:avLst/>
          </a:prstGeom>
          <a:solidFill>
            <a:srgbClr val="F8D09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5"/>
          <p:cNvSpPr/>
          <p:nvPr/>
        </p:nvSpPr>
        <p:spPr>
          <a:xfrm>
            <a:off x="6400800" y="4102608"/>
            <a:ext cx="288000" cy="266700"/>
          </a:xfrm>
          <a:prstGeom prst="rect">
            <a:avLst/>
          </a:prstGeom>
          <a:solidFill>
            <a:srgbClr val="F7CC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6400800" y="3849624"/>
            <a:ext cx="288000" cy="266700"/>
          </a:xfrm>
          <a:prstGeom prst="rect">
            <a:avLst/>
          </a:prstGeom>
          <a:solidFill>
            <a:srgbClr val="F7C88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5"/>
          <p:cNvSpPr/>
          <p:nvPr/>
        </p:nvSpPr>
        <p:spPr>
          <a:xfrm>
            <a:off x="6400800" y="3596640"/>
            <a:ext cx="288000" cy="266700"/>
          </a:xfrm>
          <a:prstGeom prst="rect">
            <a:avLst/>
          </a:prstGeom>
          <a:solidFill>
            <a:srgbClr val="F6C47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5"/>
          <p:cNvSpPr/>
          <p:nvPr/>
        </p:nvSpPr>
        <p:spPr>
          <a:xfrm>
            <a:off x="6400800" y="3343656"/>
            <a:ext cx="288000" cy="266700"/>
          </a:xfrm>
          <a:prstGeom prst="rect">
            <a:avLst/>
          </a:prstGeom>
          <a:solidFill>
            <a:srgbClr val="F5C06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6400800" y="3090672"/>
            <a:ext cx="288000" cy="266700"/>
          </a:xfrm>
          <a:prstGeom prst="rect">
            <a:avLst/>
          </a:prstGeom>
          <a:solidFill>
            <a:srgbClr val="F5BC6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6400800" y="2837688"/>
            <a:ext cx="288000" cy="266700"/>
          </a:xfrm>
          <a:prstGeom prst="rect">
            <a:avLst/>
          </a:prstGeom>
          <a:solidFill>
            <a:srgbClr val="F4B75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5"/>
          <p:cNvSpPr/>
          <p:nvPr/>
        </p:nvSpPr>
        <p:spPr>
          <a:xfrm>
            <a:off x="6400800" y="2584704"/>
            <a:ext cx="288000" cy="266700"/>
          </a:xfrm>
          <a:prstGeom prst="rect">
            <a:avLst/>
          </a:prstGeom>
          <a:solidFill>
            <a:srgbClr val="F4B35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6400800" y="2331720"/>
            <a:ext cx="288000" cy="266700"/>
          </a:xfrm>
          <a:prstGeom prst="rect">
            <a:avLst/>
          </a:prstGeom>
          <a:solidFill>
            <a:srgbClr val="F3AF4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5"/>
          <p:cNvSpPr/>
          <p:nvPr/>
        </p:nvSpPr>
        <p:spPr>
          <a:xfrm>
            <a:off x="6675120" y="5873496"/>
            <a:ext cx="288000" cy="266700"/>
          </a:xfrm>
          <a:prstGeom prst="rect">
            <a:avLst/>
          </a:prstGeom>
          <a:solidFill>
            <a:srgbClr val="FBE6C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5"/>
          <p:cNvSpPr/>
          <p:nvPr/>
        </p:nvSpPr>
        <p:spPr>
          <a:xfrm>
            <a:off x="6675120" y="5620512"/>
            <a:ext cx="288000" cy="266700"/>
          </a:xfrm>
          <a:prstGeom prst="rect">
            <a:avLst/>
          </a:prstGeom>
          <a:solidFill>
            <a:srgbClr val="FBE2B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5"/>
          <p:cNvSpPr/>
          <p:nvPr/>
        </p:nvSpPr>
        <p:spPr>
          <a:xfrm>
            <a:off x="6675120" y="5367528"/>
            <a:ext cx="288000" cy="266700"/>
          </a:xfrm>
          <a:prstGeom prst="rect">
            <a:avLst/>
          </a:prstGeom>
          <a:solidFill>
            <a:srgbClr val="FADEB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5"/>
          <p:cNvSpPr/>
          <p:nvPr/>
        </p:nvSpPr>
        <p:spPr>
          <a:xfrm>
            <a:off x="6675120" y="5114544"/>
            <a:ext cx="288000" cy="266700"/>
          </a:xfrm>
          <a:prstGeom prst="rect">
            <a:avLst/>
          </a:prstGeom>
          <a:solidFill>
            <a:srgbClr val="F9D9A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5"/>
          <p:cNvSpPr/>
          <p:nvPr/>
        </p:nvSpPr>
        <p:spPr>
          <a:xfrm>
            <a:off x="6675120" y="4861560"/>
            <a:ext cx="288000" cy="266700"/>
          </a:xfrm>
          <a:prstGeom prst="rect">
            <a:avLst/>
          </a:prstGeom>
          <a:solidFill>
            <a:srgbClr val="F9D5A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5"/>
          <p:cNvSpPr/>
          <p:nvPr/>
        </p:nvSpPr>
        <p:spPr>
          <a:xfrm>
            <a:off x="6675120" y="4608576"/>
            <a:ext cx="288000" cy="266700"/>
          </a:xfrm>
          <a:prstGeom prst="rect">
            <a:avLst/>
          </a:prstGeom>
          <a:solidFill>
            <a:srgbClr val="F8D19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5"/>
          <p:cNvSpPr/>
          <p:nvPr/>
        </p:nvSpPr>
        <p:spPr>
          <a:xfrm>
            <a:off x="6675120" y="4355592"/>
            <a:ext cx="288000" cy="266700"/>
          </a:xfrm>
          <a:prstGeom prst="rect">
            <a:avLst/>
          </a:prstGeom>
          <a:solidFill>
            <a:srgbClr val="F7CD8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5"/>
          <p:cNvSpPr/>
          <p:nvPr/>
        </p:nvSpPr>
        <p:spPr>
          <a:xfrm>
            <a:off x="6675120" y="4102608"/>
            <a:ext cx="288000" cy="266700"/>
          </a:xfrm>
          <a:prstGeom prst="rect">
            <a:avLst/>
          </a:prstGeom>
          <a:solidFill>
            <a:srgbClr val="F7C984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5"/>
          <p:cNvSpPr/>
          <p:nvPr/>
        </p:nvSpPr>
        <p:spPr>
          <a:xfrm>
            <a:off x="6675120" y="3849624"/>
            <a:ext cx="288000" cy="266700"/>
          </a:xfrm>
          <a:prstGeom prst="rect">
            <a:avLst/>
          </a:prstGeom>
          <a:solidFill>
            <a:srgbClr val="F6C57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5"/>
          <p:cNvSpPr/>
          <p:nvPr/>
        </p:nvSpPr>
        <p:spPr>
          <a:xfrm>
            <a:off x="6675120" y="3596640"/>
            <a:ext cx="288000" cy="266700"/>
          </a:xfrm>
          <a:prstGeom prst="rect">
            <a:avLst/>
          </a:prstGeom>
          <a:solidFill>
            <a:srgbClr val="F6C17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5"/>
          <p:cNvSpPr/>
          <p:nvPr/>
        </p:nvSpPr>
        <p:spPr>
          <a:xfrm>
            <a:off x="6675120" y="3343656"/>
            <a:ext cx="288000" cy="266700"/>
          </a:xfrm>
          <a:prstGeom prst="rect">
            <a:avLst/>
          </a:prstGeom>
          <a:solidFill>
            <a:srgbClr val="F5BD6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5"/>
          <p:cNvSpPr/>
          <p:nvPr/>
        </p:nvSpPr>
        <p:spPr>
          <a:xfrm>
            <a:off x="6675120" y="3090672"/>
            <a:ext cx="288000" cy="266700"/>
          </a:xfrm>
          <a:prstGeom prst="rect">
            <a:avLst/>
          </a:prstGeom>
          <a:solidFill>
            <a:srgbClr val="F4B95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5"/>
          <p:cNvSpPr/>
          <p:nvPr/>
        </p:nvSpPr>
        <p:spPr>
          <a:xfrm>
            <a:off x="6675120" y="2837688"/>
            <a:ext cx="288000" cy="266700"/>
          </a:xfrm>
          <a:prstGeom prst="rect">
            <a:avLst/>
          </a:prstGeom>
          <a:solidFill>
            <a:srgbClr val="F4B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5"/>
          <p:cNvSpPr/>
          <p:nvPr/>
        </p:nvSpPr>
        <p:spPr>
          <a:xfrm>
            <a:off x="6675120" y="2584704"/>
            <a:ext cx="288000" cy="266700"/>
          </a:xfrm>
          <a:prstGeom prst="rect">
            <a:avLst/>
          </a:prstGeom>
          <a:solidFill>
            <a:srgbClr val="F3B14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5"/>
          <p:cNvSpPr/>
          <p:nvPr/>
        </p:nvSpPr>
        <p:spPr>
          <a:xfrm>
            <a:off x="6675120" y="2331720"/>
            <a:ext cx="288000" cy="266700"/>
          </a:xfrm>
          <a:prstGeom prst="rect">
            <a:avLst/>
          </a:prstGeom>
          <a:solidFill>
            <a:srgbClr val="F3AC4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8" name="Google Shape;718;p15"/>
          <p:cNvCxnSpPr/>
          <p:nvPr/>
        </p:nvCxnSpPr>
        <p:spPr>
          <a:xfrm>
            <a:off x="914400" y="2331720"/>
            <a:ext cx="0" cy="3794700"/>
          </a:xfrm>
          <a:prstGeom prst="straightConnector1">
            <a:avLst/>
          </a:prstGeom>
          <a:noFill/>
          <a:ln cap="flat" cmpd="sng" w="1270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p15"/>
          <p:cNvCxnSpPr/>
          <p:nvPr/>
        </p:nvCxnSpPr>
        <p:spPr>
          <a:xfrm>
            <a:off x="914400" y="6126480"/>
            <a:ext cx="6035100" cy="0"/>
          </a:xfrm>
          <a:prstGeom prst="straightConnector1">
            <a:avLst/>
          </a:prstGeom>
          <a:noFill/>
          <a:ln cap="flat" cmpd="sng" w="1270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0" name="Google Shape;720;p15"/>
          <p:cNvSpPr txBox="1"/>
          <p:nvPr/>
        </p:nvSpPr>
        <p:spPr>
          <a:xfrm>
            <a:off x="6720840" y="61722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5"/>
          <p:cNvSpPr txBox="1"/>
          <p:nvPr/>
        </p:nvSpPr>
        <p:spPr>
          <a:xfrm>
            <a:off x="548640" y="22860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2" name="Google Shape;722;p15"/>
          <p:cNvCxnSpPr/>
          <p:nvPr/>
        </p:nvCxnSpPr>
        <p:spPr>
          <a:xfrm>
            <a:off x="914400" y="3849624"/>
            <a:ext cx="3621000" cy="2277000"/>
          </a:xfrm>
          <a:prstGeom prst="straightConnector1">
            <a:avLst/>
          </a:prstGeom>
          <a:noFill/>
          <a:ln cap="flat" cmpd="sng" w="38100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15"/>
          <p:cNvSpPr txBox="1"/>
          <p:nvPr/>
        </p:nvSpPr>
        <p:spPr>
          <a:xfrm>
            <a:off x="2980944" y="6199632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250"/>
              <a:buFont typeface="Cambria"/>
              <a:buNone/>
            </a:pPr>
            <a:r>
              <a:rPr b="0" i="1" lang="en-US" sz="1250" u="none" cap="none" strike="noStrike">
                <a:solidFill>
                  <a:srgbClr val="141B47"/>
                </a:solidFill>
                <a:latin typeface="Cambria"/>
                <a:ea typeface="Cambria"/>
                <a:cs typeface="Cambria"/>
                <a:sym typeface="Cambria"/>
              </a:rPr>
              <a:t>w·x+b =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5"/>
          <p:cNvSpPr/>
          <p:nvPr/>
        </p:nvSpPr>
        <p:spPr>
          <a:xfrm>
            <a:off x="1797710" y="5437022"/>
            <a:ext cx="164700" cy="1647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5"/>
          <p:cNvSpPr txBox="1"/>
          <p:nvPr/>
        </p:nvSpPr>
        <p:spPr>
          <a:xfrm>
            <a:off x="1998878" y="5391302"/>
            <a:ext cx="118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B1F2A"/>
                </a:solidFill>
                <a:latin typeface="Consolas"/>
                <a:ea typeface="Consolas"/>
                <a:cs typeface="Consolas"/>
                <a:sym typeface="Consolas"/>
              </a:rPr>
              <a:t>z = −1.4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5660136" y="2856586"/>
            <a:ext cx="164700" cy="1647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5"/>
          <p:cNvSpPr txBox="1"/>
          <p:nvPr/>
        </p:nvSpPr>
        <p:spPr>
          <a:xfrm>
            <a:off x="5861304" y="2810866"/>
            <a:ext cx="118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B1F2A"/>
                </a:solidFill>
                <a:latin typeface="Consolas"/>
                <a:ea typeface="Consolas"/>
                <a:cs typeface="Consolas"/>
                <a:sym typeface="Consolas"/>
              </a:rPr>
              <a:t>z = +5.2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5"/>
          <p:cNvSpPr/>
          <p:nvPr/>
        </p:nvSpPr>
        <p:spPr>
          <a:xfrm>
            <a:off x="3608222" y="5285232"/>
            <a:ext cx="164700" cy="1647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5"/>
          <p:cNvSpPr txBox="1"/>
          <p:nvPr/>
        </p:nvSpPr>
        <p:spPr>
          <a:xfrm>
            <a:off x="3809390" y="5239512"/>
            <a:ext cx="118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B1F2A"/>
                </a:solidFill>
                <a:latin typeface="Consolas"/>
                <a:ea typeface="Consolas"/>
                <a:cs typeface="Consolas"/>
                <a:sym typeface="Consolas"/>
              </a:rPr>
              <a:t>z ≈ 0.3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5"/>
          <p:cNvSpPr/>
          <p:nvPr/>
        </p:nvSpPr>
        <p:spPr>
          <a:xfrm>
            <a:off x="7406640" y="2331720"/>
            <a:ext cx="4206300" cy="1737300"/>
          </a:xfrm>
          <a:prstGeom prst="roundRect">
            <a:avLst>
              <a:gd fmla="val 526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5"/>
          <p:cNvSpPr txBox="1"/>
          <p:nvPr/>
        </p:nvSpPr>
        <p:spPr>
          <a:xfrm>
            <a:off x="7699248" y="2478024"/>
            <a:ext cx="36210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 = w₁x₁ + w₂x₂ +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Здесь w=(1,1), b=−3. В каждой точке плоскости мы просто считаем эту сумму — получаем одно число.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 txBox="1"/>
          <p:nvPr/>
        </p:nvSpPr>
        <p:spPr>
          <a:xfrm>
            <a:off x="7406640" y="4343400"/>
            <a:ext cx="42063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z &gt; 0 → предсказываем класс 1 (оранжевая зона)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z &lt; 0 → предсказываем класс 0 (синяя зона)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z = 0 — граница между зонами, которую мы рисовали раньше как прямую линию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6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ОБУЧЕНИЕ: ПРАВИЛО РОЗЕНБЛАТТА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6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Как обучается перцептрон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6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13/19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6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6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"/>
          <p:cNvSpPr txBox="1"/>
          <p:nvPr/>
        </p:nvSpPr>
        <p:spPr>
          <a:xfrm>
            <a:off x="1234440" y="149961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Инициализация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6"/>
          <p:cNvSpPr txBox="1"/>
          <p:nvPr/>
        </p:nvSpPr>
        <p:spPr>
          <a:xfrm>
            <a:off x="3566160" y="1527048"/>
            <a:ext cx="80768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Случайно (или нулями) задать веса w и смещение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6" name="Google Shape;746;p16"/>
          <p:cNvCxnSpPr/>
          <p:nvPr/>
        </p:nvCxnSpPr>
        <p:spPr>
          <a:xfrm>
            <a:off x="777240" y="201168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7" name="Google Shape;747;p16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6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6"/>
          <p:cNvSpPr txBox="1"/>
          <p:nvPr/>
        </p:nvSpPr>
        <p:spPr>
          <a:xfrm>
            <a:off x="1234440" y="227685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Предсказание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6"/>
          <p:cNvSpPr txBox="1"/>
          <p:nvPr/>
        </p:nvSpPr>
        <p:spPr>
          <a:xfrm>
            <a:off x="3566160" y="2304288"/>
            <a:ext cx="80768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Для примера (x, y) вычислить ŷ по текущим весам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1" name="Google Shape;751;p16"/>
          <p:cNvCxnSpPr/>
          <p:nvPr/>
        </p:nvCxnSpPr>
        <p:spPr>
          <a:xfrm>
            <a:off x="777240" y="278892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2" name="Google Shape;752;p1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6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6"/>
          <p:cNvSpPr txBox="1"/>
          <p:nvPr/>
        </p:nvSpPr>
        <p:spPr>
          <a:xfrm>
            <a:off x="1234440" y="305409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Обновление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6"/>
          <p:cNvSpPr txBox="1"/>
          <p:nvPr/>
        </p:nvSpPr>
        <p:spPr>
          <a:xfrm>
            <a:off x="3566160" y="3081528"/>
            <a:ext cx="80768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Если ŷ ≠ y — скорректировать: w ← w + η(y − ŷ)x,  b ← b + η(y − ŷ)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p16"/>
          <p:cNvCxnSpPr/>
          <p:nvPr/>
        </p:nvCxnSpPr>
        <p:spPr>
          <a:xfrm>
            <a:off x="777240" y="356616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16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6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6"/>
          <p:cNvSpPr txBox="1"/>
          <p:nvPr/>
        </p:nvSpPr>
        <p:spPr>
          <a:xfrm>
            <a:off x="1234440" y="383133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Повтор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6"/>
          <p:cNvSpPr txBox="1"/>
          <p:nvPr/>
        </p:nvSpPr>
        <p:spPr>
          <a:xfrm>
            <a:off x="3566160" y="3858768"/>
            <a:ext cx="80768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Пройти так по всем примерам; повторять эпохи, пока ошибок не станет мало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 txBox="1"/>
          <p:nvPr/>
        </p:nvSpPr>
        <p:spPr>
          <a:xfrm>
            <a:off x="548640" y="470916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η (эта) — скорость обучения (learning rate): насколько сильно двигаем веса на каждом шаге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6"/>
          <p:cNvSpPr/>
          <p:nvPr/>
        </p:nvSpPr>
        <p:spPr>
          <a:xfrm>
            <a:off x="548640" y="5056632"/>
            <a:ext cx="11094415" cy="868680"/>
          </a:xfrm>
          <a:prstGeom prst="roundRect">
            <a:avLst>
              <a:gd fmla="val 9474" name="adj"/>
            </a:avLst>
          </a:prstGeom>
          <a:solidFill>
            <a:srgbClr val="EEF3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6"/>
          <p:cNvSpPr txBox="1"/>
          <p:nvPr/>
        </p:nvSpPr>
        <p:spPr>
          <a:xfrm>
            <a:off x="777240" y="5056632"/>
            <a:ext cx="106372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Пример: w=0, b=0, η=0.1, x=2, y=1  →  ŷ=0 (ошиблись)  →  w ← 0+0.1·(1−0)·2 = 0.2,  b ← 0+0.1·(1−0) = 0.1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7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БОЛЕЕ ШИРОКИЙ ВЗГЛЯД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7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Функция потерь и градиентный спуск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14/19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7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7"/>
          <p:cNvSpPr txBox="1"/>
          <p:nvPr/>
        </p:nvSpPr>
        <p:spPr>
          <a:xfrm>
            <a:off x="548640" y="1463040"/>
            <a:ext cx="1109441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Правило Розенблатта — красивый частный случай. Общая идея, на которой держится всё обучение нейросетей: минимизация функции потерь L(w) — насколько сильно модель ошибается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Обучение = подбор весов w, при которых L(w) минимальна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4" name="Google Shape;774;p17"/>
          <p:cNvCxnSpPr/>
          <p:nvPr/>
        </p:nvCxnSpPr>
        <p:spPr>
          <a:xfrm>
            <a:off x="914400" y="2651760"/>
            <a:ext cx="0" cy="3200400"/>
          </a:xfrm>
          <a:prstGeom prst="straightConnector1">
            <a:avLst/>
          </a:prstGeom>
          <a:noFill/>
          <a:ln cap="flat" cmpd="sng" w="15875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17"/>
          <p:cNvCxnSpPr/>
          <p:nvPr/>
        </p:nvCxnSpPr>
        <p:spPr>
          <a:xfrm>
            <a:off x="914400" y="5852160"/>
            <a:ext cx="5669280" cy="0"/>
          </a:xfrm>
          <a:prstGeom prst="straightConnector1">
            <a:avLst/>
          </a:prstGeom>
          <a:noFill/>
          <a:ln cap="flat" cmpd="sng" w="15875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17"/>
          <p:cNvSpPr txBox="1"/>
          <p:nvPr/>
        </p:nvSpPr>
        <p:spPr>
          <a:xfrm>
            <a:off x="6400800" y="5897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8592B0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7"/>
          <p:cNvSpPr txBox="1"/>
          <p:nvPr/>
        </p:nvSpPr>
        <p:spPr>
          <a:xfrm>
            <a:off x="411480" y="25603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8592B0"/>
                </a:solidFill>
                <a:latin typeface="Cambria"/>
                <a:ea typeface="Cambria"/>
                <a:cs typeface="Cambria"/>
                <a:sym typeface="Cambria"/>
              </a:rPr>
              <a:t>L(w)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8" name="Google Shape;778;p17"/>
          <p:cNvCxnSpPr/>
          <p:nvPr/>
        </p:nvCxnSpPr>
        <p:spPr>
          <a:xfrm>
            <a:off x="914400" y="2651760"/>
            <a:ext cx="141732" cy="295616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17"/>
          <p:cNvCxnSpPr/>
          <p:nvPr/>
        </p:nvCxnSpPr>
        <p:spPr>
          <a:xfrm>
            <a:off x="1056132" y="2947376"/>
            <a:ext cx="141732" cy="280456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17"/>
          <p:cNvCxnSpPr/>
          <p:nvPr/>
        </p:nvCxnSpPr>
        <p:spPr>
          <a:xfrm>
            <a:off x="1197864" y="3227832"/>
            <a:ext cx="141732" cy="265296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17"/>
          <p:cNvCxnSpPr/>
          <p:nvPr/>
        </p:nvCxnSpPr>
        <p:spPr>
          <a:xfrm>
            <a:off x="1339596" y="3493128"/>
            <a:ext cx="141732" cy="25013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17"/>
          <p:cNvCxnSpPr/>
          <p:nvPr/>
        </p:nvCxnSpPr>
        <p:spPr>
          <a:xfrm>
            <a:off x="1481328" y="3743265"/>
            <a:ext cx="141732" cy="23497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17"/>
          <p:cNvCxnSpPr/>
          <p:nvPr/>
        </p:nvCxnSpPr>
        <p:spPr>
          <a:xfrm>
            <a:off x="1623060" y="3978242"/>
            <a:ext cx="141732" cy="21981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17"/>
          <p:cNvCxnSpPr/>
          <p:nvPr/>
        </p:nvCxnSpPr>
        <p:spPr>
          <a:xfrm>
            <a:off x="1764792" y="4198059"/>
            <a:ext cx="141732" cy="20465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17"/>
          <p:cNvCxnSpPr/>
          <p:nvPr/>
        </p:nvCxnSpPr>
        <p:spPr>
          <a:xfrm>
            <a:off x="1906524" y="4402716"/>
            <a:ext cx="141732" cy="18949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17"/>
          <p:cNvCxnSpPr/>
          <p:nvPr/>
        </p:nvCxnSpPr>
        <p:spPr>
          <a:xfrm>
            <a:off x="2048256" y="4592213"/>
            <a:ext cx="141732" cy="17433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17"/>
          <p:cNvCxnSpPr/>
          <p:nvPr/>
        </p:nvCxnSpPr>
        <p:spPr>
          <a:xfrm>
            <a:off x="2189988" y="4766551"/>
            <a:ext cx="141732" cy="15917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p17"/>
          <p:cNvCxnSpPr/>
          <p:nvPr/>
        </p:nvCxnSpPr>
        <p:spPr>
          <a:xfrm>
            <a:off x="2331720" y="4925728"/>
            <a:ext cx="141732" cy="14401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17"/>
          <p:cNvCxnSpPr/>
          <p:nvPr/>
        </p:nvCxnSpPr>
        <p:spPr>
          <a:xfrm>
            <a:off x="2473452" y="5069746"/>
            <a:ext cx="141732" cy="12885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17"/>
          <p:cNvCxnSpPr/>
          <p:nvPr/>
        </p:nvCxnSpPr>
        <p:spPr>
          <a:xfrm>
            <a:off x="2615184" y="5198605"/>
            <a:ext cx="141732" cy="11369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17"/>
          <p:cNvCxnSpPr/>
          <p:nvPr/>
        </p:nvCxnSpPr>
        <p:spPr>
          <a:xfrm>
            <a:off x="2756916" y="5312303"/>
            <a:ext cx="141732" cy="9853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17"/>
          <p:cNvCxnSpPr/>
          <p:nvPr/>
        </p:nvCxnSpPr>
        <p:spPr>
          <a:xfrm>
            <a:off x="2898648" y="5410842"/>
            <a:ext cx="141732" cy="8337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17"/>
          <p:cNvCxnSpPr/>
          <p:nvPr/>
        </p:nvCxnSpPr>
        <p:spPr>
          <a:xfrm>
            <a:off x="3040380" y="5494221"/>
            <a:ext cx="141732" cy="6821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17"/>
          <p:cNvCxnSpPr/>
          <p:nvPr/>
        </p:nvCxnSpPr>
        <p:spPr>
          <a:xfrm>
            <a:off x="3182112" y="5562440"/>
            <a:ext cx="141732" cy="5305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17"/>
          <p:cNvCxnSpPr/>
          <p:nvPr/>
        </p:nvCxnSpPr>
        <p:spPr>
          <a:xfrm>
            <a:off x="3323844" y="5615499"/>
            <a:ext cx="141732" cy="3789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17"/>
          <p:cNvCxnSpPr/>
          <p:nvPr/>
        </p:nvCxnSpPr>
        <p:spPr>
          <a:xfrm>
            <a:off x="3465576" y="5653398"/>
            <a:ext cx="141732" cy="2274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17"/>
          <p:cNvCxnSpPr/>
          <p:nvPr/>
        </p:nvCxnSpPr>
        <p:spPr>
          <a:xfrm>
            <a:off x="3607308" y="5676138"/>
            <a:ext cx="141732" cy="758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17"/>
          <p:cNvCxnSpPr/>
          <p:nvPr/>
        </p:nvCxnSpPr>
        <p:spPr>
          <a:xfrm flipH="1" rot="10800000">
            <a:off x="3749040" y="5676138"/>
            <a:ext cx="141732" cy="758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17"/>
          <p:cNvCxnSpPr/>
          <p:nvPr/>
        </p:nvCxnSpPr>
        <p:spPr>
          <a:xfrm flipH="1" rot="10800000">
            <a:off x="3890772" y="5653398"/>
            <a:ext cx="141732" cy="2274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17"/>
          <p:cNvCxnSpPr/>
          <p:nvPr/>
        </p:nvCxnSpPr>
        <p:spPr>
          <a:xfrm flipH="1" rot="10800000">
            <a:off x="4032504" y="5615499"/>
            <a:ext cx="141732" cy="3789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17"/>
          <p:cNvCxnSpPr/>
          <p:nvPr/>
        </p:nvCxnSpPr>
        <p:spPr>
          <a:xfrm flipH="1" rot="10800000">
            <a:off x="4174236" y="5562440"/>
            <a:ext cx="141732" cy="5305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17"/>
          <p:cNvCxnSpPr/>
          <p:nvPr/>
        </p:nvCxnSpPr>
        <p:spPr>
          <a:xfrm flipH="1" rot="10800000">
            <a:off x="4315968" y="5494221"/>
            <a:ext cx="141732" cy="6821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3" name="Google Shape;803;p17"/>
          <p:cNvCxnSpPr/>
          <p:nvPr/>
        </p:nvCxnSpPr>
        <p:spPr>
          <a:xfrm flipH="1" rot="10800000">
            <a:off x="4457700" y="5410842"/>
            <a:ext cx="141732" cy="8337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4" name="Google Shape;804;p17"/>
          <p:cNvCxnSpPr/>
          <p:nvPr/>
        </p:nvCxnSpPr>
        <p:spPr>
          <a:xfrm flipH="1" rot="10800000">
            <a:off x="4599432" y="5312303"/>
            <a:ext cx="141732" cy="98539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5" name="Google Shape;805;p17"/>
          <p:cNvCxnSpPr/>
          <p:nvPr/>
        </p:nvCxnSpPr>
        <p:spPr>
          <a:xfrm flipH="1" rot="10800000">
            <a:off x="4741164" y="5198605"/>
            <a:ext cx="141732" cy="11369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17"/>
          <p:cNvCxnSpPr/>
          <p:nvPr/>
        </p:nvCxnSpPr>
        <p:spPr>
          <a:xfrm flipH="1" rot="10800000">
            <a:off x="4882896" y="5069746"/>
            <a:ext cx="141732" cy="12885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7" name="Google Shape;807;p17"/>
          <p:cNvCxnSpPr/>
          <p:nvPr/>
        </p:nvCxnSpPr>
        <p:spPr>
          <a:xfrm flipH="1" rot="10800000">
            <a:off x="5024628" y="4925728"/>
            <a:ext cx="141732" cy="14401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8" name="Google Shape;808;p17"/>
          <p:cNvCxnSpPr/>
          <p:nvPr/>
        </p:nvCxnSpPr>
        <p:spPr>
          <a:xfrm flipH="1" rot="10800000">
            <a:off x="5166360" y="4766551"/>
            <a:ext cx="141732" cy="15917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17"/>
          <p:cNvCxnSpPr/>
          <p:nvPr/>
        </p:nvCxnSpPr>
        <p:spPr>
          <a:xfrm flipH="1" rot="10800000">
            <a:off x="5308092" y="4592213"/>
            <a:ext cx="141732" cy="174338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17"/>
          <p:cNvCxnSpPr/>
          <p:nvPr/>
        </p:nvCxnSpPr>
        <p:spPr>
          <a:xfrm flipH="1" rot="10800000">
            <a:off x="5449824" y="4402716"/>
            <a:ext cx="141732" cy="18949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17"/>
          <p:cNvCxnSpPr/>
          <p:nvPr/>
        </p:nvCxnSpPr>
        <p:spPr>
          <a:xfrm flipH="1" rot="10800000">
            <a:off x="5591556" y="4198059"/>
            <a:ext cx="141732" cy="20465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17"/>
          <p:cNvCxnSpPr/>
          <p:nvPr/>
        </p:nvCxnSpPr>
        <p:spPr>
          <a:xfrm flipH="1" rot="10800000">
            <a:off x="5733288" y="3978242"/>
            <a:ext cx="141732" cy="21981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17"/>
          <p:cNvCxnSpPr/>
          <p:nvPr/>
        </p:nvCxnSpPr>
        <p:spPr>
          <a:xfrm flipH="1" rot="10800000">
            <a:off x="5875020" y="3743265"/>
            <a:ext cx="141732" cy="23497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17"/>
          <p:cNvCxnSpPr/>
          <p:nvPr/>
        </p:nvCxnSpPr>
        <p:spPr>
          <a:xfrm flipH="1" rot="10800000">
            <a:off x="6016752" y="3493128"/>
            <a:ext cx="141732" cy="250137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17"/>
          <p:cNvCxnSpPr/>
          <p:nvPr/>
        </p:nvCxnSpPr>
        <p:spPr>
          <a:xfrm flipH="1" rot="10800000">
            <a:off x="6158484" y="3227832"/>
            <a:ext cx="141732" cy="265296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17"/>
          <p:cNvCxnSpPr/>
          <p:nvPr/>
        </p:nvCxnSpPr>
        <p:spPr>
          <a:xfrm flipH="1" rot="10800000">
            <a:off x="6300216" y="2947376"/>
            <a:ext cx="141732" cy="280456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17"/>
          <p:cNvCxnSpPr/>
          <p:nvPr/>
        </p:nvCxnSpPr>
        <p:spPr>
          <a:xfrm flipH="1" rot="10800000">
            <a:off x="6441948" y="2651760"/>
            <a:ext cx="141732" cy="295616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17"/>
          <p:cNvCxnSpPr/>
          <p:nvPr/>
        </p:nvCxnSpPr>
        <p:spPr>
          <a:xfrm flipH="1" rot="10800000">
            <a:off x="4977384" y="3392905"/>
            <a:ext cx="1322832" cy="1886552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19" name="Google Shape;819;p17"/>
          <p:cNvSpPr/>
          <p:nvPr/>
        </p:nvSpPr>
        <p:spPr>
          <a:xfrm>
            <a:off x="5547360" y="4244741"/>
            <a:ext cx="182880" cy="18288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7"/>
          <p:cNvSpPr txBox="1"/>
          <p:nvPr/>
        </p:nvSpPr>
        <p:spPr>
          <a:xfrm>
            <a:off x="5090160" y="4473341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77E12"/>
                </a:solidFill>
                <a:latin typeface="Calibri"/>
                <a:ea typeface="Calibri"/>
                <a:cs typeface="Calibri"/>
                <a:sym typeface="Calibri"/>
              </a:rPr>
              <a:t>текущий вес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1" name="Google Shape;821;p17"/>
          <p:cNvCxnSpPr/>
          <p:nvPr/>
        </p:nvCxnSpPr>
        <p:spPr>
          <a:xfrm>
            <a:off x="4032504" y="4016141"/>
            <a:ext cx="1606296" cy="0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22" name="Google Shape;822;p17"/>
          <p:cNvSpPr txBox="1"/>
          <p:nvPr/>
        </p:nvSpPr>
        <p:spPr>
          <a:xfrm>
            <a:off x="3646932" y="371438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77E12"/>
                </a:solidFill>
                <a:latin typeface="Calibri"/>
                <a:ea typeface="Calibri"/>
                <a:cs typeface="Calibri"/>
                <a:sym typeface="Calibri"/>
              </a:rPr>
              <a:t>шаги градиентного спуска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/>
          <p:cNvSpPr/>
          <p:nvPr/>
        </p:nvSpPr>
        <p:spPr>
          <a:xfrm>
            <a:off x="3685032" y="5619710"/>
            <a:ext cx="128016" cy="128016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7"/>
          <p:cNvSpPr txBox="1"/>
          <p:nvPr/>
        </p:nvSpPr>
        <p:spPr>
          <a:xfrm>
            <a:off x="3200400" y="579344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минимум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7"/>
          <p:cNvSpPr txBox="1"/>
          <p:nvPr/>
        </p:nvSpPr>
        <p:spPr>
          <a:xfrm>
            <a:off x="914400" y="617220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касательная = производная в точке (наклон)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7"/>
          <p:cNvSpPr/>
          <p:nvPr/>
        </p:nvSpPr>
        <p:spPr>
          <a:xfrm>
            <a:off x="7040880" y="1870285"/>
            <a:ext cx="4755000" cy="1417200"/>
          </a:xfrm>
          <a:prstGeom prst="roundRect">
            <a:avLst>
              <a:gd fmla="val 645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 txBox="1"/>
          <p:nvPr/>
        </p:nvSpPr>
        <p:spPr>
          <a:xfrm>
            <a:off x="7333488" y="2016589"/>
            <a:ext cx="41697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Градиент ∂L/∂w — направление наискорейшего РОСТА функции. Мы хотим loss уменьшить — значит, идём в обратную сторону: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7"/>
          <p:cNvSpPr txBox="1"/>
          <p:nvPr/>
        </p:nvSpPr>
        <p:spPr>
          <a:xfrm>
            <a:off x="7040943" y="3392910"/>
            <a:ext cx="475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 ← w − η · ∂L/∂w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7"/>
          <p:cNvSpPr txBox="1"/>
          <p:nvPr/>
        </p:nvSpPr>
        <p:spPr>
          <a:xfrm>
            <a:off x="7040880" y="493776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Наклон положительный (как здесь) → двигаем w влево, к минимуму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Чем ближе к минимуму, тем меньше наклон — шаги естественно замедляются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Это и есть градиентный спуск — метод, которым в теме 2 будут обучаться уже настоящие многослойные сети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7"/>
          <p:cNvSpPr txBox="1"/>
          <p:nvPr/>
        </p:nvSpPr>
        <p:spPr>
          <a:xfrm>
            <a:off x="7640240" y="4071795"/>
            <a:ext cx="110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∇L = ( ∂L/∂w</a:t>
            </a:r>
            <a:r>
              <a:rPr b="1" baseline="-25000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, ∂L/∂w</a:t>
            </a:r>
            <a:r>
              <a:rPr b="1" baseline="-25000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, ..., ∂L/∂w</a:t>
            </a:r>
            <a:r>
              <a:rPr b="1" baseline="-25000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8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ПРЕДЕЛ ПЕРЦЕПТРОНА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8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Проблема XOR (Минский и Пейперт, 1969)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8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15/19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8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" name="Google Shape;840;p18"/>
          <p:cNvCxnSpPr/>
          <p:nvPr/>
        </p:nvCxnSpPr>
        <p:spPr>
          <a:xfrm>
            <a:off x="1280160" y="1920240"/>
            <a:ext cx="0" cy="2926080"/>
          </a:xfrm>
          <a:prstGeom prst="straightConnector1">
            <a:avLst/>
          </a:prstGeom>
          <a:noFill/>
          <a:ln cap="flat" cmpd="sng" w="15875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1" name="Google Shape;841;p18"/>
          <p:cNvCxnSpPr/>
          <p:nvPr/>
        </p:nvCxnSpPr>
        <p:spPr>
          <a:xfrm>
            <a:off x="1280160" y="4846320"/>
            <a:ext cx="2926080" cy="0"/>
          </a:xfrm>
          <a:prstGeom prst="straightConnector1">
            <a:avLst/>
          </a:prstGeom>
          <a:noFill/>
          <a:ln cap="flat" cmpd="sng" w="15875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2" name="Google Shape;842;p18"/>
          <p:cNvSpPr/>
          <p:nvPr/>
        </p:nvSpPr>
        <p:spPr>
          <a:xfrm>
            <a:off x="1078992" y="4645152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8"/>
          <p:cNvSpPr txBox="1"/>
          <p:nvPr/>
        </p:nvSpPr>
        <p:spPr>
          <a:xfrm>
            <a:off x="1078992" y="46451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8"/>
          <p:cNvSpPr/>
          <p:nvPr/>
        </p:nvSpPr>
        <p:spPr>
          <a:xfrm>
            <a:off x="1078992" y="1719072"/>
            <a:ext cx="402336" cy="402336"/>
          </a:xfrm>
          <a:prstGeom prst="ellipse">
            <a:avLst/>
          </a:prstGeom>
          <a:solidFill>
            <a:srgbClr val="F2A93B"/>
          </a:solidFill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8"/>
          <p:cNvSpPr txBox="1"/>
          <p:nvPr/>
        </p:nvSpPr>
        <p:spPr>
          <a:xfrm>
            <a:off x="1078992" y="17190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8"/>
          <p:cNvSpPr/>
          <p:nvPr/>
        </p:nvSpPr>
        <p:spPr>
          <a:xfrm>
            <a:off x="4005072" y="4645152"/>
            <a:ext cx="402336" cy="402336"/>
          </a:xfrm>
          <a:prstGeom prst="ellipse">
            <a:avLst/>
          </a:prstGeom>
          <a:solidFill>
            <a:srgbClr val="F2A93B"/>
          </a:solidFill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8"/>
          <p:cNvSpPr txBox="1"/>
          <p:nvPr/>
        </p:nvSpPr>
        <p:spPr>
          <a:xfrm>
            <a:off x="4005072" y="46451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8"/>
          <p:cNvSpPr/>
          <p:nvPr/>
        </p:nvSpPr>
        <p:spPr>
          <a:xfrm>
            <a:off x="4005072" y="1719072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8"/>
          <p:cNvSpPr txBox="1"/>
          <p:nvPr/>
        </p:nvSpPr>
        <p:spPr>
          <a:xfrm>
            <a:off x="4005072" y="17190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0" name="Google Shape;850;p18"/>
          <p:cNvCxnSpPr/>
          <p:nvPr/>
        </p:nvCxnSpPr>
        <p:spPr>
          <a:xfrm>
            <a:off x="960120" y="3383280"/>
            <a:ext cx="3566160" cy="0"/>
          </a:xfrm>
          <a:prstGeom prst="straightConnector1">
            <a:avLst/>
          </a:prstGeom>
          <a:noFill/>
          <a:ln cap="flat" cmpd="sng" w="22225">
            <a:solidFill>
              <a:srgbClr val="8592B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51" name="Google Shape;851;p18"/>
          <p:cNvCxnSpPr/>
          <p:nvPr/>
        </p:nvCxnSpPr>
        <p:spPr>
          <a:xfrm>
            <a:off x="2542032" y="3182112"/>
            <a:ext cx="402336" cy="402336"/>
          </a:xfrm>
          <a:prstGeom prst="straightConnector1">
            <a:avLst/>
          </a:prstGeom>
          <a:noFill/>
          <a:ln cap="flat" cmpd="sng" w="38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18"/>
          <p:cNvCxnSpPr/>
          <p:nvPr/>
        </p:nvCxnSpPr>
        <p:spPr>
          <a:xfrm flipH="1" rot="10800000">
            <a:off x="2542032" y="3182112"/>
            <a:ext cx="402336" cy="402336"/>
          </a:xfrm>
          <a:prstGeom prst="straightConnector1">
            <a:avLst/>
          </a:prstGeom>
          <a:noFill/>
          <a:ln cap="flat" cmpd="sng" w="38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3" name="Google Shape;853;p18"/>
          <p:cNvSpPr txBox="1"/>
          <p:nvPr/>
        </p:nvSpPr>
        <p:spPr>
          <a:xfrm>
            <a:off x="914400" y="50749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любая прямая — с обеих сторон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остаются оба класса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8"/>
          <p:cNvSpPr txBox="1"/>
          <p:nvPr/>
        </p:nvSpPr>
        <p:spPr>
          <a:xfrm>
            <a:off x="5760720" y="1920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x₁   x₂   →   XOR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8"/>
          <p:cNvSpPr txBox="1"/>
          <p:nvPr/>
        </p:nvSpPr>
        <p:spPr>
          <a:xfrm>
            <a:off x="5760720" y="2331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B1F2A"/>
                </a:solidFill>
                <a:latin typeface="Consolas"/>
                <a:ea typeface="Consolas"/>
                <a:cs typeface="Consolas"/>
                <a:sym typeface="Consolas"/>
              </a:rPr>
              <a:t>0     0    →    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8"/>
          <p:cNvSpPr txBox="1"/>
          <p:nvPr/>
        </p:nvSpPr>
        <p:spPr>
          <a:xfrm>
            <a:off x="5760720" y="2697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B1F2A"/>
                </a:solidFill>
                <a:latin typeface="Consolas"/>
                <a:ea typeface="Consolas"/>
                <a:cs typeface="Consolas"/>
                <a:sym typeface="Consolas"/>
              </a:rPr>
              <a:t>0     1    →    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8"/>
          <p:cNvSpPr txBox="1"/>
          <p:nvPr/>
        </p:nvSpPr>
        <p:spPr>
          <a:xfrm>
            <a:off x="5760720" y="3063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B1F2A"/>
                </a:solidFill>
                <a:latin typeface="Consolas"/>
                <a:ea typeface="Consolas"/>
                <a:cs typeface="Consolas"/>
                <a:sym typeface="Consolas"/>
              </a:rPr>
              <a:t>1     0    →    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8"/>
          <p:cNvSpPr txBox="1"/>
          <p:nvPr/>
        </p:nvSpPr>
        <p:spPr>
          <a:xfrm>
            <a:off x="5760720" y="3429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B1F2A"/>
                </a:solidFill>
                <a:latin typeface="Consolas"/>
                <a:ea typeface="Consolas"/>
                <a:cs typeface="Consolas"/>
                <a:sym typeface="Consolas"/>
              </a:rPr>
              <a:t>1     1    →    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8"/>
          <p:cNvSpPr/>
          <p:nvPr/>
        </p:nvSpPr>
        <p:spPr>
          <a:xfrm>
            <a:off x="5715000" y="4069080"/>
            <a:ext cx="5928055" cy="1554480"/>
          </a:xfrm>
          <a:prstGeom prst="roundRect">
            <a:avLst>
              <a:gd fmla="val 58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8"/>
          <p:cNvSpPr txBox="1"/>
          <p:nvPr/>
        </p:nvSpPr>
        <p:spPr>
          <a:xfrm>
            <a:off x="6007608" y="4215384"/>
            <a:ext cx="5342839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Классы XOR не линейно разделимы — никакая прямая (никакой один перцептрон) не может их развести. Это открытие стало одной из причин «зимы ИИ» — многолетнего спада интереса и финансирования в области.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9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9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Решение: скрытый слой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9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16/19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9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9"/>
          <p:cNvSpPr txBox="1"/>
          <p:nvPr/>
        </p:nvSpPr>
        <p:spPr>
          <a:xfrm>
            <a:off x="548640" y="173736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Один перцептрон проводит только одну прямую границу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1F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Но если соединить несколько перцептронов в слой — вместе они могут вырезать сложную, нелинейную область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1F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Так появляется скрытый слой (hidden layer) — и нейросеть перестаёт быть просто линейной моделью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19"/>
          <p:cNvCxnSpPr/>
          <p:nvPr/>
        </p:nvCxnSpPr>
        <p:spPr>
          <a:xfrm flipH="1" rot="10800000">
            <a:off x="6583680" y="2743200"/>
            <a:ext cx="1645920" cy="274320"/>
          </a:xfrm>
          <a:prstGeom prst="straightConnector1">
            <a:avLst/>
          </a:prstGeom>
          <a:noFill/>
          <a:ln cap="flat" cmpd="sng" w="1587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19"/>
          <p:cNvCxnSpPr/>
          <p:nvPr/>
        </p:nvCxnSpPr>
        <p:spPr>
          <a:xfrm>
            <a:off x="6583680" y="3017520"/>
            <a:ext cx="1645920" cy="1554480"/>
          </a:xfrm>
          <a:prstGeom prst="straightConnector1">
            <a:avLst/>
          </a:prstGeom>
          <a:noFill/>
          <a:ln cap="flat" cmpd="sng" w="1587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p19"/>
          <p:cNvCxnSpPr/>
          <p:nvPr/>
        </p:nvCxnSpPr>
        <p:spPr>
          <a:xfrm flipH="1" rot="10800000">
            <a:off x="6583680" y="2743200"/>
            <a:ext cx="1645920" cy="1554480"/>
          </a:xfrm>
          <a:prstGeom prst="straightConnector1">
            <a:avLst/>
          </a:prstGeom>
          <a:noFill/>
          <a:ln cap="flat" cmpd="sng" w="1587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19"/>
          <p:cNvCxnSpPr/>
          <p:nvPr/>
        </p:nvCxnSpPr>
        <p:spPr>
          <a:xfrm>
            <a:off x="6583680" y="4297680"/>
            <a:ext cx="1645920" cy="274320"/>
          </a:xfrm>
          <a:prstGeom prst="straightConnector1">
            <a:avLst/>
          </a:prstGeom>
          <a:noFill/>
          <a:ln cap="flat" cmpd="sng" w="1587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19"/>
          <p:cNvCxnSpPr/>
          <p:nvPr/>
        </p:nvCxnSpPr>
        <p:spPr>
          <a:xfrm>
            <a:off x="8778240" y="2743200"/>
            <a:ext cx="1645920" cy="914400"/>
          </a:xfrm>
          <a:prstGeom prst="straightConnector1">
            <a:avLst/>
          </a:prstGeom>
          <a:noFill/>
          <a:ln cap="flat" cmpd="sng" w="1587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19"/>
          <p:cNvCxnSpPr/>
          <p:nvPr/>
        </p:nvCxnSpPr>
        <p:spPr>
          <a:xfrm flipH="1" rot="10800000">
            <a:off x="8778240" y="3657600"/>
            <a:ext cx="1645920" cy="914400"/>
          </a:xfrm>
          <a:prstGeom prst="straightConnector1">
            <a:avLst/>
          </a:prstGeom>
          <a:noFill/>
          <a:ln cap="flat" cmpd="sng" w="1587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7" name="Google Shape;877;p19"/>
          <p:cNvSpPr/>
          <p:nvPr/>
        </p:nvSpPr>
        <p:spPr>
          <a:xfrm>
            <a:off x="6035040" y="2743200"/>
            <a:ext cx="548640" cy="54864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9"/>
          <p:cNvSpPr txBox="1"/>
          <p:nvPr/>
        </p:nvSpPr>
        <p:spPr>
          <a:xfrm>
            <a:off x="603504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9"/>
          <p:cNvSpPr/>
          <p:nvPr/>
        </p:nvSpPr>
        <p:spPr>
          <a:xfrm>
            <a:off x="6035040" y="4023360"/>
            <a:ext cx="548640" cy="54864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9"/>
          <p:cNvSpPr txBox="1"/>
          <p:nvPr/>
        </p:nvSpPr>
        <p:spPr>
          <a:xfrm>
            <a:off x="6035040" y="4023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9"/>
          <p:cNvSpPr/>
          <p:nvPr/>
        </p:nvSpPr>
        <p:spPr>
          <a:xfrm>
            <a:off x="8229600" y="2468880"/>
            <a:ext cx="548640" cy="54864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9"/>
          <p:cNvSpPr/>
          <p:nvPr/>
        </p:nvSpPr>
        <p:spPr>
          <a:xfrm>
            <a:off x="8229600" y="4297680"/>
            <a:ext cx="548640" cy="54864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9"/>
          <p:cNvSpPr/>
          <p:nvPr/>
        </p:nvSpPr>
        <p:spPr>
          <a:xfrm>
            <a:off x="10424160" y="338328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9"/>
          <p:cNvSpPr txBox="1"/>
          <p:nvPr/>
        </p:nvSpPr>
        <p:spPr>
          <a:xfrm>
            <a:off x="10424160" y="3383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9"/>
          <p:cNvSpPr txBox="1"/>
          <p:nvPr/>
        </p:nvSpPr>
        <p:spPr>
          <a:xfrm>
            <a:off x="5760720" y="48920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вход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9"/>
          <p:cNvSpPr txBox="1"/>
          <p:nvPr/>
        </p:nvSpPr>
        <p:spPr>
          <a:xfrm>
            <a:off x="7589520" y="5120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скрытый слой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9"/>
          <p:cNvSpPr txBox="1"/>
          <p:nvPr/>
        </p:nvSpPr>
        <p:spPr>
          <a:xfrm>
            <a:off x="10149840" y="40690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выход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0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ГЕОМЕТРИЯ РЕШЕНИЯ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Два перцептрона — две линии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20/23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0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"/>
          <p:cNvSpPr/>
          <p:nvPr/>
        </p:nvSpPr>
        <p:spPr>
          <a:xfrm>
            <a:off x="1097280" y="1783080"/>
            <a:ext cx="3291840" cy="3291840"/>
          </a:xfrm>
          <a:custGeom>
            <a:rect b="b" l="l" r="r" t="t"/>
            <a:pathLst>
              <a:path extrusionOk="0" h="3291840" w="3291840">
                <a:moveTo>
                  <a:pt x="0" y="1645920"/>
                </a:moveTo>
                <a:lnTo>
                  <a:pt x="1645920" y="3291840"/>
                </a:lnTo>
                <a:lnTo>
                  <a:pt x="3291840" y="3291840"/>
                </a:lnTo>
                <a:lnTo>
                  <a:pt x="3291840" y="1645920"/>
                </a:lnTo>
                <a:lnTo>
                  <a:pt x="1645920" y="0"/>
                </a:lnTo>
                <a:lnTo>
                  <a:pt x="0" y="0"/>
                </a:lnTo>
              </a:path>
            </a:pathLst>
          </a:custGeom>
          <a:solidFill>
            <a:srgbClr val="F2A93B">
              <a:alpha val="27840"/>
            </a:srgbClr>
          </a:solidFill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898" name="Google Shape;898;p20"/>
          <p:cNvCxnSpPr/>
          <p:nvPr/>
        </p:nvCxnSpPr>
        <p:spPr>
          <a:xfrm>
            <a:off x="1097280" y="1783080"/>
            <a:ext cx="0" cy="3291900"/>
          </a:xfrm>
          <a:prstGeom prst="straightConnector1">
            <a:avLst/>
          </a:prstGeom>
          <a:noFill/>
          <a:ln cap="flat" cmpd="sng" w="1395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9" name="Google Shape;899;p20"/>
          <p:cNvCxnSpPr/>
          <p:nvPr/>
        </p:nvCxnSpPr>
        <p:spPr>
          <a:xfrm>
            <a:off x="1097280" y="5074920"/>
            <a:ext cx="3291900" cy="0"/>
          </a:xfrm>
          <a:prstGeom prst="straightConnector1">
            <a:avLst/>
          </a:prstGeom>
          <a:noFill/>
          <a:ln cap="flat" cmpd="sng" w="1395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20"/>
          <p:cNvSpPr txBox="1"/>
          <p:nvPr/>
        </p:nvSpPr>
        <p:spPr>
          <a:xfrm>
            <a:off x="4160520" y="512064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0"/>
          <p:cNvSpPr txBox="1"/>
          <p:nvPr/>
        </p:nvSpPr>
        <p:spPr>
          <a:xfrm>
            <a:off x="731520" y="173736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/>
          <p:nvPr/>
        </p:nvSpPr>
        <p:spPr>
          <a:xfrm>
            <a:off x="896112" y="487375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0"/>
          <p:cNvSpPr txBox="1"/>
          <p:nvPr/>
        </p:nvSpPr>
        <p:spPr>
          <a:xfrm>
            <a:off x="896112" y="48737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896112" y="1581912"/>
            <a:ext cx="402300" cy="402300"/>
          </a:xfrm>
          <a:prstGeom prst="ellipse">
            <a:avLst/>
          </a:prstGeom>
          <a:solidFill>
            <a:srgbClr val="F2A93B"/>
          </a:solidFill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0"/>
          <p:cNvSpPr txBox="1"/>
          <p:nvPr/>
        </p:nvSpPr>
        <p:spPr>
          <a:xfrm>
            <a:off x="896112" y="158191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0"/>
          <p:cNvSpPr/>
          <p:nvPr/>
        </p:nvSpPr>
        <p:spPr>
          <a:xfrm>
            <a:off x="4187952" y="4873752"/>
            <a:ext cx="402300" cy="402300"/>
          </a:xfrm>
          <a:prstGeom prst="ellipse">
            <a:avLst/>
          </a:prstGeom>
          <a:solidFill>
            <a:srgbClr val="F2A93B"/>
          </a:solidFill>
          <a:ln cap="flat" cmpd="sng" w="2540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0"/>
          <p:cNvSpPr txBox="1"/>
          <p:nvPr/>
        </p:nvSpPr>
        <p:spPr>
          <a:xfrm>
            <a:off x="4187952" y="48737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4187952" y="158191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0"/>
          <p:cNvSpPr txBox="1"/>
          <p:nvPr/>
        </p:nvSpPr>
        <p:spPr>
          <a:xfrm>
            <a:off x="4187952" y="158191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 txBox="1"/>
          <p:nvPr/>
        </p:nvSpPr>
        <p:spPr>
          <a:xfrm>
            <a:off x="7680960" y="1783080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Два скрытых нейрона: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0"/>
          <p:cNvSpPr txBox="1"/>
          <p:nvPr/>
        </p:nvSpPr>
        <p:spPr>
          <a:xfrm>
            <a:off x="7680960" y="2148840"/>
            <a:ext cx="393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h₁ = step(x₁+x₂−0.5)  — «хотя бы один вход включён»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h₂ = step(x₁+x₂−1.5)  — «оба входа включены»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y = step(h₁−h₂−0.5)  — «ровно один»: h₁ да, h₂ нет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0"/>
          <p:cNvSpPr/>
          <p:nvPr/>
        </p:nvSpPr>
        <p:spPr>
          <a:xfrm>
            <a:off x="7680960" y="4160520"/>
            <a:ext cx="3931800" cy="182880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0"/>
          <p:cNvSpPr txBox="1"/>
          <p:nvPr/>
        </p:nvSpPr>
        <p:spPr>
          <a:xfrm>
            <a:off x="7973568" y="4306824"/>
            <a:ext cx="33468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h₁ и h₂ — это ровно те же два нейрона скрытого слоя с предыдущей схемы. Каждый проводит свою прямую; закрашенная область между ними — это и есть зона, где сеть отвечает «1». Она нелинейная — то, чего не мог один перцептрон.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ОБОБЩЕНИЕ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1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Полносвязная сеть и теорема аппроксимации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1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17/19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1"/>
          <p:cNvSpPr txBox="1"/>
          <p:nvPr/>
        </p:nvSpPr>
        <p:spPr>
          <a:xfrm>
            <a:off x="548640" y="443484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«полносвязная» — каждый нейрон слоя соединён со всеми нейронами следующего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1"/>
          <p:cNvSpPr/>
          <p:nvPr/>
        </p:nvSpPr>
        <p:spPr>
          <a:xfrm>
            <a:off x="6583680" y="1737360"/>
            <a:ext cx="5059375" cy="3383280"/>
          </a:xfrm>
          <a:prstGeom prst="roundRect">
            <a:avLst>
              <a:gd fmla="val 270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1"/>
          <p:cNvSpPr txBox="1"/>
          <p:nvPr/>
        </p:nvSpPr>
        <p:spPr>
          <a:xfrm>
            <a:off x="6876288" y="1883664"/>
            <a:ext cx="4474159" cy="3090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Теорема универсальной аппроксимации (Cybenko, 1989; Hornik, 1991):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сеть с одним достаточно широким скрытым слоем способна приблизить любую непрерывную функцию на компактном множестве со сколь угодно высокой точностью.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«Может приблизить» ≠ «легко обучится» — про то, как её обучать, весь остальной курс.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6" name="Google Shape;9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725237"/>
            <a:ext cx="5286975" cy="35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525" y="700150"/>
            <a:ext cx="3743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22"/>
          <p:cNvSpPr txBox="1"/>
          <p:nvPr/>
        </p:nvSpPr>
        <p:spPr>
          <a:xfrm>
            <a:off x="3525850" y="5149425"/>
            <a:ext cx="56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https://playground.tensorflow.org/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ВЗГЛЯД ВПЕРЁД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Что дальше: тема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3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18/19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3"/>
          <p:cNvSpPr txBox="1"/>
          <p:nvPr/>
        </p:nvSpPr>
        <p:spPr>
          <a:xfrm>
            <a:off x="548640" y="1828800"/>
            <a:ext cx="6949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Backpropagation — метод обратного распространения ошибки: градиентный спуск для сети из многих слоёв сразу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Автоматическое дифференцирование в PyTorch — почему нам не нужно считать производные руками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Первая полносвязная сеть своими руками — классификация Fashion-MNIST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4" name="Google Shape;944;p23"/>
          <p:cNvCxnSpPr/>
          <p:nvPr/>
        </p:nvCxnSpPr>
        <p:spPr>
          <a:xfrm flipH="1" rot="10800000">
            <a:off x="9006840" y="2217420"/>
            <a:ext cx="868680" cy="3657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5" name="Google Shape;945;p23"/>
          <p:cNvCxnSpPr/>
          <p:nvPr/>
        </p:nvCxnSpPr>
        <p:spPr>
          <a:xfrm>
            <a:off x="9006840" y="2583180"/>
            <a:ext cx="868680" cy="54864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6" name="Google Shape;946;p23"/>
          <p:cNvCxnSpPr/>
          <p:nvPr/>
        </p:nvCxnSpPr>
        <p:spPr>
          <a:xfrm>
            <a:off x="9006840" y="2583180"/>
            <a:ext cx="868680" cy="146304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23"/>
          <p:cNvCxnSpPr/>
          <p:nvPr/>
        </p:nvCxnSpPr>
        <p:spPr>
          <a:xfrm flipH="1" rot="10800000">
            <a:off x="9006840" y="2217420"/>
            <a:ext cx="868680" cy="12801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23"/>
          <p:cNvCxnSpPr/>
          <p:nvPr/>
        </p:nvCxnSpPr>
        <p:spPr>
          <a:xfrm flipH="1" rot="10800000">
            <a:off x="9006840" y="3131820"/>
            <a:ext cx="868680" cy="3657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23"/>
          <p:cNvCxnSpPr/>
          <p:nvPr/>
        </p:nvCxnSpPr>
        <p:spPr>
          <a:xfrm>
            <a:off x="9006840" y="3497580"/>
            <a:ext cx="868680" cy="54864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23"/>
          <p:cNvCxnSpPr/>
          <p:nvPr/>
        </p:nvCxnSpPr>
        <p:spPr>
          <a:xfrm>
            <a:off x="10287000" y="2217420"/>
            <a:ext cx="868680" cy="914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23"/>
          <p:cNvCxnSpPr/>
          <p:nvPr/>
        </p:nvCxnSpPr>
        <p:spPr>
          <a:xfrm>
            <a:off x="10287000" y="3131820"/>
            <a:ext cx="86868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23"/>
          <p:cNvCxnSpPr/>
          <p:nvPr/>
        </p:nvCxnSpPr>
        <p:spPr>
          <a:xfrm flipH="1" rot="10800000">
            <a:off x="10287000" y="3131820"/>
            <a:ext cx="868680" cy="914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3" name="Google Shape;953;p23"/>
          <p:cNvSpPr/>
          <p:nvPr/>
        </p:nvSpPr>
        <p:spPr>
          <a:xfrm>
            <a:off x="8595360" y="2377440"/>
            <a:ext cx="411480" cy="41148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3"/>
          <p:cNvSpPr/>
          <p:nvPr/>
        </p:nvSpPr>
        <p:spPr>
          <a:xfrm>
            <a:off x="8595360" y="3291840"/>
            <a:ext cx="411480" cy="41148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3"/>
          <p:cNvSpPr/>
          <p:nvPr/>
        </p:nvSpPr>
        <p:spPr>
          <a:xfrm>
            <a:off x="9875520" y="2011680"/>
            <a:ext cx="411480" cy="41148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3"/>
          <p:cNvSpPr/>
          <p:nvPr/>
        </p:nvSpPr>
        <p:spPr>
          <a:xfrm>
            <a:off x="9875520" y="2926080"/>
            <a:ext cx="411480" cy="41148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3"/>
          <p:cNvSpPr/>
          <p:nvPr/>
        </p:nvSpPr>
        <p:spPr>
          <a:xfrm>
            <a:off x="9875520" y="3840480"/>
            <a:ext cx="411480" cy="41148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3"/>
          <p:cNvSpPr/>
          <p:nvPr/>
        </p:nvSpPr>
        <p:spPr>
          <a:xfrm>
            <a:off x="11155680" y="2926080"/>
            <a:ext cx="411480" cy="41148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9" name="Google Shape;959;p23"/>
          <p:cNvCxnSpPr/>
          <p:nvPr/>
        </p:nvCxnSpPr>
        <p:spPr>
          <a:xfrm>
            <a:off x="8503920" y="4480560"/>
            <a:ext cx="2560320" cy="0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60" name="Google Shape;960;p23"/>
          <p:cNvSpPr txBox="1"/>
          <p:nvPr/>
        </p:nvSpPr>
        <p:spPr>
          <a:xfrm>
            <a:off x="8138160" y="4572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77E12"/>
                </a:solidFill>
                <a:latin typeface="Calibri"/>
                <a:ea typeface="Calibri"/>
                <a:cs typeface="Calibri"/>
                <a:sym typeface="Calibri"/>
              </a:rPr>
              <a:t>градиент идёт назад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24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РЕЗЮМЕ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4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Ключевые выводы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4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4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4"/>
          <p:cNvSpPr txBox="1"/>
          <p:nvPr/>
        </p:nvSpPr>
        <p:spPr>
          <a:xfrm>
            <a:off x="548640" y="1600200"/>
            <a:ext cx="11094415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3FD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Нейросеть — функция, приближающая данные по примерам, как и классический ML, но собранная из простых блоков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EEF3FD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Задача «оцифровки» реальности — извлечь измеримые признаки и собрать их в вектор 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EEF3FD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Искусственный нейрон = взвешенная сумма + активация; без активации это просто (логистическая) регрессия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EEF3FD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Перцептрон Розенблатта (1958) — первый обучаемый линейный классификатор; его правило — частный случай градиентного спуска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EEF3FD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Один перцептрон не решает XOR — нужен как минимум один скрытый слой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EEF3FD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Полносвязная сеть + теорема универсальной аппроксимации — теоретический фундамент глубокого обучения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EEF3FD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EF3FD"/>
                </a:solidFill>
                <a:latin typeface="Calibri"/>
                <a:ea typeface="Calibri"/>
                <a:cs typeface="Calibri"/>
                <a:sym typeface="Calibri"/>
              </a:rPr>
              <a:t>Дальше — backpropagation и PyTorch на практике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