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1675"/>
  <p:notesSz cx="6858000" cy="121916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Вступление. Напомнить формат: сегодня — теория backprop + PyTorch-инструменты; на семинаре уже практиковали ручной градиентный спуск на PyTorch, сегодня — как это устроено внутри, на сетях из многих слоёв, и как это делать 'по-настоящему' с nn.Module и optim.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Быстро пройтись по плану, 1-1.5 минуты.</a:t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Явная связка с семинаром — студенты уже писали backward()+ручное обновление, но не задумывались, что именно вычисляет backward() внутри сети из многих слоёв. Это и есть тема сегодняшней лекции.</a:t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bb4eb6e4c_1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fbb4eb6e4c_1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126" name="Google Shape;126;g3fbb4eb6e4c_1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bb4eb6e4c_1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fbb4eb6e4c_1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178" name="Google Shape;178;g3fbb4eb6e4c_1_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bb4eb6e4c_1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fbb4eb6e4c_1_1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237" name="Google Shape;237;g3fbb4eb6e4c_1_1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h327c18668d5a8fe2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h327c18668d5a8fe2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299" name="Google Shape;299;h327c18668d5a8fe2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h327c18668d5a8fe2_4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h327c18668d5a8fe2_4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344" name="Google Shape;344;h327c18668d5a8fe2_4_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h3894a91bd571848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h3894a91bd571848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Новый слайд. Явно провести параллель: правило Розенблатта w←w+η(y−ŷ)x — это, по сути, частный (историч.) случай той же общей идеи «двигаться против роста ошибки». Формулу производной считать не нужно — здесь важна интуиция и связь с темой 2 (backprop = градиентный спуск для сети из многих слоёв).</a:t>
            </a:r>
            <a:endParaRPr/>
          </a:p>
        </p:txBody>
      </p:sp>
      <p:sp>
        <p:nvSpPr>
          <p:cNvPr id="388" name="Google Shape;388;h3894a91bd571848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h327c18668d5a8fe2_4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h327c18668d5a8fe2_4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455" name="Google Shape;455;h327c18668d5a8fe2_4_1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h6d40af95412c53d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h6d40af95412c53d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h6d40af95412c53d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h6d40af95412c53d3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h6d40af95412c53d3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h6d40af95412c53d3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h6d40af95412c53d3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h6d40af95412c53d3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h6d40af95412c53d3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h6d40af95412c53d3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h6d40af95412c53d3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h6d40af95412c53d3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40a23d561cc_3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40a23d561cc_3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40a23d561cc_3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40a23d561cc_3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40a23d561cc_3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554" name="Google Shape;554;g40a23d561cc_3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40a23d561cc_3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g40a23d561cc_3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598" name="Google Shape;598;g40a23d561cc_3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40a23d561cc_3_1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1" name="Google Shape;641;g40a23d561cc_3_1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642" name="Google Shape;642;g40a23d561cc_3_1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h3894a91bd571848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h3894a91bd571848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Показать реалистичную многослойную сеть и явно указать на дальний от выхода вес — как понять его влияние на loss? Мотивационный вопрос ко всей лекции.</a:t>
            </a:r>
            <a:endParaRPr/>
          </a:p>
        </p:txBody>
      </p:sp>
      <p:sp>
        <p:nvSpPr>
          <p:cNvPr id="688" name="Google Shape;688;h3894a91bd571848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40a23d561cc_3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40a23d561cc_3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g40a23d561cc_3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4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9601200" y="1920240"/>
            <a:ext cx="1188720" cy="50292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9601200" y="1920240"/>
            <a:ext cx="1188720" cy="146304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 flipH="1" rot="10800000">
            <a:off x="9601200" y="2423160"/>
            <a:ext cx="1188720" cy="45720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9601200" y="2880360"/>
            <a:ext cx="1188720" cy="50292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 flipH="1" rot="10800000">
            <a:off x="9601200" y="2423160"/>
            <a:ext cx="1188720" cy="141732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 flipH="1" rot="10800000">
            <a:off x="9601200" y="3383280"/>
            <a:ext cx="1188720" cy="45720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10789920" y="2423160"/>
            <a:ext cx="731520" cy="50292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 flipH="1" rot="10800000">
            <a:off x="10789920" y="2926080"/>
            <a:ext cx="731520" cy="457200"/>
          </a:xfrm>
          <a:prstGeom prst="straightConnector1">
            <a:avLst/>
          </a:prstGeom>
          <a:noFill/>
          <a:ln cap="flat" cmpd="sng" w="15875">
            <a:solidFill>
              <a:srgbClr val="2A3B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9601200" y="1920240"/>
            <a:ext cx="274320" cy="274320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9601200" y="2880360"/>
            <a:ext cx="274320" cy="274320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9601200" y="3840480"/>
            <a:ext cx="274320" cy="274320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10789920" y="2423160"/>
            <a:ext cx="274320" cy="274320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10789920" y="3383280"/>
            <a:ext cx="274320" cy="274320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11521440" y="2926080"/>
            <a:ext cx="274320" cy="274320"/>
          </a:xfrm>
          <a:prstGeom prst="ellipse">
            <a:avLst/>
          </a:prstGeom>
          <a:solidFill>
            <a:srgbClr val="24306B"/>
          </a:solidFill>
          <a:ln cap="flat" cmpd="sng" w="15875">
            <a:solidFill>
              <a:srgbClr val="3A4B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 txBox="1"/>
          <p:nvPr/>
        </p:nvSpPr>
        <p:spPr>
          <a:xfrm>
            <a:off x="548640" y="13716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КУРС «НЕЙРОННЫЕ СЕТИ»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 txBox="1"/>
          <p:nvPr/>
        </p:nvSpPr>
        <p:spPr>
          <a:xfrm>
            <a:off x="548640" y="1920240"/>
            <a:ext cx="9326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Тема 2. Backpropagation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и автоматическое дифференцирование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548640" y="379476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b="0" i="0" lang="en-US" sz="1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Как на самом деле обучаются нейронные сети — от правила цепочки до PyTorch и классификации MNIST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3"/>
          <p:cNvCxnSpPr/>
          <p:nvPr/>
        </p:nvCxnSpPr>
        <p:spPr>
          <a:xfrm>
            <a:off x="548640" y="4800600"/>
            <a:ext cx="2011680" cy="0"/>
          </a:xfrm>
          <a:prstGeom prst="straightConnector1">
            <a:avLst/>
          </a:prstGeom>
          <a:noFill/>
          <a:ln cap="flat" cmpd="sng" w="31750">
            <a:solidFill>
              <a:srgbClr val="F2A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3"/>
          <p:cNvSpPr txBox="1"/>
          <p:nvPr/>
        </p:nvSpPr>
        <p:spPr>
          <a:xfrm>
            <a:off x="548640" y="5532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Лекция 2 · Модуль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 txBox="1"/>
          <p:nvPr/>
        </p:nvSpPr>
        <p:spPr>
          <a:xfrm>
            <a:off x="548640" y="583387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[Имя преподавателя]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 txBox="1"/>
          <p:nvPr/>
        </p:nvSpPr>
        <p:spPr>
          <a:xfrm>
            <a:off x="11002975" y="638251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 txBox="1"/>
          <p:nvPr/>
        </p:nvSpPr>
        <p:spPr>
          <a:xfrm>
            <a:off x="548640" y="638251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/>
        </p:nvSpPr>
        <p:spPr>
          <a:xfrm>
            <a:off x="548640" y="29260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ПЛАН ЛЕКЦИИ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О чём сегодня говорим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11002975" y="638251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2/25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548640" y="638251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1298448" y="1746504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Правило цепочки и вычислительный граф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1298448" y="2240280"/>
            <a:ext cx="44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математическая база backprop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370168" y="1783080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6370168" y="17830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7119976" y="1746504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Прямой и обратный проход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19976" y="2240280"/>
            <a:ext cx="44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считаем вручную, сверяем с PyTorch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48640" y="3081528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548640" y="30815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1298448" y="3044952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От ручных циклов к nn.Module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1298448" y="3538728"/>
            <a:ext cx="44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Linear, Sequential, ReLU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370168" y="3081528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6370168" y="308152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19976" y="3044952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Многоклассовая классификация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19976" y="3538728"/>
            <a:ext cx="44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softmax и cross-entropy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548640" y="4379976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 txBox="1"/>
          <p:nvPr/>
        </p:nvSpPr>
        <p:spPr>
          <a:xfrm>
            <a:off x="548640" y="43799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1298448" y="4343400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torch.optim и мини-батчи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1298448" y="4837176"/>
            <a:ext cx="44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DataLoader, эпохи, батчи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370168" y="4379976"/>
            <a:ext cx="548640" cy="548640"/>
          </a:xfrm>
          <a:prstGeom prst="ellipse">
            <a:avLst/>
          </a:prstGeom>
          <a:solidFill>
            <a:srgbClr val="1E2761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 txBox="1"/>
          <p:nvPr/>
        </p:nvSpPr>
        <p:spPr>
          <a:xfrm>
            <a:off x="6370168" y="43799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7119976" y="4343400"/>
            <a:ext cx="449564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650"/>
              <a:buFont typeface="Calibri"/>
              <a:buNone/>
            </a:pPr>
            <a:r>
              <a:rPr b="1" i="0" lang="en-US" sz="16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MNIST: собираем и обучаем сеть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 txBox="1"/>
          <p:nvPr/>
        </p:nvSpPr>
        <p:spPr>
          <a:xfrm>
            <a:off x="7119976" y="4837176"/>
            <a:ext cx="449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полный цикл целиком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 txBox="1"/>
          <p:nvPr/>
        </p:nvSpPr>
        <p:spPr>
          <a:xfrm>
            <a:off x="548640" y="29260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МОСТИК ОТ ТЕМЫ 1 И СЕМИНАРА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Что мы уже умеем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11002975" y="638251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3/25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548640" y="638251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548640" y="1783080"/>
            <a:ext cx="1109441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5400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Мы вручную реализовали один нейрон: z = w·x+b, ŷ = σ(z), и обучили его через loss.backward() + ручное обновление весов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18000"/>
              </a:lnSpc>
              <a:spcBef>
                <a:spcPts val="2000"/>
              </a:spcBef>
              <a:spcAft>
                <a:spcPts val="0"/>
              </a:spcAft>
              <a:buClr>
                <a:srgbClr val="1B1F2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Мы своими глазами увидели, как точка скатывается по параболе — градиентный спуск в 1D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18000"/>
              </a:lnSpc>
              <a:spcBef>
                <a:spcPts val="2000"/>
              </a:spcBef>
              <a:spcAft>
                <a:spcPts val="0"/>
              </a:spcAft>
              <a:buClr>
                <a:srgbClr val="1B1F2A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Мы даже собрали сеть с одним скрытым слоем — вручную, матрицами W1, b1, W2, b2 — и решили XOR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48640" y="4709160"/>
            <a:ext cx="11094415" cy="1417320"/>
          </a:xfrm>
          <a:prstGeom prst="roundRect">
            <a:avLst>
              <a:gd fmla="val 645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 txBox="1"/>
          <p:nvPr/>
        </p:nvSpPr>
        <p:spPr>
          <a:xfrm>
            <a:off x="859536" y="4855464"/>
            <a:ext cx="10472623" cy="1124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Но мы ни разу не спросили: а как PyTorch вообще посчитал .grad для W1, если между W1 и loss стоит ещё три операции? Сегодня — ответ на этот вопрос, и это и есть backpropagation.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/>
        </p:nvSpPr>
        <p:spPr>
          <a:xfrm>
            <a:off x="548640" y="292608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548640" y="621792"/>
            <a:ext cx="11094415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Сеть — это не один нейрон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11002975" y="6382512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548640" y="6382512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6"/>
          <p:cNvCxnSpPr>
            <a:stCxn id="93" idx="6"/>
            <a:endCxn id="94" idx="2"/>
          </p:cNvCxnSpPr>
          <p:nvPr/>
        </p:nvCxnSpPr>
        <p:spPr>
          <a:xfrm>
            <a:off x="2267576" y="1906399"/>
            <a:ext cx="2229000" cy="1898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6"/>
          <p:cNvCxnSpPr>
            <a:stCxn id="96" idx="6"/>
            <a:endCxn id="94" idx="2"/>
          </p:cNvCxnSpPr>
          <p:nvPr/>
        </p:nvCxnSpPr>
        <p:spPr>
          <a:xfrm>
            <a:off x="2267650" y="3019725"/>
            <a:ext cx="2229000" cy="784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6"/>
          <p:cNvCxnSpPr>
            <a:stCxn id="93" idx="6"/>
            <a:endCxn id="98" idx="2"/>
          </p:cNvCxnSpPr>
          <p:nvPr/>
        </p:nvCxnSpPr>
        <p:spPr>
          <a:xfrm>
            <a:off x="2267576" y="1906399"/>
            <a:ext cx="2280300" cy="1143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6"/>
          <p:cNvCxnSpPr>
            <a:stCxn id="100" idx="6"/>
            <a:endCxn id="98" idx="2"/>
          </p:cNvCxnSpPr>
          <p:nvPr/>
        </p:nvCxnSpPr>
        <p:spPr>
          <a:xfrm flipH="1" rot="10800000">
            <a:off x="2192276" y="2020726"/>
            <a:ext cx="2355600" cy="1998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6"/>
          <p:cNvSpPr/>
          <p:nvPr/>
        </p:nvSpPr>
        <p:spPr>
          <a:xfrm>
            <a:off x="1721876" y="1638949"/>
            <a:ext cx="5457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1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96" name="Google Shape;96;p6"/>
          <p:cNvSpPr/>
          <p:nvPr/>
        </p:nvSpPr>
        <p:spPr>
          <a:xfrm>
            <a:off x="1682650" y="2752275"/>
            <a:ext cx="5850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300">
                <a:solidFill>
                  <a:schemeClr val="dk1"/>
                </a:solidFill>
                <a:highlight>
                  <a:srgbClr val="F2F5FA"/>
                </a:highlight>
              </a:rPr>
              <a:t>2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1" name="Google Shape;101;p6"/>
          <p:cNvSpPr/>
          <p:nvPr/>
        </p:nvSpPr>
        <p:spPr>
          <a:xfrm>
            <a:off x="5935825" y="1614350"/>
            <a:ext cx="890100" cy="763500"/>
          </a:xfrm>
          <a:prstGeom prst="rect">
            <a:avLst/>
          </a:prstGeom>
          <a:solidFill>
            <a:schemeClr val="lt2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lang="en-US" sz="1900">
                <a:solidFill>
                  <a:schemeClr val="dk1"/>
                </a:solidFill>
              </a:rPr>
              <a:t> (z)</a:t>
            </a:r>
            <a:endParaRPr sz="2200"/>
          </a:p>
        </p:txBody>
      </p:sp>
      <p:sp>
        <p:nvSpPr>
          <p:cNvPr id="102" name="Google Shape;102;p6"/>
          <p:cNvSpPr/>
          <p:nvPr/>
        </p:nvSpPr>
        <p:spPr>
          <a:xfrm>
            <a:off x="6035040" y="4892040"/>
            <a:ext cx="5608015" cy="1280160"/>
          </a:xfrm>
          <a:prstGeom prst="roundRect">
            <a:avLst>
              <a:gd fmla="val 714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 txBox="1"/>
          <p:nvPr/>
        </p:nvSpPr>
        <p:spPr>
          <a:xfrm>
            <a:off x="6345936" y="5038344"/>
            <a:ext cx="4986223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</a:rPr>
              <a:t>σ</a:t>
            </a:r>
            <a:r>
              <a:rPr lang="en-US" sz="1900">
                <a:solidFill>
                  <a:schemeClr val="lt1"/>
                </a:solidFill>
              </a:rPr>
              <a:t> (z) = </a:t>
            </a:r>
            <a:endParaRPr b="0" i="0" sz="15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653476" y="3767326"/>
            <a:ext cx="538800" cy="5028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3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8" name="Google Shape;98;p6"/>
          <p:cNvSpPr/>
          <p:nvPr/>
        </p:nvSpPr>
        <p:spPr>
          <a:xfrm>
            <a:off x="4547975" y="1638938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333333"/>
                </a:solidFill>
              </a:rPr>
              <a:t>Σ</a:t>
            </a: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496725" y="3422725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333333"/>
                </a:solidFill>
              </a:rPr>
              <a:t>Σ</a:t>
            </a:r>
            <a:r>
              <a:rPr lang="en-US" sz="2900">
                <a:solidFill>
                  <a:schemeClr val="dk1"/>
                </a:solidFill>
              </a:rPr>
              <a:t> </a:t>
            </a:r>
            <a:r>
              <a:rPr lang="en-US" sz="2900">
                <a:solidFill>
                  <a:schemeClr val="dk1"/>
                </a:solidFill>
              </a:rPr>
              <a:t> </a:t>
            </a:r>
            <a:endParaRPr sz="2900"/>
          </a:p>
        </p:txBody>
      </p:sp>
      <p:cxnSp>
        <p:nvCxnSpPr>
          <p:cNvPr id="104" name="Google Shape;104;p6"/>
          <p:cNvCxnSpPr>
            <a:stCxn id="100" idx="6"/>
            <a:endCxn id="94" idx="2"/>
          </p:cNvCxnSpPr>
          <p:nvPr/>
        </p:nvCxnSpPr>
        <p:spPr>
          <a:xfrm flipH="1" rot="10800000">
            <a:off x="2192276" y="3804526"/>
            <a:ext cx="2304300" cy="2142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6"/>
          <p:cNvCxnSpPr>
            <a:stCxn id="96" idx="6"/>
            <a:endCxn id="98" idx="2"/>
          </p:cNvCxnSpPr>
          <p:nvPr/>
        </p:nvCxnSpPr>
        <p:spPr>
          <a:xfrm flipH="1" rot="10800000">
            <a:off x="2267650" y="2020725"/>
            <a:ext cx="2280300" cy="999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6"/>
          <p:cNvSpPr/>
          <p:nvPr/>
        </p:nvSpPr>
        <p:spPr>
          <a:xfrm>
            <a:off x="5935825" y="3422725"/>
            <a:ext cx="890100" cy="763500"/>
          </a:xfrm>
          <a:prstGeom prst="rect">
            <a:avLst/>
          </a:prstGeom>
          <a:solidFill>
            <a:schemeClr val="lt2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333333"/>
                </a:solidFill>
              </a:rPr>
              <a:t>σ</a:t>
            </a:r>
            <a:r>
              <a:rPr lang="en-US" sz="1900">
                <a:solidFill>
                  <a:schemeClr val="dk1"/>
                </a:solidFill>
              </a:rPr>
              <a:t> (z)</a:t>
            </a:r>
            <a:endParaRPr sz="1900"/>
          </a:p>
        </p:txBody>
      </p:sp>
      <p:cxnSp>
        <p:nvCxnSpPr>
          <p:cNvPr id="107" name="Google Shape;107;p6"/>
          <p:cNvCxnSpPr>
            <a:stCxn id="98" idx="6"/>
            <a:endCxn id="101" idx="1"/>
          </p:cNvCxnSpPr>
          <p:nvPr/>
        </p:nvCxnSpPr>
        <p:spPr>
          <a:xfrm flipH="1" rot="10800000">
            <a:off x="5321675" y="1996088"/>
            <a:ext cx="614100" cy="246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6"/>
          <p:cNvCxnSpPr>
            <a:stCxn id="94" idx="6"/>
            <a:endCxn id="106" idx="1"/>
          </p:cNvCxnSpPr>
          <p:nvPr/>
        </p:nvCxnSpPr>
        <p:spPr>
          <a:xfrm>
            <a:off x="5270425" y="3804475"/>
            <a:ext cx="6654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6"/>
          <p:cNvSpPr/>
          <p:nvPr/>
        </p:nvSpPr>
        <p:spPr>
          <a:xfrm>
            <a:off x="7548725" y="2393450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900">
                <a:solidFill>
                  <a:srgbClr val="333333"/>
                </a:solidFill>
              </a:rPr>
              <a:t>Σ</a:t>
            </a: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8868275" y="2393450"/>
            <a:ext cx="890100" cy="763500"/>
          </a:xfrm>
          <a:prstGeom prst="rect">
            <a:avLst/>
          </a:prstGeom>
          <a:solidFill>
            <a:schemeClr val="lt2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lang="en-US" sz="1900">
                <a:solidFill>
                  <a:schemeClr val="dk1"/>
                </a:solidFill>
              </a:rPr>
              <a:t> (z)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cxnSp>
        <p:nvCxnSpPr>
          <p:cNvPr id="111" name="Google Shape;111;p6"/>
          <p:cNvCxnSpPr>
            <a:stCxn id="101" idx="3"/>
            <a:endCxn id="109" idx="2"/>
          </p:cNvCxnSpPr>
          <p:nvPr/>
        </p:nvCxnSpPr>
        <p:spPr>
          <a:xfrm>
            <a:off x="6825925" y="1996100"/>
            <a:ext cx="722700" cy="779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6"/>
          <p:cNvCxnSpPr>
            <a:endCxn id="109" idx="2"/>
          </p:cNvCxnSpPr>
          <p:nvPr/>
        </p:nvCxnSpPr>
        <p:spPr>
          <a:xfrm flipH="1" rot="10800000">
            <a:off x="6739325" y="2775200"/>
            <a:ext cx="809400" cy="9132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6"/>
          <p:cNvCxnSpPr>
            <a:stCxn id="109" idx="6"/>
            <a:endCxn id="110" idx="1"/>
          </p:cNvCxnSpPr>
          <p:nvPr/>
        </p:nvCxnSpPr>
        <p:spPr>
          <a:xfrm>
            <a:off x="8322425" y="2775200"/>
            <a:ext cx="5457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6"/>
          <p:cNvCxnSpPr>
            <a:stCxn id="110" idx="3"/>
          </p:cNvCxnSpPr>
          <p:nvPr/>
        </p:nvCxnSpPr>
        <p:spPr>
          <a:xfrm flipH="1" rot="10800000">
            <a:off x="9758375" y="2761100"/>
            <a:ext cx="669300" cy="14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15" name="Google Shape;115;p6"/>
          <p:cNvSpPr txBox="1"/>
          <p:nvPr/>
        </p:nvSpPr>
        <p:spPr>
          <a:xfrm>
            <a:off x="2451900" y="1612575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116" name="Google Shape;116;p6"/>
          <p:cNvSpPr txBox="1"/>
          <p:nvPr/>
        </p:nvSpPr>
        <p:spPr>
          <a:xfrm>
            <a:off x="2046275" y="3433975"/>
            <a:ext cx="722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baseline="30000" lang="en-US" sz="1300">
                <a:solidFill>
                  <a:schemeClr val="dk1"/>
                </a:solidFill>
              </a:rPr>
              <a:t>1</a:t>
            </a:r>
            <a:r>
              <a:rPr b="1" baseline="-25000" lang="en-US" sz="1300">
                <a:solidFill>
                  <a:schemeClr val="dk1"/>
                </a:solidFill>
              </a:rPr>
              <a:t>31</a:t>
            </a:r>
            <a:endParaRPr b="1" baseline="-25000" sz="1300"/>
          </a:p>
        </p:txBody>
      </p:sp>
      <p:sp>
        <p:nvSpPr>
          <p:cNvPr id="117" name="Google Shape;117;p6"/>
          <p:cNvSpPr txBox="1"/>
          <p:nvPr/>
        </p:nvSpPr>
        <p:spPr>
          <a:xfrm>
            <a:off x="2614500" y="3997538"/>
            <a:ext cx="50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32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118" name="Google Shape;118;p6"/>
          <p:cNvSpPr txBox="1"/>
          <p:nvPr/>
        </p:nvSpPr>
        <p:spPr>
          <a:xfrm>
            <a:off x="9938575" y="24024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19" name="Google Shape;119;p6"/>
          <p:cNvSpPr txBox="1"/>
          <p:nvPr/>
        </p:nvSpPr>
        <p:spPr>
          <a:xfrm>
            <a:off x="2233575" y="2119575"/>
            <a:ext cx="66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12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120" name="Google Shape;120;p6"/>
          <p:cNvSpPr txBox="1"/>
          <p:nvPr/>
        </p:nvSpPr>
        <p:spPr>
          <a:xfrm>
            <a:off x="7134375" y="1792850"/>
            <a:ext cx="545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121" name="Google Shape;121;p6"/>
          <p:cNvSpPr txBox="1"/>
          <p:nvPr/>
        </p:nvSpPr>
        <p:spPr>
          <a:xfrm>
            <a:off x="7042975" y="3280825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122" name="Google Shape;122;p6"/>
          <p:cNvSpPr/>
          <p:nvPr/>
        </p:nvSpPr>
        <p:spPr>
          <a:xfrm>
            <a:off x="7176075" y="5205575"/>
            <a:ext cx="1320000" cy="653100"/>
          </a:xfrm>
          <a:prstGeom prst="bracePair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  z &gt;=  0,5</a:t>
            </a:r>
            <a:endParaRPr b="1" i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   z &lt;=  0,5</a:t>
            </a:r>
            <a:endParaRPr b="1" i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Сеть — это не один нейрон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7"/>
          <p:cNvCxnSpPr>
            <a:stCxn id="133" idx="6"/>
            <a:endCxn id="134" idx="2"/>
          </p:cNvCxnSpPr>
          <p:nvPr/>
        </p:nvCxnSpPr>
        <p:spPr>
          <a:xfrm>
            <a:off x="2267576" y="1906399"/>
            <a:ext cx="2254800" cy="2408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7"/>
          <p:cNvCxnSpPr>
            <a:stCxn id="136" idx="6"/>
            <a:endCxn id="134" idx="2"/>
          </p:cNvCxnSpPr>
          <p:nvPr/>
        </p:nvCxnSpPr>
        <p:spPr>
          <a:xfrm>
            <a:off x="2267650" y="3019725"/>
            <a:ext cx="2254500" cy="1295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7"/>
          <p:cNvCxnSpPr>
            <a:stCxn id="133" idx="6"/>
            <a:endCxn id="138" idx="2"/>
          </p:cNvCxnSpPr>
          <p:nvPr/>
        </p:nvCxnSpPr>
        <p:spPr>
          <a:xfrm flipH="1" rot="10800000">
            <a:off x="2267576" y="1804999"/>
            <a:ext cx="2254800" cy="101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7"/>
          <p:cNvCxnSpPr>
            <a:stCxn id="140" idx="6"/>
            <a:endCxn id="138" idx="2"/>
          </p:cNvCxnSpPr>
          <p:nvPr/>
        </p:nvCxnSpPr>
        <p:spPr>
          <a:xfrm flipH="1" rot="10800000">
            <a:off x="2192276" y="1805026"/>
            <a:ext cx="2330100" cy="2213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7"/>
          <p:cNvSpPr/>
          <p:nvPr/>
        </p:nvSpPr>
        <p:spPr>
          <a:xfrm>
            <a:off x="1721876" y="1638949"/>
            <a:ext cx="5457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1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136" name="Google Shape;136;p7"/>
          <p:cNvSpPr/>
          <p:nvPr/>
        </p:nvSpPr>
        <p:spPr>
          <a:xfrm>
            <a:off x="1682650" y="2752275"/>
            <a:ext cx="5850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300">
                <a:solidFill>
                  <a:schemeClr val="dk1"/>
                </a:solidFill>
                <a:highlight>
                  <a:srgbClr val="F2F5FA"/>
                </a:highlight>
              </a:rPr>
              <a:t>2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41" name="Google Shape;141;p7"/>
          <p:cNvSpPr txBox="1"/>
          <p:nvPr/>
        </p:nvSpPr>
        <p:spPr>
          <a:xfrm>
            <a:off x="6345936" y="5038344"/>
            <a:ext cx="49863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Для одного нейрона мы находили ∂L/∂w формулой напрямую. Для сети из многих слоёв формулу «в лоб» для каждого веса не выпишешь — нужен ситематический способ. Это и есть backpropagation.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653476" y="3767326"/>
            <a:ext cx="538800" cy="5028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3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38" name="Google Shape;138;p7"/>
          <p:cNvSpPr/>
          <p:nvPr/>
        </p:nvSpPr>
        <p:spPr>
          <a:xfrm>
            <a:off x="4522275" y="14232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522275" y="3932925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 </a:t>
            </a:r>
            <a:endParaRPr sz="2900"/>
          </a:p>
        </p:txBody>
      </p:sp>
      <p:cxnSp>
        <p:nvCxnSpPr>
          <p:cNvPr id="142" name="Google Shape;142;p7"/>
          <p:cNvCxnSpPr>
            <a:stCxn id="140" idx="6"/>
            <a:endCxn id="134" idx="2"/>
          </p:cNvCxnSpPr>
          <p:nvPr/>
        </p:nvCxnSpPr>
        <p:spPr>
          <a:xfrm>
            <a:off x="2192276" y="4018726"/>
            <a:ext cx="2330100" cy="295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7"/>
          <p:cNvCxnSpPr>
            <a:stCxn id="136" idx="6"/>
            <a:endCxn id="138" idx="2"/>
          </p:cNvCxnSpPr>
          <p:nvPr/>
        </p:nvCxnSpPr>
        <p:spPr>
          <a:xfrm flipH="1" rot="10800000">
            <a:off x="2267650" y="1805025"/>
            <a:ext cx="2254500" cy="1214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7"/>
          <p:cNvCxnSpPr>
            <a:stCxn id="138" idx="6"/>
            <a:endCxn id="145" idx="2"/>
          </p:cNvCxnSpPr>
          <p:nvPr/>
        </p:nvCxnSpPr>
        <p:spPr>
          <a:xfrm>
            <a:off x="5295975" y="1805013"/>
            <a:ext cx="1050000" cy="48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7"/>
          <p:cNvCxnSpPr>
            <a:stCxn id="134" idx="6"/>
            <a:endCxn id="147" idx="2"/>
          </p:cNvCxnSpPr>
          <p:nvPr/>
        </p:nvCxnSpPr>
        <p:spPr>
          <a:xfrm flipH="1" rot="10800000">
            <a:off x="5295975" y="3667275"/>
            <a:ext cx="1050000" cy="647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7"/>
          <p:cNvSpPr/>
          <p:nvPr/>
        </p:nvSpPr>
        <p:spPr>
          <a:xfrm>
            <a:off x="4522275" y="26379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</p:txBody>
      </p:sp>
      <p:cxnSp>
        <p:nvCxnSpPr>
          <p:cNvPr id="149" name="Google Shape;149;p7"/>
          <p:cNvCxnSpPr>
            <a:stCxn id="133" idx="6"/>
          </p:cNvCxnSpPr>
          <p:nvPr/>
        </p:nvCxnSpPr>
        <p:spPr>
          <a:xfrm>
            <a:off x="2267576" y="1906399"/>
            <a:ext cx="2254800" cy="11406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7"/>
          <p:cNvCxnSpPr>
            <a:stCxn id="140" idx="6"/>
            <a:endCxn id="148" idx="2"/>
          </p:cNvCxnSpPr>
          <p:nvPr/>
        </p:nvCxnSpPr>
        <p:spPr>
          <a:xfrm flipH="1" rot="10800000">
            <a:off x="2192276" y="3019726"/>
            <a:ext cx="2330100" cy="999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7"/>
          <p:cNvCxnSpPr>
            <a:stCxn id="145" idx="6"/>
          </p:cNvCxnSpPr>
          <p:nvPr/>
        </p:nvCxnSpPr>
        <p:spPr>
          <a:xfrm>
            <a:off x="7119625" y="2288138"/>
            <a:ext cx="1308300" cy="12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52" name="Google Shape;152;p7"/>
          <p:cNvSpPr txBox="1"/>
          <p:nvPr/>
        </p:nvSpPr>
        <p:spPr>
          <a:xfrm>
            <a:off x="7625375" y="19299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153" name="Google Shape;153;p7"/>
          <p:cNvCxnSpPr>
            <a:stCxn id="136" idx="6"/>
            <a:endCxn id="148" idx="2"/>
          </p:cNvCxnSpPr>
          <p:nvPr/>
        </p:nvCxnSpPr>
        <p:spPr>
          <a:xfrm>
            <a:off x="2267650" y="3019725"/>
            <a:ext cx="22545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" name="Google Shape;145;p7"/>
          <p:cNvSpPr/>
          <p:nvPr/>
        </p:nvSpPr>
        <p:spPr>
          <a:xfrm>
            <a:off x="6345925" y="1906388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345925" y="328551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cxnSp>
        <p:nvCxnSpPr>
          <p:cNvPr id="154" name="Google Shape;154;p7"/>
          <p:cNvCxnSpPr>
            <a:stCxn id="138" idx="6"/>
            <a:endCxn id="147" idx="2"/>
          </p:cNvCxnSpPr>
          <p:nvPr/>
        </p:nvCxnSpPr>
        <p:spPr>
          <a:xfrm>
            <a:off x="5295975" y="1805013"/>
            <a:ext cx="1050000" cy="1862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7"/>
          <p:cNvCxnSpPr>
            <a:stCxn id="148" idx="6"/>
            <a:endCxn id="145" idx="2"/>
          </p:cNvCxnSpPr>
          <p:nvPr/>
        </p:nvCxnSpPr>
        <p:spPr>
          <a:xfrm flipH="1" rot="10800000">
            <a:off x="5295975" y="2288013"/>
            <a:ext cx="1050000" cy="731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7"/>
          <p:cNvCxnSpPr>
            <a:endCxn id="147" idx="2"/>
          </p:cNvCxnSpPr>
          <p:nvPr/>
        </p:nvCxnSpPr>
        <p:spPr>
          <a:xfrm>
            <a:off x="5295925" y="3053763"/>
            <a:ext cx="1050000" cy="613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7"/>
          <p:cNvCxnSpPr/>
          <p:nvPr/>
        </p:nvCxnSpPr>
        <p:spPr>
          <a:xfrm>
            <a:off x="7119575" y="3663238"/>
            <a:ext cx="1206300" cy="11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58" name="Google Shape;158;p7"/>
          <p:cNvSpPr txBox="1"/>
          <p:nvPr/>
        </p:nvSpPr>
        <p:spPr>
          <a:xfrm>
            <a:off x="7579975" y="32443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 rot="-5400000">
            <a:off x="3188877" y="4191525"/>
            <a:ext cx="336900" cy="1877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 rot="-5400000">
            <a:off x="5746300" y="4372575"/>
            <a:ext cx="336900" cy="1515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1" name="Google Shape;161;p7"/>
          <p:cNvCxnSpPr>
            <a:stCxn id="134" idx="6"/>
            <a:endCxn id="145" idx="2"/>
          </p:cNvCxnSpPr>
          <p:nvPr/>
        </p:nvCxnSpPr>
        <p:spPr>
          <a:xfrm flipH="1" rot="10800000">
            <a:off x="5295975" y="2288175"/>
            <a:ext cx="1050000" cy="2026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7"/>
          <p:cNvSpPr txBox="1"/>
          <p:nvPr/>
        </p:nvSpPr>
        <p:spPr>
          <a:xfrm>
            <a:off x="3125500" y="5428150"/>
            <a:ext cx="53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W</a:t>
            </a:r>
            <a:r>
              <a:rPr b="1" baseline="-25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endParaRPr b="1" baseline="-25000" sz="1800"/>
          </a:p>
        </p:txBody>
      </p:sp>
      <p:sp>
        <p:nvSpPr>
          <p:cNvPr id="163" name="Google Shape;163;p7"/>
          <p:cNvSpPr txBox="1"/>
          <p:nvPr/>
        </p:nvSpPr>
        <p:spPr>
          <a:xfrm>
            <a:off x="5645350" y="5428150"/>
            <a:ext cx="53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W</a:t>
            </a:r>
            <a:r>
              <a:rPr b="1" baseline="-25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endParaRPr b="1" baseline="-25000" sz="1800"/>
          </a:p>
        </p:txBody>
      </p:sp>
      <p:sp>
        <p:nvSpPr>
          <p:cNvPr id="164" name="Google Shape;164;p7"/>
          <p:cNvSpPr txBox="1"/>
          <p:nvPr/>
        </p:nvSpPr>
        <p:spPr>
          <a:xfrm>
            <a:off x="4440500" y="4778588"/>
            <a:ext cx="105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1</a:t>
            </a:r>
            <a:r>
              <a:rPr lang="en-US" sz="1900">
                <a:solidFill>
                  <a:schemeClr val="dk1"/>
                </a:solidFill>
              </a:rPr>
              <a:t>(z)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6345975" y="4203813"/>
            <a:ext cx="105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2</a:t>
            </a:r>
            <a:r>
              <a:rPr lang="en-US" sz="1900">
                <a:solidFill>
                  <a:schemeClr val="dk1"/>
                </a:solidFill>
              </a:rPr>
              <a:t>(z)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523075" y="658300"/>
            <a:ext cx="653100" cy="9525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y</a:t>
            </a:r>
            <a:r>
              <a:rPr b="1" baseline="-25000" lang="en-US" sz="1500"/>
              <a:t>1</a:t>
            </a:r>
            <a:endParaRPr b="1" baseline="-25000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baseline="-25000" lang="en-US" sz="1500"/>
            </a:br>
            <a:r>
              <a:rPr b="1" lang="en-US" sz="1500">
                <a:solidFill>
                  <a:schemeClr val="dk1"/>
                </a:solidFill>
              </a:rPr>
              <a:t>y</a:t>
            </a:r>
            <a:r>
              <a:rPr b="1" baseline="-25000" lang="en-US" sz="1500">
                <a:solidFill>
                  <a:schemeClr val="dk1"/>
                </a:solidFill>
              </a:rPr>
              <a:t>2</a:t>
            </a:r>
            <a:endParaRPr b="1" baseline="-25000" sz="1500"/>
          </a:p>
        </p:txBody>
      </p:sp>
      <p:sp>
        <p:nvSpPr>
          <p:cNvPr id="167" name="Google Shape;167;p7"/>
          <p:cNvSpPr txBox="1"/>
          <p:nvPr/>
        </p:nvSpPr>
        <p:spPr>
          <a:xfrm>
            <a:off x="8223825" y="938875"/>
            <a:ext cx="326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=</a:t>
            </a:r>
            <a:endParaRPr b="1" sz="2200"/>
          </a:p>
        </p:txBody>
      </p:sp>
      <p:sp>
        <p:nvSpPr>
          <p:cNvPr id="168" name="Google Shape;168;p7"/>
          <p:cNvSpPr txBox="1"/>
          <p:nvPr/>
        </p:nvSpPr>
        <p:spPr>
          <a:xfrm>
            <a:off x="8550525" y="888250"/>
            <a:ext cx="4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2</a:t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8994225" y="658300"/>
            <a:ext cx="2107500" cy="9525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baseline="-25000" lang="en-US" sz="1500"/>
            </a:br>
            <a:endParaRPr b="1" baseline="-25000" sz="1500"/>
          </a:p>
        </p:txBody>
      </p:sp>
      <p:sp>
        <p:nvSpPr>
          <p:cNvPr id="170" name="Google Shape;170;p7"/>
          <p:cNvSpPr/>
          <p:nvPr/>
        </p:nvSpPr>
        <p:spPr>
          <a:xfrm>
            <a:off x="9890700" y="658300"/>
            <a:ext cx="1007100" cy="9525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baseline="-25000" lang="en-US" sz="1500"/>
            </a:br>
            <a:endParaRPr b="1" baseline="-25000" sz="1500"/>
          </a:p>
        </p:txBody>
      </p:sp>
      <p:sp>
        <p:nvSpPr>
          <p:cNvPr id="171" name="Google Shape;171;p7"/>
          <p:cNvSpPr/>
          <p:nvPr/>
        </p:nvSpPr>
        <p:spPr>
          <a:xfrm>
            <a:off x="10312675" y="611700"/>
            <a:ext cx="443700" cy="9990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x</a:t>
            </a:r>
            <a:r>
              <a:rPr b="1" baseline="-25000" lang="en-US" sz="1500"/>
              <a:t>1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x</a:t>
            </a:r>
            <a:r>
              <a:rPr b="1" baseline="-25000" lang="en-US" sz="1500"/>
              <a:t>2</a:t>
            </a:r>
            <a:endParaRPr i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x</a:t>
            </a:r>
            <a:r>
              <a:rPr b="1" baseline="-25000" lang="en-US" sz="1500"/>
              <a:t>3</a:t>
            </a:r>
            <a:br>
              <a:rPr b="1" baseline="-25000" lang="en-US" sz="1500"/>
            </a:br>
            <a:endParaRPr b="1" baseline="-25000" sz="1500"/>
          </a:p>
        </p:txBody>
      </p:sp>
      <p:sp>
        <p:nvSpPr>
          <p:cNvPr id="172" name="Google Shape;172;p7"/>
          <p:cNvSpPr txBox="1"/>
          <p:nvPr/>
        </p:nvSpPr>
        <p:spPr>
          <a:xfrm>
            <a:off x="9890675" y="919000"/>
            <a:ext cx="53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W</a:t>
            </a:r>
            <a:r>
              <a:rPr b="1" baseline="-25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endParaRPr b="1" baseline="-25000" sz="1800"/>
          </a:p>
        </p:txBody>
      </p:sp>
      <p:sp>
        <p:nvSpPr>
          <p:cNvPr id="173" name="Google Shape;173;p7"/>
          <p:cNvSpPr txBox="1"/>
          <p:nvPr/>
        </p:nvSpPr>
        <p:spPr>
          <a:xfrm>
            <a:off x="9368575" y="861025"/>
            <a:ext cx="49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1</a:t>
            </a:r>
            <a:endParaRPr/>
          </a:p>
        </p:txBody>
      </p:sp>
      <p:sp>
        <p:nvSpPr>
          <p:cNvPr id="174" name="Google Shape;174;p7"/>
          <p:cNvSpPr txBox="1"/>
          <p:nvPr/>
        </p:nvSpPr>
        <p:spPr>
          <a:xfrm>
            <a:off x="8998750" y="919000"/>
            <a:ext cx="44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W</a:t>
            </a:r>
            <a:r>
              <a:rPr b="1" baseline="-25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endParaRPr b="1" baseline="-25000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Сеть — это не один нейрон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8"/>
          <p:cNvCxnSpPr>
            <a:stCxn id="185" idx="6"/>
            <a:endCxn id="186" idx="2"/>
          </p:cNvCxnSpPr>
          <p:nvPr/>
        </p:nvCxnSpPr>
        <p:spPr>
          <a:xfrm>
            <a:off x="2267576" y="1906399"/>
            <a:ext cx="2254800" cy="2408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7" name="Google Shape;187;p8"/>
          <p:cNvCxnSpPr>
            <a:stCxn id="188" idx="6"/>
            <a:endCxn id="186" idx="2"/>
          </p:cNvCxnSpPr>
          <p:nvPr/>
        </p:nvCxnSpPr>
        <p:spPr>
          <a:xfrm>
            <a:off x="2267650" y="3019725"/>
            <a:ext cx="2254500" cy="1295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8"/>
          <p:cNvCxnSpPr>
            <a:stCxn id="185" idx="6"/>
            <a:endCxn id="190" idx="2"/>
          </p:cNvCxnSpPr>
          <p:nvPr/>
        </p:nvCxnSpPr>
        <p:spPr>
          <a:xfrm flipH="1" rot="10800000">
            <a:off x="2267576" y="1804999"/>
            <a:ext cx="2254800" cy="101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1" name="Google Shape;191;p8"/>
          <p:cNvCxnSpPr>
            <a:stCxn id="192" idx="6"/>
            <a:endCxn id="190" idx="2"/>
          </p:cNvCxnSpPr>
          <p:nvPr/>
        </p:nvCxnSpPr>
        <p:spPr>
          <a:xfrm flipH="1" rot="10800000">
            <a:off x="2192276" y="1805026"/>
            <a:ext cx="2330100" cy="2213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8"/>
          <p:cNvSpPr/>
          <p:nvPr/>
        </p:nvSpPr>
        <p:spPr>
          <a:xfrm>
            <a:off x="1721876" y="1638949"/>
            <a:ext cx="5457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1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188" name="Google Shape;188;p8"/>
          <p:cNvSpPr/>
          <p:nvPr/>
        </p:nvSpPr>
        <p:spPr>
          <a:xfrm>
            <a:off x="1682650" y="2752275"/>
            <a:ext cx="5850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300">
                <a:solidFill>
                  <a:schemeClr val="dk1"/>
                </a:solidFill>
                <a:highlight>
                  <a:srgbClr val="F2F5FA"/>
                </a:highlight>
              </a:rPr>
              <a:t>2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93" name="Google Shape;193;p8"/>
          <p:cNvSpPr txBox="1"/>
          <p:nvPr/>
        </p:nvSpPr>
        <p:spPr>
          <a:xfrm>
            <a:off x="6345936" y="5038344"/>
            <a:ext cx="49863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Для одного нейрона мы находили ∂L/∂w формулой напрямую. Для сети из многих слоёв формулу «в лоб» для каждого веса не выпишешь — нужен систематический способ. Это и есть backpropagation.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1653476" y="3767326"/>
            <a:ext cx="538800" cy="5028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3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90" name="Google Shape;190;p8"/>
          <p:cNvSpPr/>
          <p:nvPr/>
        </p:nvSpPr>
        <p:spPr>
          <a:xfrm>
            <a:off x="4522275" y="14232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522275" y="3932925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 </a:t>
            </a:r>
            <a:endParaRPr sz="2900"/>
          </a:p>
        </p:txBody>
      </p:sp>
      <p:cxnSp>
        <p:nvCxnSpPr>
          <p:cNvPr id="194" name="Google Shape;194;p8"/>
          <p:cNvCxnSpPr>
            <a:stCxn id="192" idx="6"/>
            <a:endCxn id="186" idx="2"/>
          </p:cNvCxnSpPr>
          <p:nvPr/>
        </p:nvCxnSpPr>
        <p:spPr>
          <a:xfrm>
            <a:off x="2192276" y="4018726"/>
            <a:ext cx="2330100" cy="295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8"/>
          <p:cNvCxnSpPr>
            <a:stCxn id="188" idx="6"/>
            <a:endCxn id="190" idx="2"/>
          </p:cNvCxnSpPr>
          <p:nvPr/>
        </p:nvCxnSpPr>
        <p:spPr>
          <a:xfrm flipH="1" rot="10800000">
            <a:off x="2267650" y="1805025"/>
            <a:ext cx="2254500" cy="1214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8"/>
          <p:cNvCxnSpPr>
            <a:stCxn id="190" idx="6"/>
            <a:endCxn id="197" idx="2"/>
          </p:cNvCxnSpPr>
          <p:nvPr/>
        </p:nvCxnSpPr>
        <p:spPr>
          <a:xfrm>
            <a:off x="5295975" y="1805013"/>
            <a:ext cx="1050000" cy="48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8"/>
          <p:cNvCxnSpPr>
            <a:stCxn id="186" idx="6"/>
            <a:endCxn id="199" idx="2"/>
          </p:cNvCxnSpPr>
          <p:nvPr/>
        </p:nvCxnSpPr>
        <p:spPr>
          <a:xfrm flipH="1" rot="10800000">
            <a:off x="5295975" y="3667275"/>
            <a:ext cx="1050000" cy="647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8"/>
          <p:cNvSpPr/>
          <p:nvPr/>
        </p:nvSpPr>
        <p:spPr>
          <a:xfrm>
            <a:off x="4522275" y="26379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</p:txBody>
      </p:sp>
      <p:cxnSp>
        <p:nvCxnSpPr>
          <p:cNvPr id="201" name="Google Shape;201;p8"/>
          <p:cNvCxnSpPr>
            <a:stCxn id="185" idx="6"/>
          </p:cNvCxnSpPr>
          <p:nvPr/>
        </p:nvCxnSpPr>
        <p:spPr>
          <a:xfrm>
            <a:off x="2267576" y="1906399"/>
            <a:ext cx="2254800" cy="11406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8"/>
          <p:cNvCxnSpPr>
            <a:stCxn id="192" idx="6"/>
            <a:endCxn id="200" idx="2"/>
          </p:cNvCxnSpPr>
          <p:nvPr/>
        </p:nvCxnSpPr>
        <p:spPr>
          <a:xfrm flipH="1" rot="10800000">
            <a:off x="2192276" y="3019726"/>
            <a:ext cx="2330100" cy="999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8"/>
          <p:cNvCxnSpPr>
            <a:stCxn id="197" idx="6"/>
          </p:cNvCxnSpPr>
          <p:nvPr/>
        </p:nvCxnSpPr>
        <p:spPr>
          <a:xfrm>
            <a:off x="7119625" y="2288138"/>
            <a:ext cx="1308300" cy="12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04" name="Google Shape;204;p8"/>
          <p:cNvSpPr txBox="1"/>
          <p:nvPr/>
        </p:nvSpPr>
        <p:spPr>
          <a:xfrm>
            <a:off x="7625375" y="19299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205" name="Google Shape;205;p8"/>
          <p:cNvCxnSpPr>
            <a:stCxn id="188" idx="6"/>
            <a:endCxn id="200" idx="2"/>
          </p:cNvCxnSpPr>
          <p:nvPr/>
        </p:nvCxnSpPr>
        <p:spPr>
          <a:xfrm>
            <a:off x="2267650" y="3019725"/>
            <a:ext cx="22545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8"/>
          <p:cNvSpPr/>
          <p:nvPr/>
        </p:nvSpPr>
        <p:spPr>
          <a:xfrm>
            <a:off x="6345925" y="1906388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6345925" y="328551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cxnSp>
        <p:nvCxnSpPr>
          <p:cNvPr id="206" name="Google Shape;206;p8"/>
          <p:cNvCxnSpPr>
            <a:stCxn id="190" idx="6"/>
            <a:endCxn id="199" idx="2"/>
          </p:cNvCxnSpPr>
          <p:nvPr/>
        </p:nvCxnSpPr>
        <p:spPr>
          <a:xfrm>
            <a:off x="5295975" y="1805013"/>
            <a:ext cx="1050000" cy="1862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8"/>
          <p:cNvCxnSpPr>
            <a:stCxn id="200" idx="6"/>
            <a:endCxn id="197" idx="2"/>
          </p:cNvCxnSpPr>
          <p:nvPr/>
        </p:nvCxnSpPr>
        <p:spPr>
          <a:xfrm flipH="1" rot="10800000">
            <a:off x="5295975" y="2288013"/>
            <a:ext cx="1050000" cy="731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8"/>
          <p:cNvCxnSpPr>
            <a:endCxn id="199" idx="2"/>
          </p:cNvCxnSpPr>
          <p:nvPr/>
        </p:nvCxnSpPr>
        <p:spPr>
          <a:xfrm>
            <a:off x="5295925" y="3053763"/>
            <a:ext cx="1050000" cy="613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8"/>
          <p:cNvCxnSpPr/>
          <p:nvPr/>
        </p:nvCxnSpPr>
        <p:spPr>
          <a:xfrm>
            <a:off x="7119575" y="3663238"/>
            <a:ext cx="1206300" cy="11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10" name="Google Shape;210;p8"/>
          <p:cNvSpPr txBox="1"/>
          <p:nvPr/>
        </p:nvSpPr>
        <p:spPr>
          <a:xfrm>
            <a:off x="7579975" y="32443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 rot="-5400000">
            <a:off x="3188877" y="4191525"/>
            <a:ext cx="336900" cy="1877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 rot="-5400000">
            <a:off x="5746300" y="4372575"/>
            <a:ext cx="336900" cy="1515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p8"/>
          <p:cNvCxnSpPr>
            <a:stCxn id="186" idx="6"/>
            <a:endCxn id="197" idx="2"/>
          </p:cNvCxnSpPr>
          <p:nvPr/>
        </p:nvCxnSpPr>
        <p:spPr>
          <a:xfrm flipH="1" rot="10800000">
            <a:off x="5295975" y="2288175"/>
            <a:ext cx="1050000" cy="2026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8"/>
          <p:cNvSpPr txBox="1"/>
          <p:nvPr/>
        </p:nvSpPr>
        <p:spPr>
          <a:xfrm>
            <a:off x="3125500" y="5428150"/>
            <a:ext cx="53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W</a:t>
            </a:r>
            <a:r>
              <a:rPr b="1" baseline="-25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endParaRPr b="1" baseline="-25000" sz="1800"/>
          </a:p>
        </p:txBody>
      </p:sp>
      <p:sp>
        <p:nvSpPr>
          <p:cNvPr id="215" name="Google Shape;215;p8"/>
          <p:cNvSpPr txBox="1"/>
          <p:nvPr/>
        </p:nvSpPr>
        <p:spPr>
          <a:xfrm>
            <a:off x="5645350" y="5428150"/>
            <a:ext cx="53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W</a:t>
            </a:r>
            <a:r>
              <a:rPr b="1" baseline="-25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endParaRPr b="1" baseline="-25000" sz="1800"/>
          </a:p>
        </p:txBody>
      </p:sp>
      <p:sp>
        <p:nvSpPr>
          <p:cNvPr id="216" name="Google Shape;216;p8"/>
          <p:cNvSpPr txBox="1"/>
          <p:nvPr/>
        </p:nvSpPr>
        <p:spPr>
          <a:xfrm>
            <a:off x="4440500" y="4778588"/>
            <a:ext cx="105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1</a:t>
            </a:r>
            <a:r>
              <a:rPr lang="en-US" sz="1900">
                <a:solidFill>
                  <a:schemeClr val="dk1"/>
                </a:solidFill>
              </a:rPr>
              <a:t>(z)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217" name="Google Shape;217;p8"/>
          <p:cNvSpPr txBox="1"/>
          <p:nvPr/>
        </p:nvSpPr>
        <p:spPr>
          <a:xfrm>
            <a:off x="6345975" y="4203813"/>
            <a:ext cx="105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2</a:t>
            </a:r>
            <a:r>
              <a:rPr lang="en-US" sz="1900">
                <a:solidFill>
                  <a:schemeClr val="dk1"/>
                </a:solidFill>
              </a:rPr>
              <a:t>(z)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7523075" y="658300"/>
            <a:ext cx="653100" cy="9525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y</a:t>
            </a:r>
            <a:r>
              <a:rPr b="1" baseline="-25000" lang="en-US" sz="1500"/>
              <a:t>1</a:t>
            </a:r>
            <a:endParaRPr b="1" baseline="-25000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baseline="-25000" lang="en-US" sz="1500"/>
            </a:br>
            <a:r>
              <a:rPr b="1" lang="en-US" sz="1500">
                <a:solidFill>
                  <a:schemeClr val="dk1"/>
                </a:solidFill>
              </a:rPr>
              <a:t>y</a:t>
            </a:r>
            <a:r>
              <a:rPr b="1" baseline="-25000" lang="en-US" sz="1500">
                <a:solidFill>
                  <a:schemeClr val="dk1"/>
                </a:solidFill>
              </a:rPr>
              <a:t>2</a:t>
            </a:r>
            <a:endParaRPr b="1" baseline="-25000" sz="1500"/>
          </a:p>
        </p:txBody>
      </p:sp>
      <p:sp>
        <p:nvSpPr>
          <p:cNvPr id="219" name="Google Shape;219;p8"/>
          <p:cNvSpPr txBox="1"/>
          <p:nvPr/>
        </p:nvSpPr>
        <p:spPr>
          <a:xfrm>
            <a:off x="8223825" y="938875"/>
            <a:ext cx="326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=</a:t>
            </a:r>
            <a:endParaRPr b="1" sz="2200"/>
          </a:p>
        </p:txBody>
      </p:sp>
      <p:sp>
        <p:nvSpPr>
          <p:cNvPr id="220" name="Google Shape;220;p8"/>
          <p:cNvSpPr txBox="1"/>
          <p:nvPr/>
        </p:nvSpPr>
        <p:spPr>
          <a:xfrm>
            <a:off x="8550525" y="888250"/>
            <a:ext cx="4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2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8994225" y="658300"/>
            <a:ext cx="2107500" cy="9525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baseline="-25000" lang="en-US" sz="1500"/>
            </a:br>
            <a:endParaRPr b="1" baseline="-25000" sz="1500"/>
          </a:p>
        </p:txBody>
      </p:sp>
      <p:sp>
        <p:nvSpPr>
          <p:cNvPr id="222" name="Google Shape;222;p8"/>
          <p:cNvSpPr/>
          <p:nvPr/>
        </p:nvSpPr>
        <p:spPr>
          <a:xfrm>
            <a:off x="9890700" y="658300"/>
            <a:ext cx="1007100" cy="9525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baseline="-25000" lang="en-US" sz="1500"/>
            </a:br>
            <a:endParaRPr b="1" baseline="-25000" sz="1500"/>
          </a:p>
        </p:txBody>
      </p:sp>
      <p:sp>
        <p:nvSpPr>
          <p:cNvPr id="223" name="Google Shape;223;p8"/>
          <p:cNvSpPr/>
          <p:nvPr/>
        </p:nvSpPr>
        <p:spPr>
          <a:xfrm>
            <a:off x="10312675" y="611700"/>
            <a:ext cx="443700" cy="9990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x</a:t>
            </a:r>
            <a:r>
              <a:rPr b="1" baseline="-25000" lang="en-US" sz="1500"/>
              <a:t>1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x</a:t>
            </a:r>
            <a:r>
              <a:rPr b="1" baseline="-25000" lang="en-US" sz="1500"/>
              <a:t>2</a:t>
            </a:r>
            <a:endParaRPr i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x</a:t>
            </a:r>
            <a:r>
              <a:rPr b="1" baseline="-25000" lang="en-US" sz="1500"/>
              <a:t>3</a:t>
            </a:r>
            <a:br>
              <a:rPr b="1" baseline="-25000" lang="en-US" sz="1500"/>
            </a:br>
            <a:endParaRPr b="1" baseline="-25000" sz="1500"/>
          </a:p>
        </p:txBody>
      </p:sp>
      <p:sp>
        <p:nvSpPr>
          <p:cNvPr id="224" name="Google Shape;224;p8"/>
          <p:cNvSpPr txBox="1"/>
          <p:nvPr/>
        </p:nvSpPr>
        <p:spPr>
          <a:xfrm>
            <a:off x="9890675" y="919000"/>
            <a:ext cx="53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W</a:t>
            </a:r>
            <a:r>
              <a:rPr b="1" baseline="-25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endParaRPr b="1" baseline="-25000" sz="1800"/>
          </a:p>
        </p:txBody>
      </p:sp>
      <p:sp>
        <p:nvSpPr>
          <p:cNvPr id="225" name="Google Shape;225;p8"/>
          <p:cNvSpPr txBox="1"/>
          <p:nvPr/>
        </p:nvSpPr>
        <p:spPr>
          <a:xfrm>
            <a:off x="9368575" y="861025"/>
            <a:ext cx="49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1</a:t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8998750" y="919000"/>
            <a:ext cx="44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W</a:t>
            </a:r>
            <a:r>
              <a:rPr b="1" baseline="-25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endParaRPr b="1" baseline="-25000" sz="1800"/>
          </a:p>
        </p:txBody>
      </p:sp>
      <p:sp>
        <p:nvSpPr>
          <p:cNvPr id="227" name="Google Shape;227;p8"/>
          <p:cNvSpPr txBox="1"/>
          <p:nvPr/>
        </p:nvSpPr>
        <p:spPr>
          <a:xfrm>
            <a:off x="257125" y="5594850"/>
            <a:ext cx="53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W</a:t>
            </a:r>
            <a:r>
              <a:rPr b="1" baseline="-25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endParaRPr b="1" baseline="-25000" sz="1800"/>
          </a:p>
        </p:txBody>
      </p:sp>
      <p:sp>
        <p:nvSpPr>
          <p:cNvPr id="228" name="Google Shape;228;p8"/>
          <p:cNvSpPr txBox="1"/>
          <p:nvPr/>
        </p:nvSpPr>
        <p:spPr>
          <a:xfrm>
            <a:off x="606550" y="5594850"/>
            <a:ext cx="326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=</a:t>
            </a:r>
            <a:endParaRPr b="1" sz="2200"/>
          </a:p>
        </p:txBody>
      </p:sp>
      <p:sp>
        <p:nvSpPr>
          <p:cNvPr id="229" name="Google Shape;229;p8"/>
          <p:cNvSpPr/>
          <p:nvPr/>
        </p:nvSpPr>
        <p:spPr>
          <a:xfrm>
            <a:off x="1029550" y="5234050"/>
            <a:ext cx="1308300" cy="10527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11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12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13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21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22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23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31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32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33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6068425" y="5475250"/>
            <a:ext cx="326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=</a:t>
            </a:r>
            <a:endParaRPr b="1" sz="2200"/>
          </a:p>
        </p:txBody>
      </p:sp>
      <p:sp>
        <p:nvSpPr>
          <p:cNvPr id="231" name="Google Shape;231;p8"/>
          <p:cNvSpPr/>
          <p:nvPr/>
        </p:nvSpPr>
        <p:spPr>
          <a:xfrm>
            <a:off x="6395125" y="5453650"/>
            <a:ext cx="1308300" cy="6135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11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12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13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21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22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ω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23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32" name="Google Shape;232;p8"/>
          <p:cNvSpPr txBox="1"/>
          <p:nvPr/>
        </p:nvSpPr>
        <p:spPr>
          <a:xfrm>
            <a:off x="8862675" y="2108375"/>
            <a:ext cx="163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y = f(x; W</a:t>
            </a:r>
            <a:r>
              <a:rPr baseline="-25000"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,W</a:t>
            </a:r>
            <a:r>
              <a:rPr baseline="-25000"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8919400" y="2752275"/>
            <a:ext cx="163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y = f(x; </a:t>
            </a:r>
            <a:r>
              <a:rPr b="1" i="1" lang="en-US" sz="13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548640" y="621792"/>
            <a:ext cx="11094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Сеть — это не один нейрон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9"/>
          <p:cNvCxnSpPr>
            <a:stCxn id="244" idx="6"/>
            <a:endCxn id="245" idx="2"/>
          </p:cNvCxnSpPr>
          <p:nvPr/>
        </p:nvCxnSpPr>
        <p:spPr>
          <a:xfrm>
            <a:off x="2267576" y="1906399"/>
            <a:ext cx="2254800" cy="2408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6" name="Google Shape;246;p9"/>
          <p:cNvCxnSpPr>
            <a:stCxn id="247" idx="6"/>
            <a:endCxn id="245" idx="2"/>
          </p:cNvCxnSpPr>
          <p:nvPr/>
        </p:nvCxnSpPr>
        <p:spPr>
          <a:xfrm>
            <a:off x="2267650" y="3019725"/>
            <a:ext cx="2254500" cy="1295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8" name="Google Shape;248;p9"/>
          <p:cNvCxnSpPr>
            <a:stCxn id="244" idx="6"/>
            <a:endCxn id="249" idx="2"/>
          </p:cNvCxnSpPr>
          <p:nvPr/>
        </p:nvCxnSpPr>
        <p:spPr>
          <a:xfrm flipH="1" rot="10800000">
            <a:off x="2267576" y="1804999"/>
            <a:ext cx="2254800" cy="101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0" name="Google Shape;250;p9"/>
          <p:cNvCxnSpPr>
            <a:stCxn id="251" idx="6"/>
            <a:endCxn id="249" idx="2"/>
          </p:cNvCxnSpPr>
          <p:nvPr/>
        </p:nvCxnSpPr>
        <p:spPr>
          <a:xfrm flipH="1" rot="10800000">
            <a:off x="2192276" y="1805026"/>
            <a:ext cx="2330100" cy="2213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9"/>
          <p:cNvSpPr/>
          <p:nvPr/>
        </p:nvSpPr>
        <p:spPr>
          <a:xfrm>
            <a:off x="1721876" y="1638949"/>
            <a:ext cx="5457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1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247" name="Google Shape;247;p9"/>
          <p:cNvSpPr/>
          <p:nvPr/>
        </p:nvSpPr>
        <p:spPr>
          <a:xfrm>
            <a:off x="1682650" y="2752275"/>
            <a:ext cx="5850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300">
                <a:solidFill>
                  <a:schemeClr val="dk1"/>
                </a:solidFill>
                <a:highlight>
                  <a:srgbClr val="F2F5FA"/>
                </a:highlight>
              </a:rPr>
              <a:t>2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52" name="Google Shape;252;p9"/>
          <p:cNvSpPr txBox="1"/>
          <p:nvPr/>
        </p:nvSpPr>
        <p:spPr>
          <a:xfrm>
            <a:off x="5280636" y="5034394"/>
            <a:ext cx="49863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Для одного нейрона мы находили ∂L/∂w формулой напрямую. Для сети из многих слоёв формулу «в лоб» для каждого веса не выпишешь — нужен систематический способ. Это и есть backpropagation.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1653476" y="3767326"/>
            <a:ext cx="538800" cy="5028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3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49" name="Google Shape;249;p9"/>
          <p:cNvSpPr/>
          <p:nvPr/>
        </p:nvSpPr>
        <p:spPr>
          <a:xfrm>
            <a:off x="4522275" y="14232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4522275" y="3932925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 </a:t>
            </a:r>
            <a:endParaRPr sz="2900"/>
          </a:p>
        </p:txBody>
      </p:sp>
      <p:cxnSp>
        <p:nvCxnSpPr>
          <p:cNvPr id="253" name="Google Shape;253;p9"/>
          <p:cNvCxnSpPr>
            <a:stCxn id="251" idx="6"/>
            <a:endCxn id="245" idx="2"/>
          </p:cNvCxnSpPr>
          <p:nvPr/>
        </p:nvCxnSpPr>
        <p:spPr>
          <a:xfrm>
            <a:off x="2192276" y="4018726"/>
            <a:ext cx="2330100" cy="295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9"/>
          <p:cNvCxnSpPr>
            <a:stCxn id="247" idx="6"/>
            <a:endCxn id="249" idx="2"/>
          </p:cNvCxnSpPr>
          <p:nvPr/>
        </p:nvCxnSpPr>
        <p:spPr>
          <a:xfrm flipH="1" rot="10800000">
            <a:off x="2267650" y="1805025"/>
            <a:ext cx="2254500" cy="1214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9"/>
          <p:cNvCxnSpPr>
            <a:stCxn id="249" idx="6"/>
            <a:endCxn id="256" idx="2"/>
          </p:cNvCxnSpPr>
          <p:nvPr/>
        </p:nvCxnSpPr>
        <p:spPr>
          <a:xfrm>
            <a:off x="5295975" y="1805013"/>
            <a:ext cx="1050000" cy="48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9"/>
          <p:cNvCxnSpPr>
            <a:stCxn id="245" idx="6"/>
            <a:endCxn id="258" idx="2"/>
          </p:cNvCxnSpPr>
          <p:nvPr/>
        </p:nvCxnSpPr>
        <p:spPr>
          <a:xfrm flipH="1" rot="10800000">
            <a:off x="5295975" y="3667275"/>
            <a:ext cx="1050000" cy="647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9"/>
          <p:cNvSpPr/>
          <p:nvPr/>
        </p:nvSpPr>
        <p:spPr>
          <a:xfrm>
            <a:off x="4522275" y="26379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</p:txBody>
      </p:sp>
      <p:cxnSp>
        <p:nvCxnSpPr>
          <p:cNvPr id="260" name="Google Shape;260;p9"/>
          <p:cNvCxnSpPr>
            <a:stCxn id="244" idx="6"/>
          </p:cNvCxnSpPr>
          <p:nvPr/>
        </p:nvCxnSpPr>
        <p:spPr>
          <a:xfrm>
            <a:off x="2267576" y="1906399"/>
            <a:ext cx="2254800" cy="11406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9"/>
          <p:cNvCxnSpPr>
            <a:stCxn id="251" idx="6"/>
            <a:endCxn id="259" idx="2"/>
          </p:cNvCxnSpPr>
          <p:nvPr/>
        </p:nvCxnSpPr>
        <p:spPr>
          <a:xfrm flipH="1" rot="10800000">
            <a:off x="2192276" y="3019726"/>
            <a:ext cx="2330100" cy="999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9"/>
          <p:cNvCxnSpPr>
            <a:stCxn id="256" idx="6"/>
          </p:cNvCxnSpPr>
          <p:nvPr/>
        </p:nvCxnSpPr>
        <p:spPr>
          <a:xfrm>
            <a:off x="7119625" y="2288138"/>
            <a:ext cx="1308300" cy="12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63" name="Google Shape;263;p9"/>
          <p:cNvSpPr txBox="1"/>
          <p:nvPr/>
        </p:nvSpPr>
        <p:spPr>
          <a:xfrm>
            <a:off x="7625375" y="19299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264" name="Google Shape;264;p9"/>
          <p:cNvCxnSpPr>
            <a:stCxn id="247" idx="6"/>
            <a:endCxn id="259" idx="2"/>
          </p:cNvCxnSpPr>
          <p:nvPr/>
        </p:nvCxnSpPr>
        <p:spPr>
          <a:xfrm>
            <a:off x="2267650" y="3019725"/>
            <a:ext cx="22545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p9"/>
          <p:cNvSpPr/>
          <p:nvPr/>
        </p:nvSpPr>
        <p:spPr>
          <a:xfrm>
            <a:off x="6345925" y="1906388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345925" y="328551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cxnSp>
        <p:nvCxnSpPr>
          <p:cNvPr id="265" name="Google Shape;265;p9"/>
          <p:cNvCxnSpPr>
            <a:stCxn id="249" idx="6"/>
            <a:endCxn id="258" idx="2"/>
          </p:cNvCxnSpPr>
          <p:nvPr/>
        </p:nvCxnSpPr>
        <p:spPr>
          <a:xfrm>
            <a:off x="5295975" y="1805013"/>
            <a:ext cx="1050000" cy="1862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9"/>
          <p:cNvCxnSpPr>
            <a:stCxn id="259" idx="6"/>
            <a:endCxn id="256" idx="2"/>
          </p:cNvCxnSpPr>
          <p:nvPr/>
        </p:nvCxnSpPr>
        <p:spPr>
          <a:xfrm flipH="1" rot="10800000">
            <a:off x="5295975" y="2288013"/>
            <a:ext cx="1050000" cy="731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9"/>
          <p:cNvCxnSpPr>
            <a:endCxn id="258" idx="2"/>
          </p:cNvCxnSpPr>
          <p:nvPr/>
        </p:nvCxnSpPr>
        <p:spPr>
          <a:xfrm>
            <a:off x="5295925" y="3053763"/>
            <a:ext cx="1050000" cy="613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9"/>
          <p:cNvCxnSpPr/>
          <p:nvPr/>
        </p:nvCxnSpPr>
        <p:spPr>
          <a:xfrm>
            <a:off x="7119575" y="3663238"/>
            <a:ext cx="1206300" cy="11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69" name="Google Shape;269;p9"/>
          <p:cNvSpPr txBox="1"/>
          <p:nvPr/>
        </p:nvSpPr>
        <p:spPr>
          <a:xfrm>
            <a:off x="7579975" y="32443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270" name="Google Shape;270;p9"/>
          <p:cNvSpPr/>
          <p:nvPr/>
        </p:nvSpPr>
        <p:spPr>
          <a:xfrm rot="-5400000">
            <a:off x="3188877" y="4191525"/>
            <a:ext cx="336900" cy="1877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 rot="-5400000">
            <a:off x="5746300" y="4372575"/>
            <a:ext cx="336900" cy="1515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2" name="Google Shape;272;p9"/>
          <p:cNvCxnSpPr>
            <a:stCxn id="245" idx="6"/>
            <a:endCxn id="256" idx="2"/>
          </p:cNvCxnSpPr>
          <p:nvPr/>
        </p:nvCxnSpPr>
        <p:spPr>
          <a:xfrm flipH="1" rot="10800000">
            <a:off x="5295975" y="2288175"/>
            <a:ext cx="1050000" cy="2026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3" name="Google Shape;273;p9"/>
          <p:cNvSpPr txBox="1"/>
          <p:nvPr/>
        </p:nvSpPr>
        <p:spPr>
          <a:xfrm>
            <a:off x="3125500" y="5428150"/>
            <a:ext cx="53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W</a:t>
            </a:r>
            <a:r>
              <a:rPr b="1" baseline="-25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endParaRPr b="1" baseline="-25000" sz="1800"/>
          </a:p>
        </p:txBody>
      </p:sp>
      <p:sp>
        <p:nvSpPr>
          <p:cNvPr id="274" name="Google Shape;274;p9"/>
          <p:cNvSpPr txBox="1"/>
          <p:nvPr/>
        </p:nvSpPr>
        <p:spPr>
          <a:xfrm>
            <a:off x="5645350" y="5428150"/>
            <a:ext cx="53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W</a:t>
            </a:r>
            <a:r>
              <a:rPr b="1" baseline="-25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endParaRPr b="1" baseline="-25000" sz="1800"/>
          </a:p>
        </p:txBody>
      </p:sp>
      <p:sp>
        <p:nvSpPr>
          <p:cNvPr id="275" name="Google Shape;275;p9"/>
          <p:cNvSpPr txBox="1"/>
          <p:nvPr/>
        </p:nvSpPr>
        <p:spPr>
          <a:xfrm>
            <a:off x="4440500" y="4778588"/>
            <a:ext cx="105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1</a:t>
            </a:r>
            <a:r>
              <a:rPr lang="en-US" sz="1900">
                <a:solidFill>
                  <a:schemeClr val="dk1"/>
                </a:solidFill>
              </a:rPr>
              <a:t>(z)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6345975" y="4203813"/>
            <a:ext cx="105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2</a:t>
            </a:r>
            <a:r>
              <a:rPr lang="en-US" sz="1900">
                <a:solidFill>
                  <a:schemeClr val="dk1"/>
                </a:solidFill>
              </a:rPr>
              <a:t>(z)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7523075" y="658300"/>
            <a:ext cx="653100" cy="9525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y</a:t>
            </a:r>
            <a:r>
              <a:rPr b="1" baseline="-25000" lang="en-US" sz="1500"/>
              <a:t>1</a:t>
            </a:r>
            <a:endParaRPr b="1" baseline="-25000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baseline="-25000" lang="en-US" sz="1500"/>
            </a:br>
            <a:r>
              <a:rPr b="1" lang="en-US" sz="1500">
                <a:solidFill>
                  <a:schemeClr val="dk1"/>
                </a:solidFill>
              </a:rPr>
              <a:t>y</a:t>
            </a:r>
            <a:r>
              <a:rPr b="1" baseline="-25000" lang="en-US" sz="1500">
                <a:solidFill>
                  <a:schemeClr val="dk1"/>
                </a:solidFill>
              </a:rPr>
              <a:t>2</a:t>
            </a:r>
            <a:endParaRPr b="1" baseline="-25000" sz="1500"/>
          </a:p>
        </p:txBody>
      </p:sp>
      <p:sp>
        <p:nvSpPr>
          <p:cNvPr id="278" name="Google Shape;278;p9"/>
          <p:cNvSpPr txBox="1"/>
          <p:nvPr/>
        </p:nvSpPr>
        <p:spPr>
          <a:xfrm>
            <a:off x="8223825" y="938875"/>
            <a:ext cx="326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=</a:t>
            </a:r>
            <a:endParaRPr b="1" sz="2200"/>
          </a:p>
        </p:txBody>
      </p:sp>
      <p:sp>
        <p:nvSpPr>
          <p:cNvPr id="279" name="Google Shape;279;p9"/>
          <p:cNvSpPr txBox="1"/>
          <p:nvPr/>
        </p:nvSpPr>
        <p:spPr>
          <a:xfrm>
            <a:off x="8550525" y="888250"/>
            <a:ext cx="44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2</a:t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8994225" y="658300"/>
            <a:ext cx="2107500" cy="9525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baseline="-25000" lang="en-US" sz="1500"/>
            </a:br>
            <a:endParaRPr b="1" baseline="-25000" sz="1500"/>
          </a:p>
        </p:txBody>
      </p:sp>
      <p:sp>
        <p:nvSpPr>
          <p:cNvPr id="281" name="Google Shape;281;p9"/>
          <p:cNvSpPr/>
          <p:nvPr/>
        </p:nvSpPr>
        <p:spPr>
          <a:xfrm>
            <a:off x="9890700" y="658300"/>
            <a:ext cx="1007100" cy="9525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baseline="-25000"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baseline="-25000" lang="en-US" sz="1500"/>
            </a:br>
            <a:endParaRPr b="1" baseline="-25000" sz="1500"/>
          </a:p>
        </p:txBody>
      </p:sp>
      <p:sp>
        <p:nvSpPr>
          <p:cNvPr id="282" name="Google Shape;282;p9"/>
          <p:cNvSpPr/>
          <p:nvPr/>
        </p:nvSpPr>
        <p:spPr>
          <a:xfrm>
            <a:off x="10312675" y="611700"/>
            <a:ext cx="443700" cy="9990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x</a:t>
            </a:r>
            <a:r>
              <a:rPr b="1" baseline="-25000" lang="en-US" sz="1500"/>
              <a:t>1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x</a:t>
            </a:r>
            <a:r>
              <a:rPr b="1" baseline="-25000" lang="en-US" sz="1500"/>
              <a:t>2</a:t>
            </a:r>
            <a:endParaRPr i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x</a:t>
            </a:r>
            <a:r>
              <a:rPr b="1" baseline="-25000" lang="en-US" sz="1500"/>
              <a:t>3</a:t>
            </a:r>
            <a:br>
              <a:rPr b="1" baseline="-25000" lang="en-US" sz="1500"/>
            </a:br>
            <a:endParaRPr b="1" baseline="-25000" sz="1500"/>
          </a:p>
        </p:txBody>
      </p:sp>
      <p:sp>
        <p:nvSpPr>
          <p:cNvPr id="283" name="Google Shape;283;p9"/>
          <p:cNvSpPr txBox="1"/>
          <p:nvPr/>
        </p:nvSpPr>
        <p:spPr>
          <a:xfrm>
            <a:off x="9890675" y="919000"/>
            <a:ext cx="53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W</a:t>
            </a:r>
            <a:r>
              <a:rPr b="1" baseline="-25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endParaRPr b="1" baseline="-25000" sz="1800"/>
          </a:p>
        </p:txBody>
      </p:sp>
      <p:sp>
        <p:nvSpPr>
          <p:cNvPr id="284" name="Google Shape;284;p9"/>
          <p:cNvSpPr txBox="1"/>
          <p:nvPr/>
        </p:nvSpPr>
        <p:spPr>
          <a:xfrm>
            <a:off x="9368575" y="861025"/>
            <a:ext cx="492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1</a:t>
            </a:r>
            <a:endParaRPr/>
          </a:p>
        </p:txBody>
      </p:sp>
      <p:sp>
        <p:nvSpPr>
          <p:cNvPr id="285" name="Google Shape;285;p9"/>
          <p:cNvSpPr txBox="1"/>
          <p:nvPr/>
        </p:nvSpPr>
        <p:spPr>
          <a:xfrm>
            <a:off x="8998750" y="919000"/>
            <a:ext cx="443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W</a:t>
            </a:r>
            <a:r>
              <a:rPr b="1" baseline="-25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endParaRPr b="1" baseline="-25000" sz="1800"/>
          </a:p>
        </p:txBody>
      </p:sp>
      <p:sp>
        <p:nvSpPr>
          <p:cNvPr id="286" name="Google Shape;286;p9"/>
          <p:cNvSpPr txBox="1"/>
          <p:nvPr/>
        </p:nvSpPr>
        <p:spPr>
          <a:xfrm>
            <a:off x="6733413" y="5529650"/>
            <a:ext cx="53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X</a:t>
            </a:r>
            <a:r>
              <a:rPr b="1" baseline="30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l</a:t>
            </a:r>
            <a:endParaRPr b="1" baseline="30000" sz="1800"/>
          </a:p>
        </p:txBody>
      </p:sp>
      <p:sp>
        <p:nvSpPr>
          <p:cNvPr id="287" name="Google Shape;287;p9"/>
          <p:cNvSpPr txBox="1"/>
          <p:nvPr/>
        </p:nvSpPr>
        <p:spPr>
          <a:xfrm>
            <a:off x="7082838" y="5529650"/>
            <a:ext cx="326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=</a:t>
            </a:r>
            <a:endParaRPr b="1" sz="2200"/>
          </a:p>
        </p:txBody>
      </p:sp>
      <p:sp>
        <p:nvSpPr>
          <p:cNvPr id="288" name="Google Shape;288;p9"/>
          <p:cNvSpPr/>
          <p:nvPr/>
        </p:nvSpPr>
        <p:spPr>
          <a:xfrm>
            <a:off x="7505850" y="5168850"/>
            <a:ext cx="1556100" cy="10527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x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11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 x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12  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…   x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1m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x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21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x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22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  …   x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2m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…   …    …   …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x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l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1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x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l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2</a:t>
            </a:r>
            <a:r>
              <a:rPr b="1" lang="en-US" sz="1300">
                <a:solidFill>
                  <a:schemeClr val="dk1"/>
                </a:solidFill>
              </a:rPr>
              <a:t>     …  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x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lm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6068425" y="5475250"/>
            <a:ext cx="326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</p:txBody>
      </p:sp>
      <p:sp>
        <p:nvSpPr>
          <p:cNvPr id="290" name="Google Shape;290;p9"/>
          <p:cNvSpPr txBox="1"/>
          <p:nvPr/>
        </p:nvSpPr>
        <p:spPr>
          <a:xfrm>
            <a:off x="8862675" y="2108375"/>
            <a:ext cx="163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y = f(x; W</a:t>
            </a:r>
            <a:r>
              <a:rPr baseline="-25000"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,W</a:t>
            </a:r>
            <a:r>
              <a:rPr baseline="-25000"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8919400" y="2752275"/>
            <a:ext cx="1632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y = f(x; </a:t>
            </a:r>
            <a:r>
              <a:rPr b="1" i="1" lang="en-US" sz="13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9"/>
          <p:cNvSpPr txBox="1"/>
          <p:nvPr/>
        </p:nvSpPr>
        <p:spPr>
          <a:xfrm>
            <a:off x="7857311" y="5037444"/>
            <a:ext cx="49863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0" i="1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Для одного нейрона мы находили ∂L/∂w формулой напрямую. Для сети из многих слоёв формулу «в лоб» для каждого веса не выпишешь — нужен систематический способ. Это и есть backpropagation.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9310088" y="5532700"/>
            <a:ext cx="538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30000" lang="en-US" sz="1600">
                <a:solidFill>
                  <a:srgbClr val="333333"/>
                </a:solidFill>
                <a:highlight>
                  <a:srgbClr val="FFFFFF"/>
                </a:highlight>
              </a:rPr>
              <a:t>l</a:t>
            </a:r>
            <a:endParaRPr b="1" baseline="30000" sz="1800"/>
          </a:p>
        </p:txBody>
      </p:sp>
      <p:sp>
        <p:nvSpPr>
          <p:cNvPr id="294" name="Google Shape;294;p9"/>
          <p:cNvSpPr txBox="1"/>
          <p:nvPr/>
        </p:nvSpPr>
        <p:spPr>
          <a:xfrm>
            <a:off x="9659513" y="5532700"/>
            <a:ext cx="3267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=</a:t>
            </a:r>
            <a:endParaRPr b="1" sz="2200"/>
          </a:p>
        </p:txBody>
      </p:sp>
      <p:sp>
        <p:nvSpPr>
          <p:cNvPr id="295" name="Google Shape;295;p9"/>
          <p:cNvSpPr/>
          <p:nvPr/>
        </p:nvSpPr>
        <p:spPr>
          <a:xfrm>
            <a:off x="10082525" y="5171900"/>
            <a:ext cx="1556100" cy="1052700"/>
          </a:xfrm>
          <a:prstGeom prst="bracketPair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y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11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 y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12  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…   y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1m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y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21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y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22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  …   y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2m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</a:rPr>
              <a:t>…   …    …   …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 y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l1</a:t>
            </a:r>
            <a:r>
              <a:rPr b="1" lang="en-US" sz="1300">
                <a:solidFill>
                  <a:schemeClr val="dk1"/>
                </a:solidFill>
              </a:rPr>
              <a:t>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y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l2</a:t>
            </a:r>
            <a:r>
              <a:rPr b="1" lang="en-US" sz="1300">
                <a:solidFill>
                  <a:schemeClr val="dk1"/>
                </a:solidFill>
              </a:rPr>
              <a:t>     …   </a:t>
            </a:r>
            <a:r>
              <a:rPr b="1" lang="en-US" sz="1300">
                <a:solidFill>
                  <a:srgbClr val="333333"/>
                </a:solidFill>
                <a:highlight>
                  <a:schemeClr val="lt1"/>
                </a:highlight>
              </a:rPr>
              <a:t>y</a:t>
            </a:r>
            <a:r>
              <a:rPr b="1" baseline="-25000" lang="en-US" sz="1300">
                <a:solidFill>
                  <a:srgbClr val="333333"/>
                </a:solidFill>
                <a:highlight>
                  <a:schemeClr val="lt1"/>
                </a:highlight>
              </a:rPr>
              <a:t>lm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548645" y="621800"/>
            <a:ext cx="4986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Сеть — это не один нейрон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5" name="Google Shape;305;p10"/>
          <p:cNvCxnSpPr>
            <a:stCxn id="306" idx="6"/>
            <a:endCxn id="307" idx="2"/>
          </p:cNvCxnSpPr>
          <p:nvPr/>
        </p:nvCxnSpPr>
        <p:spPr>
          <a:xfrm>
            <a:off x="2267576" y="1906399"/>
            <a:ext cx="2254800" cy="2408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10"/>
          <p:cNvCxnSpPr>
            <a:stCxn id="309" idx="6"/>
            <a:endCxn id="307" idx="2"/>
          </p:cNvCxnSpPr>
          <p:nvPr/>
        </p:nvCxnSpPr>
        <p:spPr>
          <a:xfrm>
            <a:off x="2267650" y="3019725"/>
            <a:ext cx="2254500" cy="1295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10"/>
          <p:cNvCxnSpPr>
            <a:stCxn id="306" idx="6"/>
            <a:endCxn id="311" idx="2"/>
          </p:cNvCxnSpPr>
          <p:nvPr/>
        </p:nvCxnSpPr>
        <p:spPr>
          <a:xfrm flipH="1" rot="10800000">
            <a:off x="2267576" y="1804999"/>
            <a:ext cx="2254800" cy="101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0"/>
          <p:cNvCxnSpPr>
            <a:stCxn id="313" idx="6"/>
            <a:endCxn id="311" idx="2"/>
          </p:cNvCxnSpPr>
          <p:nvPr/>
        </p:nvCxnSpPr>
        <p:spPr>
          <a:xfrm flipH="1" rot="10800000">
            <a:off x="2192276" y="1805026"/>
            <a:ext cx="2330100" cy="2213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0"/>
          <p:cNvSpPr/>
          <p:nvPr/>
        </p:nvSpPr>
        <p:spPr>
          <a:xfrm>
            <a:off x="1721876" y="1638949"/>
            <a:ext cx="5457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1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309" name="Google Shape;309;p10"/>
          <p:cNvSpPr/>
          <p:nvPr/>
        </p:nvSpPr>
        <p:spPr>
          <a:xfrm>
            <a:off x="1682650" y="2752275"/>
            <a:ext cx="5850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300">
                <a:solidFill>
                  <a:schemeClr val="dk1"/>
                </a:solidFill>
                <a:highlight>
                  <a:srgbClr val="F2F5FA"/>
                </a:highlight>
              </a:rPr>
              <a:t>2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13" name="Google Shape;313;p10"/>
          <p:cNvSpPr/>
          <p:nvPr/>
        </p:nvSpPr>
        <p:spPr>
          <a:xfrm>
            <a:off x="1653476" y="3767326"/>
            <a:ext cx="538800" cy="5028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3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11" name="Google Shape;311;p10"/>
          <p:cNvSpPr/>
          <p:nvPr/>
        </p:nvSpPr>
        <p:spPr>
          <a:xfrm>
            <a:off x="4522275" y="14232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4522275" y="3932925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 </a:t>
            </a:r>
            <a:endParaRPr sz="2900"/>
          </a:p>
        </p:txBody>
      </p:sp>
      <p:cxnSp>
        <p:nvCxnSpPr>
          <p:cNvPr id="314" name="Google Shape;314;p10"/>
          <p:cNvCxnSpPr>
            <a:stCxn id="313" idx="6"/>
            <a:endCxn id="307" idx="2"/>
          </p:cNvCxnSpPr>
          <p:nvPr/>
        </p:nvCxnSpPr>
        <p:spPr>
          <a:xfrm>
            <a:off x="2192276" y="4018726"/>
            <a:ext cx="2330100" cy="295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10"/>
          <p:cNvCxnSpPr>
            <a:stCxn id="309" idx="6"/>
            <a:endCxn id="311" idx="2"/>
          </p:cNvCxnSpPr>
          <p:nvPr/>
        </p:nvCxnSpPr>
        <p:spPr>
          <a:xfrm flipH="1" rot="10800000">
            <a:off x="2267650" y="1805025"/>
            <a:ext cx="2254500" cy="1214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10"/>
          <p:cNvCxnSpPr>
            <a:stCxn id="311" idx="6"/>
            <a:endCxn id="317" idx="2"/>
          </p:cNvCxnSpPr>
          <p:nvPr/>
        </p:nvCxnSpPr>
        <p:spPr>
          <a:xfrm>
            <a:off x="5295975" y="1805013"/>
            <a:ext cx="1050000" cy="48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10"/>
          <p:cNvCxnSpPr>
            <a:stCxn id="307" idx="6"/>
            <a:endCxn id="319" idx="2"/>
          </p:cNvCxnSpPr>
          <p:nvPr/>
        </p:nvCxnSpPr>
        <p:spPr>
          <a:xfrm flipH="1" rot="10800000">
            <a:off x="5295975" y="3667275"/>
            <a:ext cx="1050000" cy="647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0" name="Google Shape;320;p10"/>
          <p:cNvSpPr/>
          <p:nvPr/>
        </p:nvSpPr>
        <p:spPr>
          <a:xfrm>
            <a:off x="4522275" y="26379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</p:txBody>
      </p:sp>
      <p:cxnSp>
        <p:nvCxnSpPr>
          <p:cNvPr id="321" name="Google Shape;321;p10"/>
          <p:cNvCxnSpPr>
            <a:stCxn id="306" idx="6"/>
          </p:cNvCxnSpPr>
          <p:nvPr/>
        </p:nvCxnSpPr>
        <p:spPr>
          <a:xfrm>
            <a:off x="2267576" y="1906399"/>
            <a:ext cx="2254800" cy="11406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10"/>
          <p:cNvCxnSpPr>
            <a:stCxn id="313" idx="6"/>
            <a:endCxn id="320" idx="2"/>
          </p:cNvCxnSpPr>
          <p:nvPr/>
        </p:nvCxnSpPr>
        <p:spPr>
          <a:xfrm flipH="1" rot="10800000">
            <a:off x="2192276" y="3019726"/>
            <a:ext cx="2330100" cy="999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0"/>
          <p:cNvCxnSpPr>
            <a:stCxn id="317" idx="6"/>
          </p:cNvCxnSpPr>
          <p:nvPr/>
        </p:nvCxnSpPr>
        <p:spPr>
          <a:xfrm>
            <a:off x="7119625" y="2288138"/>
            <a:ext cx="1308300" cy="12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24" name="Google Shape;324;p10"/>
          <p:cNvSpPr txBox="1"/>
          <p:nvPr/>
        </p:nvSpPr>
        <p:spPr>
          <a:xfrm>
            <a:off x="7625375" y="19299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325" name="Google Shape;325;p10"/>
          <p:cNvCxnSpPr>
            <a:stCxn id="309" idx="6"/>
            <a:endCxn id="320" idx="2"/>
          </p:cNvCxnSpPr>
          <p:nvPr/>
        </p:nvCxnSpPr>
        <p:spPr>
          <a:xfrm>
            <a:off x="2267650" y="3019725"/>
            <a:ext cx="22545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7" name="Google Shape;317;p10"/>
          <p:cNvSpPr/>
          <p:nvPr/>
        </p:nvSpPr>
        <p:spPr>
          <a:xfrm>
            <a:off x="6345925" y="1906388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6345925" y="328551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cxnSp>
        <p:nvCxnSpPr>
          <p:cNvPr id="326" name="Google Shape;326;p10"/>
          <p:cNvCxnSpPr>
            <a:stCxn id="311" idx="6"/>
            <a:endCxn id="319" idx="2"/>
          </p:cNvCxnSpPr>
          <p:nvPr/>
        </p:nvCxnSpPr>
        <p:spPr>
          <a:xfrm>
            <a:off x="5295975" y="1805013"/>
            <a:ext cx="1050000" cy="1862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10"/>
          <p:cNvCxnSpPr>
            <a:stCxn id="320" idx="6"/>
            <a:endCxn id="317" idx="2"/>
          </p:cNvCxnSpPr>
          <p:nvPr/>
        </p:nvCxnSpPr>
        <p:spPr>
          <a:xfrm flipH="1" rot="10800000">
            <a:off x="5295975" y="2288013"/>
            <a:ext cx="1050000" cy="731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10"/>
          <p:cNvCxnSpPr>
            <a:endCxn id="319" idx="2"/>
          </p:cNvCxnSpPr>
          <p:nvPr/>
        </p:nvCxnSpPr>
        <p:spPr>
          <a:xfrm>
            <a:off x="5295925" y="3053763"/>
            <a:ext cx="1050000" cy="613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10"/>
          <p:cNvCxnSpPr/>
          <p:nvPr/>
        </p:nvCxnSpPr>
        <p:spPr>
          <a:xfrm>
            <a:off x="7119575" y="3663238"/>
            <a:ext cx="1206300" cy="11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30" name="Google Shape;330;p10"/>
          <p:cNvSpPr txBox="1"/>
          <p:nvPr/>
        </p:nvSpPr>
        <p:spPr>
          <a:xfrm>
            <a:off x="7579975" y="32443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331" name="Google Shape;331;p10"/>
          <p:cNvCxnSpPr>
            <a:stCxn id="307" idx="6"/>
            <a:endCxn id="317" idx="2"/>
          </p:cNvCxnSpPr>
          <p:nvPr/>
        </p:nvCxnSpPr>
        <p:spPr>
          <a:xfrm flipH="1" rot="10800000">
            <a:off x="5295975" y="2288175"/>
            <a:ext cx="1050000" cy="2026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2" name="Google Shape;332;p10"/>
          <p:cNvSpPr txBox="1"/>
          <p:nvPr/>
        </p:nvSpPr>
        <p:spPr>
          <a:xfrm>
            <a:off x="6345975" y="4203813"/>
            <a:ext cx="105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2</a:t>
            </a:r>
            <a:r>
              <a:rPr lang="en-US" sz="1900">
                <a:solidFill>
                  <a:schemeClr val="dk1"/>
                </a:solidFill>
              </a:rPr>
              <a:t>(z)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33" name="Google Shape;333;p10"/>
          <p:cNvSpPr txBox="1"/>
          <p:nvPr/>
        </p:nvSpPr>
        <p:spPr>
          <a:xfrm>
            <a:off x="8325875" y="863750"/>
            <a:ext cx="183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30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=[x</a:t>
            </a:r>
            <a:r>
              <a:rPr b="1" baseline="-25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x</a:t>
            </a:r>
            <a:r>
              <a:rPr b="1" baseline="-25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… x</a:t>
            </a:r>
            <a:r>
              <a:rPr b="1" baseline="-25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1" baseline="30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8325875" y="1423275"/>
            <a:ext cx="183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30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=[y</a:t>
            </a:r>
            <a:r>
              <a:rPr b="1" baseline="-25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b="1" baseline="-25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… y</a:t>
            </a:r>
            <a:r>
              <a:rPr b="1" baseline="-25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1" baseline="30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10"/>
          <p:cNvSpPr txBox="1"/>
          <p:nvPr/>
        </p:nvSpPr>
        <p:spPr>
          <a:xfrm>
            <a:off x="8427925" y="2603750"/>
            <a:ext cx="1308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=f(x</a:t>
            </a:r>
            <a:r>
              <a:rPr b="1" baseline="-25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i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8529200" y="3221250"/>
            <a:ext cx="3147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(t</a:t>
            </a:r>
            <a:r>
              <a:rPr b="1" baseline="-25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,y</a:t>
            </a:r>
            <a:r>
              <a:rPr b="1" baseline="-25000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 - </a:t>
            </a:r>
            <a:r>
              <a:rPr i="1" lang="en-US" sz="15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функция потерь</a:t>
            </a:r>
            <a:endParaRPr i="1"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7" name="Google Shape;33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1738" y="5428149"/>
            <a:ext cx="2428616" cy="78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8525" y="5175250"/>
            <a:ext cx="5286849" cy="129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0"/>
          <p:cNvSpPr txBox="1"/>
          <p:nvPr/>
        </p:nvSpPr>
        <p:spPr>
          <a:xfrm>
            <a:off x="1510075" y="4857275"/>
            <a:ext cx="198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В задачах регрессии:</a:t>
            </a:r>
            <a:endParaRPr/>
          </a:p>
        </p:txBody>
      </p:sp>
      <p:sp>
        <p:nvSpPr>
          <p:cNvPr id="340" name="Google Shape;340;p10"/>
          <p:cNvSpPr txBox="1"/>
          <p:nvPr/>
        </p:nvSpPr>
        <p:spPr>
          <a:xfrm>
            <a:off x="7395975" y="4857275"/>
            <a:ext cx="324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В задачах бинарной классификации: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1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 txBox="1"/>
          <p:nvPr/>
        </p:nvSpPr>
        <p:spPr>
          <a:xfrm>
            <a:off x="548645" y="621800"/>
            <a:ext cx="4986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Сеть — это не один нейрон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11"/>
          <p:cNvCxnSpPr>
            <a:stCxn id="351" idx="6"/>
            <a:endCxn id="352" idx="2"/>
          </p:cNvCxnSpPr>
          <p:nvPr/>
        </p:nvCxnSpPr>
        <p:spPr>
          <a:xfrm>
            <a:off x="2267576" y="1906399"/>
            <a:ext cx="2254800" cy="2408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11"/>
          <p:cNvCxnSpPr>
            <a:stCxn id="354" idx="6"/>
            <a:endCxn id="352" idx="2"/>
          </p:cNvCxnSpPr>
          <p:nvPr/>
        </p:nvCxnSpPr>
        <p:spPr>
          <a:xfrm>
            <a:off x="2267650" y="3019725"/>
            <a:ext cx="2254500" cy="1295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11"/>
          <p:cNvCxnSpPr>
            <a:stCxn id="351" idx="6"/>
            <a:endCxn id="356" idx="2"/>
          </p:cNvCxnSpPr>
          <p:nvPr/>
        </p:nvCxnSpPr>
        <p:spPr>
          <a:xfrm flipH="1" rot="10800000">
            <a:off x="2267576" y="1804999"/>
            <a:ext cx="2254800" cy="101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11"/>
          <p:cNvCxnSpPr>
            <a:stCxn id="358" idx="6"/>
            <a:endCxn id="356" idx="2"/>
          </p:cNvCxnSpPr>
          <p:nvPr/>
        </p:nvCxnSpPr>
        <p:spPr>
          <a:xfrm flipH="1" rot="10800000">
            <a:off x="2192276" y="1805026"/>
            <a:ext cx="2330100" cy="2213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11"/>
          <p:cNvSpPr/>
          <p:nvPr/>
        </p:nvSpPr>
        <p:spPr>
          <a:xfrm>
            <a:off x="1721876" y="1638949"/>
            <a:ext cx="5457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1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354" name="Google Shape;354;p11"/>
          <p:cNvSpPr/>
          <p:nvPr/>
        </p:nvSpPr>
        <p:spPr>
          <a:xfrm>
            <a:off x="1682650" y="2752275"/>
            <a:ext cx="5850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300">
                <a:solidFill>
                  <a:schemeClr val="dk1"/>
                </a:solidFill>
                <a:highlight>
                  <a:srgbClr val="F2F5FA"/>
                </a:highlight>
              </a:rPr>
              <a:t>2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58" name="Google Shape;358;p11"/>
          <p:cNvSpPr/>
          <p:nvPr/>
        </p:nvSpPr>
        <p:spPr>
          <a:xfrm>
            <a:off x="1653476" y="3767326"/>
            <a:ext cx="538800" cy="5028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3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56" name="Google Shape;356;p11"/>
          <p:cNvSpPr/>
          <p:nvPr/>
        </p:nvSpPr>
        <p:spPr>
          <a:xfrm>
            <a:off x="4522275" y="14232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4522275" y="3932925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 </a:t>
            </a:r>
            <a:endParaRPr sz="2900"/>
          </a:p>
        </p:txBody>
      </p:sp>
      <p:cxnSp>
        <p:nvCxnSpPr>
          <p:cNvPr id="359" name="Google Shape;359;p11"/>
          <p:cNvCxnSpPr>
            <a:stCxn id="358" idx="6"/>
            <a:endCxn id="352" idx="2"/>
          </p:cNvCxnSpPr>
          <p:nvPr/>
        </p:nvCxnSpPr>
        <p:spPr>
          <a:xfrm>
            <a:off x="2192276" y="4018726"/>
            <a:ext cx="2330100" cy="295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11"/>
          <p:cNvCxnSpPr>
            <a:stCxn id="354" idx="6"/>
            <a:endCxn id="356" idx="2"/>
          </p:cNvCxnSpPr>
          <p:nvPr/>
        </p:nvCxnSpPr>
        <p:spPr>
          <a:xfrm flipH="1" rot="10800000">
            <a:off x="2267650" y="1805025"/>
            <a:ext cx="2254500" cy="1214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1" name="Google Shape;361;p11"/>
          <p:cNvCxnSpPr>
            <a:stCxn id="356" idx="6"/>
            <a:endCxn id="362" idx="2"/>
          </p:cNvCxnSpPr>
          <p:nvPr/>
        </p:nvCxnSpPr>
        <p:spPr>
          <a:xfrm>
            <a:off x="5295975" y="1805013"/>
            <a:ext cx="1050000" cy="48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3" name="Google Shape;363;p11"/>
          <p:cNvCxnSpPr>
            <a:stCxn id="352" idx="6"/>
            <a:endCxn id="364" idx="2"/>
          </p:cNvCxnSpPr>
          <p:nvPr/>
        </p:nvCxnSpPr>
        <p:spPr>
          <a:xfrm flipH="1" rot="10800000">
            <a:off x="5295975" y="3667275"/>
            <a:ext cx="1050000" cy="647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11"/>
          <p:cNvSpPr/>
          <p:nvPr/>
        </p:nvSpPr>
        <p:spPr>
          <a:xfrm>
            <a:off x="4522275" y="26379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</p:txBody>
      </p:sp>
      <p:cxnSp>
        <p:nvCxnSpPr>
          <p:cNvPr id="366" name="Google Shape;366;p11"/>
          <p:cNvCxnSpPr>
            <a:stCxn id="351" idx="6"/>
          </p:cNvCxnSpPr>
          <p:nvPr/>
        </p:nvCxnSpPr>
        <p:spPr>
          <a:xfrm>
            <a:off x="2267576" y="1906399"/>
            <a:ext cx="2254800" cy="11406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11"/>
          <p:cNvCxnSpPr>
            <a:stCxn id="358" idx="6"/>
            <a:endCxn id="365" idx="2"/>
          </p:cNvCxnSpPr>
          <p:nvPr/>
        </p:nvCxnSpPr>
        <p:spPr>
          <a:xfrm flipH="1" rot="10800000">
            <a:off x="2192276" y="3019726"/>
            <a:ext cx="2330100" cy="999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11"/>
          <p:cNvCxnSpPr>
            <a:stCxn id="362" idx="6"/>
          </p:cNvCxnSpPr>
          <p:nvPr/>
        </p:nvCxnSpPr>
        <p:spPr>
          <a:xfrm>
            <a:off x="7119625" y="2288138"/>
            <a:ext cx="1308300" cy="12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69" name="Google Shape;369;p11"/>
          <p:cNvSpPr txBox="1"/>
          <p:nvPr/>
        </p:nvSpPr>
        <p:spPr>
          <a:xfrm>
            <a:off x="7625375" y="19299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370" name="Google Shape;370;p11"/>
          <p:cNvCxnSpPr>
            <a:stCxn id="354" idx="6"/>
            <a:endCxn id="365" idx="2"/>
          </p:cNvCxnSpPr>
          <p:nvPr/>
        </p:nvCxnSpPr>
        <p:spPr>
          <a:xfrm>
            <a:off x="2267650" y="3019725"/>
            <a:ext cx="22545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2" name="Google Shape;362;p11"/>
          <p:cNvSpPr/>
          <p:nvPr/>
        </p:nvSpPr>
        <p:spPr>
          <a:xfrm>
            <a:off x="6345925" y="1906388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6345925" y="328551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cxnSp>
        <p:nvCxnSpPr>
          <p:cNvPr id="371" name="Google Shape;371;p11"/>
          <p:cNvCxnSpPr>
            <a:stCxn id="356" idx="6"/>
            <a:endCxn id="364" idx="2"/>
          </p:cNvCxnSpPr>
          <p:nvPr/>
        </p:nvCxnSpPr>
        <p:spPr>
          <a:xfrm>
            <a:off x="5295975" y="1805013"/>
            <a:ext cx="1050000" cy="1862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11"/>
          <p:cNvCxnSpPr>
            <a:stCxn id="365" idx="6"/>
            <a:endCxn id="362" idx="2"/>
          </p:cNvCxnSpPr>
          <p:nvPr/>
        </p:nvCxnSpPr>
        <p:spPr>
          <a:xfrm flipH="1" rot="10800000">
            <a:off x="5295975" y="2288013"/>
            <a:ext cx="1050000" cy="731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11"/>
          <p:cNvCxnSpPr>
            <a:endCxn id="364" idx="2"/>
          </p:cNvCxnSpPr>
          <p:nvPr/>
        </p:nvCxnSpPr>
        <p:spPr>
          <a:xfrm>
            <a:off x="5295925" y="3053763"/>
            <a:ext cx="1050000" cy="613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11"/>
          <p:cNvCxnSpPr/>
          <p:nvPr/>
        </p:nvCxnSpPr>
        <p:spPr>
          <a:xfrm>
            <a:off x="7119575" y="3663238"/>
            <a:ext cx="1206300" cy="11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375" name="Google Shape;375;p11"/>
          <p:cNvSpPr txBox="1"/>
          <p:nvPr/>
        </p:nvSpPr>
        <p:spPr>
          <a:xfrm>
            <a:off x="7579975" y="32443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376" name="Google Shape;376;p11"/>
          <p:cNvCxnSpPr>
            <a:stCxn id="352" idx="6"/>
            <a:endCxn id="362" idx="2"/>
          </p:cNvCxnSpPr>
          <p:nvPr/>
        </p:nvCxnSpPr>
        <p:spPr>
          <a:xfrm flipH="1" rot="10800000">
            <a:off x="5295975" y="2288175"/>
            <a:ext cx="1050000" cy="2026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7" name="Google Shape;377;p11"/>
          <p:cNvSpPr txBox="1"/>
          <p:nvPr/>
        </p:nvSpPr>
        <p:spPr>
          <a:xfrm>
            <a:off x="6345975" y="4203813"/>
            <a:ext cx="105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2</a:t>
            </a:r>
            <a:r>
              <a:rPr lang="en-US" sz="1900">
                <a:solidFill>
                  <a:schemeClr val="dk1"/>
                </a:solidFill>
              </a:rPr>
              <a:t>(z)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378" name="Google Shape;378;p11"/>
          <p:cNvSpPr txBox="1"/>
          <p:nvPr/>
        </p:nvSpPr>
        <p:spPr>
          <a:xfrm>
            <a:off x="8325875" y="863750"/>
            <a:ext cx="1839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 [x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… 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11"/>
          <p:cNvSpPr txBox="1"/>
          <p:nvPr/>
        </p:nvSpPr>
        <p:spPr>
          <a:xfrm>
            <a:off x="8518725" y="1423275"/>
            <a:ext cx="195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 [y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… 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8427925" y="2603750"/>
            <a:ext cx="130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 f(x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ω)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11"/>
          <p:cNvSpPr txBox="1"/>
          <p:nvPr/>
        </p:nvSpPr>
        <p:spPr>
          <a:xfrm>
            <a:off x="8529200" y="3221250"/>
            <a:ext cx="268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(t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1" lang="en-US" sz="1700">
                <a:solidFill>
                  <a:srgbClr val="333333"/>
                </a:solidFill>
                <a:highlight>
                  <a:schemeClr val="lt1"/>
                </a:highlight>
              </a:rPr>
              <a:t> - </a:t>
            </a:r>
            <a:r>
              <a:rPr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функция потерь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11"/>
          <p:cNvSpPr txBox="1"/>
          <p:nvPr/>
        </p:nvSpPr>
        <p:spPr>
          <a:xfrm>
            <a:off x="9374375" y="1912725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333333"/>
              </a:buClr>
              <a:buSzPts val="1100"/>
              <a:buNone/>
            </a:pPr>
            <a:r>
              <a:t/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11"/>
          <p:cNvSpPr txBox="1"/>
          <p:nvPr/>
        </p:nvSpPr>
        <p:spPr>
          <a:xfrm>
            <a:off x="7017400" y="4898375"/>
            <a:ext cx="475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Q(X</a:t>
            </a:r>
            <a:r>
              <a:rPr baseline="30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1/l ∑L</a:t>
            </a:r>
            <a:r>
              <a:rPr baseline="-25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(t</a:t>
            </a:r>
            <a:r>
              <a:rPr baseline="-25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baseline="-25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 - 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показатель качества</a:t>
            </a:r>
            <a:endParaRPr sz="1200"/>
          </a:p>
        </p:txBody>
      </p:sp>
      <p:pic>
        <p:nvPicPr>
          <p:cNvPr id="384" name="Google Shape;38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675" y="5046076"/>
            <a:ext cx="4794019" cy="114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"/>
          <p:cNvSpPr txBox="1"/>
          <p:nvPr/>
        </p:nvSpPr>
        <p:spPr>
          <a:xfrm>
            <a:off x="548640" y="3200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БОЛЕЕ ШИРОКИЙ ВЗГЛЯД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 txBox="1"/>
          <p:nvPr/>
        </p:nvSpPr>
        <p:spPr>
          <a:xfrm>
            <a:off x="548640" y="594360"/>
            <a:ext cx="110943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Функция потерь и градиентный спуск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 txBox="1"/>
          <p:nvPr/>
        </p:nvSpPr>
        <p:spPr>
          <a:xfrm>
            <a:off x="11002975" y="6355080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14/19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 txBox="1"/>
          <p:nvPr/>
        </p:nvSpPr>
        <p:spPr>
          <a:xfrm>
            <a:off x="548640" y="6355080"/>
            <a:ext cx="3657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1 · Нейронные сети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 txBox="1"/>
          <p:nvPr/>
        </p:nvSpPr>
        <p:spPr>
          <a:xfrm>
            <a:off x="548640" y="1463040"/>
            <a:ext cx="11094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Правило Розенблатта — красивый частный случай. Общая идея, на которой держится всё обучение нейросетей: минимизация функции потерь L(w) — насколько сильно модель ошибается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1F2A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Обучение = подбор весов w, при которых L(w) минимальна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12"/>
          <p:cNvCxnSpPr/>
          <p:nvPr/>
        </p:nvCxnSpPr>
        <p:spPr>
          <a:xfrm>
            <a:off x="914400" y="2651760"/>
            <a:ext cx="0" cy="3200400"/>
          </a:xfrm>
          <a:prstGeom prst="straightConnector1">
            <a:avLst/>
          </a:prstGeom>
          <a:noFill/>
          <a:ln cap="flat" cmpd="sng" w="15875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12"/>
          <p:cNvCxnSpPr/>
          <p:nvPr/>
        </p:nvCxnSpPr>
        <p:spPr>
          <a:xfrm>
            <a:off x="914400" y="5852160"/>
            <a:ext cx="5669400" cy="0"/>
          </a:xfrm>
          <a:prstGeom prst="straightConnector1">
            <a:avLst/>
          </a:prstGeom>
          <a:noFill/>
          <a:ln cap="flat" cmpd="sng" w="15875">
            <a:solidFill>
              <a:srgbClr val="8592B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12"/>
          <p:cNvSpPr txBox="1"/>
          <p:nvPr/>
        </p:nvSpPr>
        <p:spPr>
          <a:xfrm>
            <a:off x="6400800" y="589788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8592B0"/>
                </a:solidFill>
                <a:latin typeface="Cambria"/>
                <a:ea typeface="Cambria"/>
                <a:cs typeface="Cambria"/>
                <a:sym typeface="Cambria"/>
              </a:rPr>
              <a:t>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 txBox="1"/>
          <p:nvPr/>
        </p:nvSpPr>
        <p:spPr>
          <a:xfrm>
            <a:off x="411480" y="2560320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mbria"/>
              <a:buNone/>
            </a:pPr>
            <a:r>
              <a:rPr b="0" i="1" lang="en-US" sz="1200" u="none" cap="none" strike="noStrike">
                <a:solidFill>
                  <a:srgbClr val="8592B0"/>
                </a:solidFill>
                <a:latin typeface="Cambria"/>
                <a:ea typeface="Cambria"/>
                <a:cs typeface="Cambria"/>
                <a:sym typeface="Cambria"/>
              </a:rPr>
              <a:t>L(w)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12"/>
          <p:cNvCxnSpPr/>
          <p:nvPr/>
        </p:nvCxnSpPr>
        <p:spPr>
          <a:xfrm>
            <a:off x="914400" y="2651760"/>
            <a:ext cx="141600" cy="2955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12"/>
          <p:cNvCxnSpPr/>
          <p:nvPr/>
        </p:nvCxnSpPr>
        <p:spPr>
          <a:xfrm>
            <a:off x="1056132" y="2947376"/>
            <a:ext cx="141600" cy="2805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12"/>
          <p:cNvCxnSpPr/>
          <p:nvPr/>
        </p:nvCxnSpPr>
        <p:spPr>
          <a:xfrm>
            <a:off x="1197864" y="3227832"/>
            <a:ext cx="141600" cy="2652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12"/>
          <p:cNvCxnSpPr/>
          <p:nvPr/>
        </p:nvCxnSpPr>
        <p:spPr>
          <a:xfrm>
            <a:off x="1339596" y="3493128"/>
            <a:ext cx="141600" cy="2502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12"/>
          <p:cNvCxnSpPr/>
          <p:nvPr/>
        </p:nvCxnSpPr>
        <p:spPr>
          <a:xfrm>
            <a:off x="1481328" y="3743265"/>
            <a:ext cx="141600" cy="2349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12"/>
          <p:cNvCxnSpPr/>
          <p:nvPr/>
        </p:nvCxnSpPr>
        <p:spPr>
          <a:xfrm>
            <a:off x="1623060" y="3978242"/>
            <a:ext cx="141600" cy="2199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12"/>
          <p:cNvCxnSpPr/>
          <p:nvPr/>
        </p:nvCxnSpPr>
        <p:spPr>
          <a:xfrm>
            <a:off x="1764792" y="4198059"/>
            <a:ext cx="141600" cy="2046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12"/>
          <p:cNvCxnSpPr/>
          <p:nvPr/>
        </p:nvCxnSpPr>
        <p:spPr>
          <a:xfrm>
            <a:off x="1906524" y="4402716"/>
            <a:ext cx="141600" cy="1896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12"/>
          <p:cNvCxnSpPr/>
          <p:nvPr/>
        </p:nvCxnSpPr>
        <p:spPr>
          <a:xfrm>
            <a:off x="2048256" y="4592213"/>
            <a:ext cx="141600" cy="1743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12"/>
          <p:cNvCxnSpPr/>
          <p:nvPr/>
        </p:nvCxnSpPr>
        <p:spPr>
          <a:xfrm>
            <a:off x="2189988" y="4766551"/>
            <a:ext cx="141600" cy="1593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12"/>
          <p:cNvCxnSpPr/>
          <p:nvPr/>
        </p:nvCxnSpPr>
        <p:spPr>
          <a:xfrm>
            <a:off x="2331720" y="4925728"/>
            <a:ext cx="141600" cy="1440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12"/>
          <p:cNvCxnSpPr/>
          <p:nvPr/>
        </p:nvCxnSpPr>
        <p:spPr>
          <a:xfrm>
            <a:off x="2473452" y="5069746"/>
            <a:ext cx="141600" cy="1290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12"/>
          <p:cNvCxnSpPr/>
          <p:nvPr/>
        </p:nvCxnSpPr>
        <p:spPr>
          <a:xfrm>
            <a:off x="2615184" y="5198605"/>
            <a:ext cx="141600" cy="1137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12"/>
          <p:cNvCxnSpPr/>
          <p:nvPr/>
        </p:nvCxnSpPr>
        <p:spPr>
          <a:xfrm>
            <a:off x="2756916" y="5312303"/>
            <a:ext cx="141600" cy="984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12"/>
          <p:cNvCxnSpPr/>
          <p:nvPr/>
        </p:nvCxnSpPr>
        <p:spPr>
          <a:xfrm>
            <a:off x="2898648" y="5410842"/>
            <a:ext cx="141600" cy="834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12"/>
          <p:cNvCxnSpPr/>
          <p:nvPr/>
        </p:nvCxnSpPr>
        <p:spPr>
          <a:xfrm>
            <a:off x="3040380" y="5494221"/>
            <a:ext cx="141600" cy="681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12"/>
          <p:cNvCxnSpPr/>
          <p:nvPr/>
        </p:nvCxnSpPr>
        <p:spPr>
          <a:xfrm>
            <a:off x="3182112" y="5562440"/>
            <a:ext cx="141600" cy="531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12"/>
          <p:cNvCxnSpPr/>
          <p:nvPr/>
        </p:nvCxnSpPr>
        <p:spPr>
          <a:xfrm>
            <a:off x="3323844" y="5615499"/>
            <a:ext cx="141600" cy="378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12"/>
          <p:cNvCxnSpPr/>
          <p:nvPr/>
        </p:nvCxnSpPr>
        <p:spPr>
          <a:xfrm>
            <a:off x="3465576" y="5653398"/>
            <a:ext cx="141600" cy="228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12"/>
          <p:cNvCxnSpPr/>
          <p:nvPr/>
        </p:nvCxnSpPr>
        <p:spPr>
          <a:xfrm>
            <a:off x="3607308" y="5676138"/>
            <a:ext cx="141600" cy="75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12"/>
          <p:cNvCxnSpPr/>
          <p:nvPr/>
        </p:nvCxnSpPr>
        <p:spPr>
          <a:xfrm flipH="1" rot="10800000">
            <a:off x="3749040" y="5676218"/>
            <a:ext cx="141600" cy="75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p12"/>
          <p:cNvCxnSpPr/>
          <p:nvPr/>
        </p:nvCxnSpPr>
        <p:spPr>
          <a:xfrm flipH="1" rot="10800000">
            <a:off x="3890772" y="5653338"/>
            <a:ext cx="141600" cy="228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12"/>
          <p:cNvCxnSpPr/>
          <p:nvPr/>
        </p:nvCxnSpPr>
        <p:spPr>
          <a:xfrm flipH="1" rot="10800000">
            <a:off x="4032504" y="5615598"/>
            <a:ext cx="141600" cy="378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12"/>
          <p:cNvCxnSpPr/>
          <p:nvPr/>
        </p:nvCxnSpPr>
        <p:spPr>
          <a:xfrm flipH="1" rot="10800000">
            <a:off x="4174236" y="5562399"/>
            <a:ext cx="141600" cy="531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12"/>
          <p:cNvCxnSpPr/>
          <p:nvPr/>
        </p:nvCxnSpPr>
        <p:spPr>
          <a:xfrm flipH="1" rot="10800000">
            <a:off x="4315968" y="5494340"/>
            <a:ext cx="141600" cy="681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12"/>
          <p:cNvCxnSpPr/>
          <p:nvPr/>
        </p:nvCxnSpPr>
        <p:spPr>
          <a:xfrm flipH="1" rot="10800000">
            <a:off x="4457700" y="5410821"/>
            <a:ext cx="141600" cy="834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12"/>
          <p:cNvCxnSpPr/>
          <p:nvPr/>
        </p:nvCxnSpPr>
        <p:spPr>
          <a:xfrm flipH="1" rot="10800000">
            <a:off x="4599432" y="5312442"/>
            <a:ext cx="141600" cy="984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12"/>
          <p:cNvCxnSpPr/>
          <p:nvPr/>
        </p:nvCxnSpPr>
        <p:spPr>
          <a:xfrm flipH="1" rot="10800000">
            <a:off x="4741164" y="5198603"/>
            <a:ext cx="141600" cy="1137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12"/>
          <p:cNvCxnSpPr/>
          <p:nvPr/>
        </p:nvCxnSpPr>
        <p:spPr>
          <a:xfrm flipH="1" rot="10800000">
            <a:off x="4882896" y="5069604"/>
            <a:ext cx="141600" cy="1290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12"/>
          <p:cNvCxnSpPr/>
          <p:nvPr/>
        </p:nvCxnSpPr>
        <p:spPr>
          <a:xfrm flipH="1" rot="10800000">
            <a:off x="5024628" y="4925746"/>
            <a:ext cx="141600" cy="1440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12"/>
          <p:cNvCxnSpPr/>
          <p:nvPr/>
        </p:nvCxnSpPr>
        <p:spPr>
          <a:xfrm flipH="1" rot="10800000">
            <a:off x="5166360" y="4766429"/>
            <a:ext cx="141600" cy="1593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12"/>
          <p:cNvCxnSpPr/>
          <p:nvPr/>
        </p:nvCxnSpPr>
        <p:spPr>
          <a:xfrm flipH="1" rot="10800000">
            <a:off x="5308092" y="4592251"/>
            <a:ext cx="141600" cy="1743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12"/>
          <p:cNvCxnSpPr/>
          <p:nvPr/>
        </p:nvCxnSpPr>
        <p:spPr>
          <a:xfrm flipH="1" rot="10800000">
            <a:off x="5449824" y="4402613"/>
            <a:ext cx="141600" cy="1896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p12"/>
          <p:cNvCxnSpPr/>
          <p:nvPr/>
        </p:nvCxnSpPr>
        <p:spPr>
          <a:xfrm flipH="1" rot="10800000">
            <a:off x="5591556" y="4198116"/>
            <a:ext cx="141600" cy="2046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12"/>
          <p:cNvCxnSpPr/>
          <p:nvPr/>
        </p:nvCxnSpPr>
        <p:spPr>
          <a:xfrm flipH="1" rot="10800000">
            <a:off x="5733288" y="3978159"/>
            <a:ext cx="141600" cy="2199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12"/>
          <p:cNvCxnSpPr/>
          <p:nvPr/>
        </p:nvCxnSpPr>
        <p:spPr>
          <a:xfrm flipH="1" rot="10800000">
            <a:off x="5875020" y="3743342"/>
            <a:ext cx="141600" cy="2349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12"/>
          <p:cNvCxnSpPr/>
          <p:nvPr/>
        </p:nvCxnSpPr>
        <p:spPr>
          <a:xfrm flipH="1" rot="10800000">
            <a:off x="6016752" y="3493065"/>
            <a:ext cx="141600" cy="2502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12"/>
          <p:cNvCxnSpPr/>
          <p:nvPr/>
        </p:nvCxnSpPr>
        <p:spPr>
          <a:xfrm flipH="1" rot="10800000">
            <a:off x="6158484" y="3227928"/>
            <a:ext cx="141600" cy="2652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7" name="Google Shape;437;p12"/>
          <p:cNvCxnSpPr/>
          <p:nvPr/>
        </p:nvCxnSpPr>
        <p:spPr>
          <a:xfrm flipH="1" rot="10800000">
            <a:off x="6300216" y="2947332"/>
            <a:ext cx="141600" cy="2805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12"/>
          <p:cNvCxnSpPr/>
          <p:nvPr/>
        </p:nvCxnSpPr>
        <p:spPr>
          <a:xfrm flipH="1" rot="10800000">
            <a:off x="6441948" y="2651876"/>
            <a:ext cx="141600" cy="295500"/>
          </a:xfrm>
          <a:prstGeom prst="straightConnector1">
            <a:avLst/>
          </a:prstGeom>
          <a:noFill/>
          <a:ln cap="flat" cmpd="sng" w="317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12"/>
          <p:cNvCxnSpPr/>
          <p:nvPr/>
        </p:nvCxnSpPr>
        <p:spPr>
          <a:xfrm flipH="1" rot="10800000">
            <a:off x="4977384" y="3392757"/>
            <a:ext cx="1322700" cy="1886700"/>
          </a:xfrm>
          <a:prstGeom prst="straightConnector1">
            <a:avLst/>
          </a:prstGeom>
          <a:noFill/>
          <a:ln cap="flat" cmpd="sng" w="25400">
            <a:solidFill>
              <a:srgbClr val="C0392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40" name="Google Shape;440;p12"/>
          <p:cNvSpPr/>
          <p:nvPr/>
        </p:nvSpPr>
        <p:spPr>
          <a:xfrm>
            <a:off x="5547360" y="4244741"/>
            <a:ext cx="183000" cy="183000"/>
          </a:xfrm>
          <a:prstGeom prst="ellipse">
            <a:avLst/>
          </a:prstGeom>
          <a:solidFill>
            <a:srgbClr val="F2A93B"/>
          </a:solidFill>
          <a:ln cap="flat" cmpd="sng" w="19050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"/>
          <p:cNvSpPr txBox="1"/>
          <p:nvPr/>
        </p:nvSpPr>
        <p:spPr>
          <a:xfrm>
            <a:off x="5090160" y="4473341"/>
            <a:ext cx="146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7E1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77E12"/>
                </a:solidFill>
                <a:latin typeface="Calibri"/>
                <a:ea typeface="Calibri"/>
                <a:cs typeface="Calibri"/>
                <a:sym typeface="Calibri"/>
              </a:rPr>
              <a:t>текущий вес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2" name="Google Shape;442;p12"/>
          <p:cNvCxnSpPr/>
          <p:nvPr/>
        </p:nvCxnSpPr>
        <p:spPr>
          <a:xfrm>
            <a:off x="4032504" y="4016141"/>
            <a:ext cx="1606200" cy="0"/>
          </a:xfrm>
          <a:prstGeom prst="straightConnector1">
            <a:avLst/>
          </a:prstGeom>
          <a:noFill/>
          <a:ln cap="flat" cmpd="sng" w="25400">
            <a:solidFill>
              <a:srgbClr val="C77E12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43" name="Google Shape;443;p12"/>
          <p:cNvSpPr txBox="1"/>
          <p:nvPr/>
        </p:nvSpPr>
        <p:spPr>
          <a:xfrm>
            <a:off x="3646932" y="3714389"/>
            <a:ext cx="2377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7E12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C77E12"/>
                </a:solidFill>
                <a:latin typeface="Calibri"/>
                <a:ea typeface="Calibri"/>
                <a:cs typeface="Calibri"/>
                <a:sym typeface="Calibri"/>
              </a:rPr>
              <a:t>шаги градиентного спуска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3685032" y="5619710"/>
            <a:ext cx="128100" cy="128100"/>
          </a:xfrm>
          <a:prstGeom prst="ellipse">
            <a:avLst/>
          </a:prstGeom>
          <a:solidFill>
            <a:srgbClr val="1E2761"/>
          </a:solidFill>
          <a:ln cap="flat" cmpd="sng" w="1905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 txBox="1"/>
          <p:nvPr/>
        </p:nvSpPr>
        <p:spPr>
          <a:xfrm>
            <a:off x="3200400" y="5793446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минимум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 txBox="1"/>
          <p:nvPr/>
        </p:nvSpPr>
        <p:spPr>
          <a:xfrm>
            <a:off x="914400" y="6172200"/>
            <a:ext cx="5669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касательная = производная в точке (наклон)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7040880" y="1870285"/>
            <a:ext cx="4755000" cy="1417200"/>
          </a:xfrm>
          <a:prstGeom prst="roundRect">
            <a:avLst>
              <a:gd fmla="val 6452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"/>
          <p:cNvSpPr txBox="1"/>
          <p:nvPr/>
        </p:nvSpPr>
        <p:spPr>
          <a:xfrm>
            <a:off x="7333488" y="2016589"/>
            <a:ext cx="4169700" cy="11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Градиент ∂L/∂w — направление наискорейшего РОСТА функции. Мы хотим loss уменьшить — значит, идём в обратную сторону: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 txBox="1"/>
          <p:nvPr/>
        </p:nvSpPr>
        <p:spPr>
          <a:xfrm>
            <a:off x="7040943" y="3392910"/>
            <a:ext cx="4755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 ← w − η · ∂L/∂w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 txBox="1"/>
          <p:nvPr/>
        </p:nvSpPr>
        <p:spPr>
          <a:xfrm>
            <a:off x="7040880" y="4937760"/>
            <a:ext cx="4755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Наклон положительный (как здесь) → двигаем w влево, к минимуму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1F2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Чем ближе к минимуму, тем меньше наклон — шаги естественно замедляются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B1F2A"/>
              </a:buClr>
              <a:buSzPts val="1150"/>
              <a:buFont typeface="Calibri"/>
              <a:buChar char="•"/>
            </a:pPr>
            <a:r>
              <a:rPr b="0" i="0" lang="en-US" sz="1150" u="none" cap="none" strike="noStrike">
                <a:solidFill>
                  <a:srgbClr val="1B1F2A"/>
                </a:solidFill>
                <a:latin typeface="Calibri"/>
                <a:ea typeface="Calibri"/>
                <a:cs typeface="Calibri"/>
                <a:sym typeface="Calibri"/>
              </a:rPr>
              <a:t>Это и есть градиентный спуск — метод, которым в теме 2 будут обучаться уже настоящие многослойные сети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 txBox="1"/>
          <p:nvPr/>
        </p:nvSpPr>
        <p:spPr>
          <a:xfrm>
            <a:off x="7640240" y="4071795"/>
            <a:ext cx="11094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∇L = ( ∂L/∂w</a:t>
            </a:r>
            <a:r>
              <a:rPr b="1" baseline="-25000" i="0" lang="en-US" sz="1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, ∂L/∂w</a:t>
            </a:r>
            <a:r>
              <a:rPr b="1" baseline="-25000" i="0" lang="en-US" sz="1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, ..., ∂L/∂w</a:t>
            </a:r>
            <a:r>
              <a:rPr b="1" baseline="-25000" i="0" lang="en-US" sz="11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b="1" i="0" lang="en-US" sz="1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)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3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3"/>
          <p:cNvSpPr txBox="1"/>
          <p:nvPr/>
        </p:nvSpPr>
        <p:spPr>
          <a:xfrm>
            <a:off x="548645" y="621800"/>
            <a:ext cx="4986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Сеть — это не один нейрон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" name="Google Shape;461;p13"/>
          <p:cNvCxnSpPr>
            <a:stCxn id="462" idx="6"/>
            <a:endCxn id="463" idx="2"/>
          </p:cNvCxnSpPr>
          <p:nvPr/>
        </p:nvCxnSpPr>
        <p:spPr>
          <a:xfrm>
            <a:off x="2267576" y="1906399"/>
            <a:ext cx="2254800" cy="2408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4" name="Google Shape;464;p13"/>
          <p:cNvCxnSpPr>
            <a:stCxn id="465" idx="6"/>
            <a:endCxn id="463" idx="2"/>
          </p:cNvCxnSpPr>
          <p:nvPr/>
        </p:nvCxnSpPr>
        <p:spPr>
          <a:xfrm>
            <a:off x="2267650" y="3019725"/>
            <a:ext cx="2254500" cy="1295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13"/>
          <p:cNvCxnSpPr>
            <a:stCxn id="462" idx="6"/>
            <a:endCxn id="467" idx="2"/>
          </p:cNvCxnSpPr>
          <p:nvPr/>
        </p:nvCxnSpPr>
        <p:spPr>
          <a:xfrm flipH="1" rot="10800000">
            <a:off x="2267576" y="1804999"/>
            <a:ext cx="2254800" cy="101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13"/>
          <p:cNvCxnSpPr>
            <a:stCxn id="469" idx="6"/>
            <a:endCxn id="467" idx="2"/>
          </p:cNvCxnSpPr>
          <p:nvPr/>
        </p:nvCxnSpPr>
        <p:spPr>
          <a:xfrm flipH="1" rot="10800000">
            <a:off x="2192276" y="1805026"/>
            <a:ext cx="2330100" cy="2213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13"/>
          <p:cNvSpPr/>
          <p:nvPr/>
        </p:nvSpPr>
        <p:spPr>
          <a:xfrm>
            <a:off x="1721876" y="1638949"/>
            <a:ext cx="5457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1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465" name="Google Shape;465;p13"/>
          <p:cNvSpPr/>
          <p:nvPr/>
        </p:nvSpPr>
        <p:spPr>
          <a:xfrm>
            <a:off x="1682650" y="2752275"/>
            <a:ext cx="5850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300">
                <a:solidFill>
                  <a:schemeClr val="dk1"/>
                </a:solidFill>
                <a:highlight>
                  <a:srgbClr val="F2F5FA"/>
                </a:highlight>
              </a:rPr>
              <a:t>2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69" name="Google Shape;469;p13"/>
          <p:cNvSpPr/>
          <p:nvPr/>
        </p:nvSpPr>
        <p:spPr>
          <a:xfrm>
            <a:off x="1653476" y="3767326"/>
            <a:ext cx="538800" cy="5028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3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67" name="Google Shape;467;p13"/>
          <p:cNvSpPr/>
          <p:nvPr/>
        </p:nvSpPr>
        <p:spPr>
          <a:xfrm>
            <a:off x="4522275" y="14232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4522275" y="3932925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 </a:t>
            </a:r>
            <a:endParaRPr sz="2900"/>
          </a:p>
        </p:txBody>
      </p:sp>
      <p:cxnSp>
        <p:nvCxnSpPr>
          <p:cNvPr id="470" name="Google Shape;470;p13"/>
          <p:cNvCxnSpPr>
            <a:stCxn id="469" idx="6"/>
            <a:endCxn id="463" idx="2"/>
          </p:cNvCxnSpPr>
          <p:nvPr/>
        </p:nvCxnSpPr>
        <p:spPr>
          <a:xfrm>
            <a:off x="2192276" y="4018726"/>
            <a:ext cx="2330100" cy="295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p13"/>
          <p:cNvCxnSpPr>
            <a:stCxn id="465" idx="6"/>
            <a:endCxn id="467" idx="2"/>
          </p:cNvCxnSpPr>
          <p:nvPr/>
        </p:nvCxnSpPr>
        <p:spPr>
          <a:xfrm flipH="1" rot="10800000">
            <a:off x="2267650" y="1805025"/>
            <a:ext cx="2254500" cy="1214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13"/>
          <p:cNvCxnSpPr>
            <a:stCxn id="467" idx="6"/>
            <a:endCxn id="473" idx="2"/>
          </p:cNvCxnSpPr>
          <p:nvPr/>
        </p:nvCxnSpPr>
        <p:spPr>
          <a:xfrm>
            <a:off x="5295975" y="1805013"/>
            <a:ext cx="1050000" cy="48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4" name="Google Shape;474;p13"/>
          <p:cNvCxnSpPr>
            <a:stCxn id="463" idx="6"/>
            <a:endCxn id="475" idx="2"/>
          </p:cNvCxnSpPr>
          <p:nvPr/>
        </p:nvCxnSpPr>
        <p:spPr>
          <a:xfrm flipH="1" rot="10800000">
            <a:off x="5295975" y="3667275"/>
            <a:ext cx="1050000" cy="647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13"/>
          <p:cNvSpPr/>
          <p:nvPr/>
        </p:nvSpPr>
        <p:spPr>
          <a:xfrm>
            <a:off x="4522275" y="26379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</p:txBody>
      </p:sp>
      <p:cxnSp>
        <p:nvCxnSpPr>
          <p:cNvPr id="477" name="Google Shape;477;p13"/>
          <p:cNvCxnSpPr>
            <a:stCxn id="462" idx="6"/>
          </p:cNvCxnSpPr>
          <p:nvPr/>
        </p:nvCxnSpPr>
        <p:spPr>
          <a:xfrm>
            <a:off x="2267576" y="1906399"/>
            <a:ext cx="2254800" cy="11406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8" name="Google Shape;478;p13"/>
          <p:cNvCxnSpPr>
            <a:stCxn id="469" idx="6"/>
            <a:endCxn id="476" idx="2"/>
          </p:cNvCxnSpPr>
          <p:nvPr/>
        </p:nvCxnSpPr>
        <p:spPr>
          <a:xfrm flipH="1" rot="10800000">
            <a:off x="2192276" y="3019726"/>
            <a:ext cx="2330100" cy="999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9" name="Google Shape;479;p13"/>
          <p:cNvCxnSpPr>
            <a:stCxn id="473" idx="6"/>
          </p:cNvCxnSpPr>
          <p:nvPr/>
        </p:nvCxnSpPr>
        <p:spPr>
          <a:xfrm>
            <a:off x="7119625" y="2288138"/>
            <a:ext cx="1308300" cy="12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80" name="Google Shape;480;p13"/>
          <p:cNvSpPr txBox="1"/>
          <p:nvPr/>
        </p:nvSpPr>
        <p:spPr>
          <a:xfrm>
            <a:off x="7625375" y="19299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481" name="Google Shape;481;p13"/>
          <p:cNvCxnSpPr>
            <a:stCxn id="465" idx="6"/>
            <a:endCxn id="476" idx="2"/>
          </p:cNvCxnSpPr>
          <p:nvPr/>
        </p:nvCxnSpPr>
        <p:spPr>
          <a:xfrm>
            <a:off x="2267650" y="3019725"/>
            <a:ext cx="22545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13"/>
          <p:cNvSpPr/>
          <p:nvPr/>
        </p:nvSpPr>
        <p:spPr>
          <a:xfrm>
            <a:off x="6345925" y="1906388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6345925" y="328551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cxnSp>
        <p:nvCxnSpPr>
          <p:cNvPr id="482" name="Google Shape;482;p13"/>
          <p:cNvCxnSpPr>
            <a:stCxn id="467" idx="6"/>
            <a:endCxn id="475" idx="2"/>
          </p:cNvCxnSpPr>
          <p:nvPr/>
        </p:nvCxnSpPr>
        <p:spPr>
          <a:xfrm>
            <a:off x="5295975" y="1805013"/>
            <a:ext cx="1050000" cy="1862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p13"/>
          <p:cNvCxnSpPr>
            <a:stCxn id="476" idx="6"/>
            <a:endCxn id="473" idx="2"/>
          </p:cNvCxnSpPr>
          <p:nvPr/>
        </p:nvCxnSpPr>
        <p:spPr>
          <a:xfrm flipH="1" rot="10800000">
            <a:off x="5295975" y="2288013"/>
            <a:ext cx="1050000" cy="731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4" name="Google Shape;484;p13"/>
          <p:cNvCxnSpPr>
            <a:endCxn id="475" idx="2"/>
          </p:cNvCxnSpPr>
          <p:nvPr/>
        </p:nvCxnSpPr>
        <p:spPr>
          <a:xfrm>
            <a:off x="5295925" y="3053763"/>
            <a:ext cx="1050000" cy="613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13"/>
          <p:cNvCxnSpPr/>
          <p:nvPr/>
        </p:nvCxnSpPr>
        <p:spPr>
          <a:xfrm>
            <a:off x="7119575" y="3663238"/>
            <a:ext cx="1206300" cy="11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86" name="Google Shape;486;p13"/>
          <p:cNvSpPr txBox="1"/>
          <p:nvPr/>
        </p:nvSpPr>
        <p:spPr>
          <a:xfrm>
            <a:off x="7579975" y="32443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487" name="Google Shape;487;p13"/>
          <p:cNvCxnSpPr>
            <a:stCxn id="463" idx="6"/>
            <a:endCxn id="473" idx="2"/>
          </p:cNvCxnSpPr>
          <p:nvPr/>
        </p:nvCxnSpPr>
        <p:spPr>
          <a:xfrm flipH="1" rot="10800000">
            <a:off x="5295975" y="2288175"/>
            <a:ext cx="1050000" cy="2026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8" name="Google Shape;488;p13"/>
          <p:cNvSpPr txBox="1"/>
          <p:nvPr/>
        </p:nvSpPr>
        <p:spPr>
          <a:xfrm>
            <a:off x="6345975" y="4203813"/>
            <a:ext cx="105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2</a:t>
            </a:r>
            <a:r>
              <a:rPr lang="en-US" sz="1900">
                <a:solidFill>
                  <a:schemeClr val="dk1"/>
                </a:solidFill>
              </a:rPr>
              <a:t>(z)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489" name="Google Shape;489;p13"/>
          <p:cNvSpPr txBox="1"/>
          <p:nvPr/>
        </p:nvSpPr>
        <p:spPr>
          <a:xfrm>
            <a:off x="8325875" y="863750"/>
            <a:ext cx="1839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 [x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… 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13"/>
          <p:cNvSpPr txBox="1"/>
          <p:nvPr/>
        </p:nvSpPr>
        <p:spPr>
          <a:xfrm>
            <a:off x="8518725" y="1423275"/>
            <a:ext cx="195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 [y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… 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1" name="Google Shape;491;p13"/>
          <p:cNvSpPr txBox="1"/>
          <p:nvPr/>
        </p:nvSpPr>
        <p:spPr>
          <a:xfrm>
            <a:off x="8427925" y="2603750"/>
            <a:ext cx="130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 f(x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ω)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2" name="Google Shape;492;p13"/>
          <p:cNvSpPr txBox="1"/>
          <p:nvPr/>
        </p:nvSpPr>
        <p:spPr>
          <a:xfrm>
            <a:off x="8529200" y="3221250"/>
            <a:ext cx="268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(t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1" lang="en-US" sz="1700">
                <a:solidFill>
                  <a:srgbClr val="333333"/>
                </a:solidFill>
                <a:highlight>
                  <a:schemeClr val="lt1"/>
                </a:highlight>
              </a:rPr>
              <a:t> - </a:t>
            </a:r>
            <a:r>
              <a:rPr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функция потерь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3" name="Google Shape;493;p13"/>
          <p:cNvSpPr txBox="1"/>
          <p:nvPr/>
        </p:nvSpPr>
        <p:spPr>
          <a:xfrm>
            <a:off x="9374375" y="1912725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333333"/>
              </a:buClr>
              <a:buSzPts val="1100"/>
              <a:buNone/>
            </a:pPr>
            <a:r>
              <a:t/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13"/>
          <p:cNvSpPr txBox="1"/>
          <p:nvPr/>
        </p:nvSpPr>
        <p:spPr>
          <a:xfrm>
            <a:off x="7395975" y="4343750"/>
            <a:ext cx="475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Q(X</a:t>
            </a:r>
            <a:r>
              <a:rPr baseline="30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1/l ∑L</a:t>
            </a:r>
            <a:r>
              <a:rPr baseline="-25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(t</a:t>
            </a:r>
            <a:r>
              <a:rPr baseline="-25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baseline="-25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 - 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показатель качества</a:t>
            </a:r>
            <a:endParaRPr sz="1200"/>
          </a:p>
        </p:txBody>
      </p:sp>
      <p:pic>
        <p:nvPicPr>
          <p:cNvPr id="495" name="Google Shape;4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713" y="5130476"/>
            <a:ext cx="4794019" cy="11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3"/>
          <p:cNvSpPr txBox="1"/>
          <p:nvPr/>
        </p:nvSpPr>
        <p:spPr>
          <a:xfrm>
            <a:off x="1651800" y="5401525"/>
            <a:ext cx="94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σ(z) =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2572125" y="5108275"/>
            <a:ext cx="285300" cy="1140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3"/>
          <p:cNvSpPr txBox="1"/>
          <p:nvPr/>
        </p:nvSpPr>
        <p:spPr>
          <a:xfrm>
            <a:off x="2857425" y="5087025"/>
            <a:ext cx="3449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      z &gt;= λ </a:t>
            </a:r>
            <a:r>
              <a:rPr lang="en-US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(например λ = 0)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     z &lt; λ 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4950" y="1589425"/>
            <a:ext cx="6925898" cy="40173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14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Функции активации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6" name="Google Shape;5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650" y="3674001"/>
            <a:ext cx="3261875" cy="1059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14"/>
          <p:cNvSpPr txBox="1"/>
          <p:nvPr/>
        </p:nvSpPr>
        <p:spPr>
          <a:xfrm>
            <a:off x="548650" y="1589425"/>
            <a:ext cx="32091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import torch.nn.functional as F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F.sigmoid(x)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5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Функции активации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5"/>
          <p:cNvSpPr txBox="1"/>
          <p:nvPr/>
        </p:nvSpPr>
        <p:spPr>
          <a:xfrm>
            <a:off x="548650" y="1589425"/>
            <a:ext cx="32091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import torch.nn.functional as F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F.tanh(x)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515" name="Google Shape;51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3756825"/>
            <a:ext cx="2619375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8425" y="1399421"/>
            <a:ext cx="5743575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751" y="658300"/>
            <a:ext cx="7967652" cy="27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16"/>
          <p:cNvPicPr preferRelativeResize="0"/>
          <p:nvPr/>
        </p:nvPicPr>
        <p:blipFill rotWithShape="1">
          <a:blip r:embed="rId4">
            <a:alphaModFix/>
          </a:blip>
          <a:srcRect b="0" l="5890" r="-5890" t="0"/>
          <a:stretch/>
        </p:blipFill>
        <p:spPr>
          <a:xfrm>
            <a:off x="5533510" y="3575150"/>
            <a:ext cx="4995426" cy="2472725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16"/>
          <p:cNvSpPr txBox="1"/>
          <p:nvPr/>
        </p:nvSpPr>
        <p:spPr>
          <a:xfrm>
            <a:off x="8270800" y="3290725"/>
            <a:ext cx="1118400" cy="4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leaky ReLu</a:t>
            </a:r>
            <a:endParaRPr/>
          </a:p>
        </p:txBody>
      </p:sp>
      <p:sp>
        <p:nvSpPr>
          <p:cNvPr id="525" name="Google Shape;525;p16"/>
          <p:cNvSpPr txBox="1"/>
          <p:nvPr/>
        </p:nvSpPr>
        <p:spPr>
          <a:xfrm>
            <a:off x="548650" y="1618875"/>
            <a:ext cx="32091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import torch.nn.functional as F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26" name="Google Shape;526;p16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Функции активации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6"/>
          <p:cNvSpPr txBox="1"/>
          <p:nvPr/>
        </p:nvSpPr>
        <p:spPr>
          <a:xfrm>
            <a:off x="548650" y="28596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F.relu(x)</a:t>
            </a:r>
            <a:endParaRPr/>
          </a:p>
        </p:txBody>
      </p:sp>
      <p:sp>
        <p:nvSpPr>
          <p:cNvPr id="528" name="Google Shape;528;p16"/>
          <p:cNvSpPr txBox="1"/>
          <p:nvPr/>
        </p:nvSpPr>
        <p:spPr>
          <a:xfrm>
            <a:off x="548650" y="51561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F.leaky_relu(x)</a:t>
            </a:r>
            <a:endParaRPr/>
          </a:p>
        </p:txBody>
      </p:sp>
      <p:sp>
        <p:nvSpPr>
          <p:cNvPr id="529" name="Google Shape;529;p16"/>
          <p:cNvSpPr txBox="1"/>
          <p:nvPr/>
        </p:nvSpPr>
        <p:spPr>
          <a:xfrm>
            <a:off x="2181725" y="27981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σ(z) = max(0, x)</a:t>
            </a:r>
            <a:endParaRPr/>
          </a:p>
        </p:txBody>
      </p:sp>
      <p:pic>
        <p:nvPicPr>
          <p:cNvPr id="530" name="Google Shape;53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1725" y="4692812"/>
            <a:ext cx="3351774" cy="13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7"/>
          <p:cNvSpPr txBox="1"/>
          <p:nvPr/>
        </p:nvSpPr>
        <p:spPr>
          <a:xfrm>
            <a:off x="548650" y="1618875"/>
            <a:ext cx="32091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Trebuchet MS"/>
                <a:ea typeface="Trebuchet MS"/>
                <a:cs typeface="Trebuchet MS"/>
                <a:sym typeface="Trebuchet MS"/>
              </a:rPr>
              <a:t>import torch.nn.functional as F</a:t>
            </a:r>
            <a:endParaRPr sz="16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7" name="Google Shape;537;p17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Функции активации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 txBox="1"/>
          <p:nvPr/>
        </p:nvSpPr>
        <p:spPr>
          <a:xfrm>
            <a:off x="548650" y="285962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F.linear(x)</a:t>
            </a:r>
            <a:endParaRPr/>
          </a:p>
        </p:txBody>
      </p:sp>
      <p:sp>
        <p:nvSpPr>
          <p:cNvPr id="539" name="Google Shape;539;p17"/>
          <p:cNvSpPr txBox="1"/>
          <p:nvPr/>
        </p:nvSpPr>
        <p:spPr>
          <a:xfrm>
            <a:off x="548650" y="51561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F.softmax(x)</a:t>
            </a:r>
            <a:endParaRPr/>
          </a:p>
        </p:txBody>
      </p:sp>
      <p:pic>
        <p:nvPicPr>
          <p:cNvPr id="540" name="Google Shape;5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7800" y="658300"/>
            <a:ext cx="4861593" cy="2632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8800" y="3571924"/>
            <a:ext cx="4319589" cy="3006126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17"/>
          <p:cNvSpPr txBox="1"/>
          <p:nvPr/>
        </p:nvSpPr>
        <p:spPr>
          <a:xfrm>
            <a:off x="2181725" y="27981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σ(x) = x</a:t>
            </a:r>
            <a:endParaRPr/>
          </a:p>
        </p:txBody>
      </p:sp>
      <p:pic>
        <p:nvPicPr>
          <p:cNvPr id="543" name="Google Shape;54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1725" y="3962367"/>
            <a:ext cx="3282925" cy="1788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8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Функции потерь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0" name="Google Shape;55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725" y="751833"/>
            <a:ext cx="8528928" cy="58948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9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9"/>
          <p:cNvSpPr txBox="1"/>
          <p:nvPr/>
        </p:nvSpPr>
        <p:spPr>
          <a:xfrm>
            <a:off x="548645" y="621800"/>
            <a:ext cx="4986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Сеть — это не один нейрон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9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9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0" name="Google Shape;560;p19"/>
          <p:cNvCxnSpPr>
            <a:stCxn id="561" idx="6"/>
            <a:endCxn id="562" idx="2"/>
          </p:cNvCxnSpPr>
          <p:nvPr/>
        </p:nvCxnSpPr>
        <p:spPr>
          <a:xfrm>
            <a:off x="2267576" y="1906399"/>
            <a:ext cx="2254800" cy="2408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3" name="Google Shape;563;p19"/>
          <p:cNvCxnSpPr>
            <a:stCxn id="564" idx="6"/>
            <a:endCxn id="562" idx="2"/>
          </p:cNvCxnSpPr>
          <p:nvPr/>
        </p:nvCxnSpPr>
        <p:spPr>
          <a:xfrm>
            <a:off x="2267650" y="3019725"/>
            <a:ext cx="2254500" cy="1295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p19"/>
          <p:cNvCxnSpPr>
            <a:stCxn id="561" idx="6"/>
            <a:endCxn id="566" idx="2"/>
          </p:cNvCxnSpPr>
          <p:nvPr/>
        </p:nvCxnSpPr>
        <p:spPr>
          <a:xfrm flipH="1" rot="10800000">
            <a:off x="2267576" y="1804999"/>
            <a:ext cx="2254800" cy="101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19"/>
          <p:cNvCxnSpPr>
            <a:stCxn id="568" idx="6"/>
            <a:endCxn id="566" idx="2"/>
          </p:cNvCxnSpPr>
          <p:nvPr/>
        </p:nvCxnSpPr>
        <p:spPr>
          <a:xfrm flipH="1" rot="10800000">
            <a:off x="2192276" y="1805026"/>
            <a:ext cx="2330100" cy="2213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1" name="Google Shape;561;p19"/>
          <p:cNvSpPr/>
          <p:nvPr/>
        </p:nvSpPr>
        <p:spPr>
          <a:xfrm>
            <a:off x="1721876" y="1638949"/>
            <a:ext cx="5457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1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564" name="Google Shape;564;p19"/>
          <p:cNvSpPr/>
          <p:nvPr/>
        </p:nvSpPr>
        <p:spPr>
          <a:xfrm>
            <a:off x="1682650" y="2752275"/>
            <a:ext cx="5850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300">
                <a:solidFill>
                  <a:schemeClr val="dk1"/>
                </a:solidFill>
                <a:highlight>
                  <a:srgbClr val="F2F5FA"/>
                </a:highlight>
              </a:rPr>
              <a:t>2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68" name="Google Shape;568;p19"/>
          <p:cNvSpPr/>
          <p:nvPr/>
        </p:nvSpPr>
        <p:spPr>
          <a:xfrm>
            <a:off x="1653476" y="3767326"/>
            <a:ext cx="538800" cy="5028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3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566" name="Google Shape;566;p19"/>
          <p:cNvSpPr/>
          <p:nvPr/>
        </p:nvSpPr>
        <p:spPr>
          <a:xfrm>
            <a:off x="4522275" y="14232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562" name="Google Shape;562;p19"/>
          <p:cNvSpPr/>
          <p:nvPr/>
        </p:nvSpPr>
        <p:spPr>
          <a:xfrm>
            <a:off x="4522275" y="3932925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 </a:t>
            </a:r>
            <a:endParaRPr sz="2900"/>
          </a:p>
        </p:txBody>
      </p:sp>
      <p:cxnSp>
        <p:nvCxnSpPr>
          <p:cNvPr id="569" name="Google Shape;569;p19"/>
          <p:cNvCxnSpPr>
            <a:stCxn id="568" idx="6"/>
            <a:endCxn id="562" idx="2"/>
          </p:cNvCxnSpPr>
          <p:nvPr/>
        </p:nvCxnSpPr>
        <p:spPr>
          <a:xfrm>
            <a:off x="2192276" y="4018726"/>
            <a:ext cx="2330100" cy="295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0" name="Google Shape;570;p19"/>
          <p:cNvCxnSpPr>
            <a:stCxn id="564" idx="6"/>
            <a:endCxn id="566" idx="2"/>
          </p:cNvCxnSpPr>
          <p:nvPr/>
        </p:nvCxnSpPr>
        <p:spPr>
          <a:xfrm flipH="1" rot="10800000">
            <a:off x="2267650" y="1805025"/>
            <a:ext cx="2254500" cy="1214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p19"/>
          <p:cNvCxnSpPr>
            <a:stCxn id="566" idx="6"/>
            <a:endCxn id="572" idx="2"/>
          </p:cNvCxnSpPr>
          <p:nvPr/>
        </p:nvCxnSpPr>
        <p:spPr>
          <a:xfrm>
            <a:off x="5295975" y="1805013"/>
            <a:ext cx="1050000" cy="48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3" name="Google Shape;573;p19"/>
          <p:cNvCxnSpPr>
            <a:stCxn id="562" idx="6"/>
            <a:endCxn id="574" idx="2"/>
          </p:cNvCxnSpPr>
          <p:nvPr/>
        </p:nvCxnSpPr>
        <p:spPr>
          <a:xfrm flipH="1" rot="10800000">
            <a:off x="5295975" y="3667275"/>
            <a:ext cx="1050000" cy="647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p19"/>
          <p:cNvSpPr/>
          <p:nvPr/>
        </p:nvSpPr>
        <p:spPr>
          <a:xfrm>
            <a:off x="4522275" y="26379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</p:txBody>
      </p:sp>
      <p:cxnSp>
        <p:nvCxnSpPr>
          <p:cNvPr id="576" name="Google Shape;576;p19"/>
          <p:cNvCxnSpPr>
            <a:stCxn id="561" idx="6"/>
          </p:cNvCxnSpPr>
          <p:nvPr/>
        </p:nvCxnSpPr>
        <p:spPr>
          <a:xfrm>
            <a:off x="2267576" y="1906399"/>
            <a:ext cx="2254800" cy="11406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19"/>
          <p:cNvCxnSpPr>
            <a:stCxn id="568" idx="6"/>
            <a:endCxn id="575" idx="2"/>
          </p:cNvCxnSpPr>
          <p:nvPr/>
        </p:nvCxnSpPr>
        <p:spPr>
          <a:xfrm flipH="1" rot="10800000">
            <a:off x="2192276" y="3019726"/>
            <a:ext cx="2330100" cy="999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19"/>
          <p:cNvCxnSpPr>
            <a:stCxn id="572" idx="6"/>
          </p:cNvCxnSpPr>
          <p:nvPr/>
        </p:nvCxnSpPr>
        <p:spPr>
          <a:xfrm>
            <a:off x="7119625" y="2288138"/>
            <a:ext cx="1308300" cy="12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579" name="Google Shape;579;p19"/>
          <p:cNvSpPr txBox="1"/>
          <p:nvPr/>
        </p:nvSpPr>
        <p:spPr>
          <a:xfrm>
            <a:off x="7625375" y="19299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580" name="Google Shape;580;p19"/>
          <p:cNvCxnSpPr>
            <a:stCxn id="564" idx="6"/>
            <a:endCxn id="575" idx="2"/>
          </p:cNvCxnSpPr>
          <p:nvPr/>
        </p:nvCxnSpPr>
        <p:spPr>
          <a:xfrm>
            <a:off x="2267650" y="3019725"/>
            <a:ext cx="22545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2" name="Google Shape;572;p19"/>
          <p:cNvSpPr/>
          <p:nvPr/>
        </p:nvSpPr>
        <p:spPr>
          <a:xfrm>
            <a:off x="6345925" y="1906388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574" name="Google Shape;574;p19"/>
          <p:cNvSpPr/>
          <p:nvPr/>
        </p:nvSpPr>
        <p:spPr>
          <a:xfrm>
            <a:off x="6345925" y="328551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cxnSp>
        <p:nvCxnSpPr>
          <p:cNvPr id="581" name="Google Shape;581;p19"/>
          <p:cNvCxnSpPr>
            <a:stCxn id="566" idx="6"/>
            <a:endCxn id="574" idx="2"/>
          </p:cNvCxnSpPr>
          <p:nvPr/>
        </p:nvCxnSpPr>
        <p:spPr>
          <a:xfrm>
            <a:off x="5295975" y="1805013"/>
            <a:ext cx="1050000" cy="1862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19"/>
          <p:cNvCxnSpPr>
            <a:stCxn id="575" idx="6"/>
            <a:endCxn id="572" idx="2"/>
          </p:cNvCxnSpPr>
          <p:nvPr/>
        </p:nvCxnSpPr>
        <p:spPr>
          <a:xfrm flipH="1" rot="10800000">
            <a:off x="5295975" y="2288013"/>
            <a:ext cx="1050000" cy="731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19"/>
          <p:cNvCxnSpPr>
            <a:endCxn id="574" idx="2"/>
          </p:cNvCxnSpPr>
          <p:nvPr/>
        </p:nvCxnSpPr>
        <p:spPr>
          <a:xfrm>
            <a:off x="5295925" y="3053763"/>
            <a:ext cx="1050000" cy="613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19"/>
          <p:cNvCxnSpPr/>
          <p:nvPr/>
        </p:nvCxnSpPr>
        <p:spPr>
          <a:xfrm>
            <a:off x="7119575" y="3663238"/>
            <a:ext cx="1206300" cy="11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585" name="Google Shape;585;p19"/>
          <p:cNvSpPr txBox="1"/>
          <p:nvPr/>
        </p:nvSpPr>
        <p:spPr>
          <a:xfrm>
            <a:off x="7579975" y="32443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586" name="Google Shape;586;p19"/>
          <p:cNvCxnSpPr>
            <a:stCxn id="562" idx="6"/>
            <a:endCxn id="572" idx="2"/>
          </p:cNvCxnSpPr>
          <p:nvPr/>
        </p:nvCxnSpPr>
        <p:spPr>
          <a:xfrm flipH="1" rot="10800000">
            <a:off x="5295975" y="2288175"/>
            <a:ext cx="1050000" cy="2026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7" name="Google Shape;587;p19"/>
          <p:cNvSpPr txBox="1"/>
          <p:nvPr/>
        </p:nvSpPr>
        <p:spPr>
          <a:xfrm>
            <a:off x="6345975" y="4203813"/>
            <a:ext cx="105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2</a:t>
            </a:r>
            <a:r>
              <a:rPr lang="en-US" sz="1900">
                <a:solidFill>
                  <a:schemeClr val="dk1"/>
                </a:solidFill>
              </a:rPr>
              <a:t>(z)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588" name="Google Shape;588;p19"/>
          <p:cNvSpPr txBox="1"/>
          <p:nvPr/>
        </p:nvSpPr>
        <p:spPr>
          <a:xfrm>
            <a:off x="8325875" y="863750"/>
            <a:ext cx="1839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 [x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… 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" name="Google Shape;589;p19"/>
          <p:cNvSpPr txBox="1"/>
          <p:nvPr/>
        </p:nvSpPr>
        <p:spPr>
          <a:xfrm>
            <a:off x="8518725" y="1423275"/>
            <a:ext cx="195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 [y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… 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0" name="Google Shape;590;p19"/>
          <p:cNvSpPr txBox="1"/>
          <p:nvPr/>
        </p:nvSpPr>
        <p:spPr>
          <a:xfrm>
            <a:off x="8427925" y="2603750"/>
            <a:ext cx="130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 f(x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ω)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1" name="Google Shape;591;p19"/>
          <p:cNvSpPr txBox="1"/>
          <p:nvPr/>
        </p:nvSpPr>
        <p:spPr>
          <a:xfrm>
            <a:off x="8529200" y="3221250"/>
            <a:ext cx="268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(t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1" lang="en-US" sz="1700">
                <a:solidFill>
                  <a:srgbClr val="333333"/>
                </a:solidFill>
                <a:highlight>
                  <a:schemeClr val="lt1"/>
                </a:highlight>
              </a:rPr>
              <a:t> - </a:t>
            </a:r>
            <a:r>
              <a:rPr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функция потерь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2" name="Google Shape;592;p19"/>
          <p:cNvSpPr txBox="1"/>
          <p:nvPr/>
        </p:nvSpPr>
        <p:spPr>
          <a:xfrm>
            <a:off x="9374375" y="1912725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333333"/>
              </a:buClr>
              <a:buSzPts val="1100"/>
              <a:buNone/>
            </a:pPr>
            <a:r>
              <a:t/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3" name="Google Shape;593;p19"/>
          <p:cNvSpPr txBox="1"/>
          <p:nvPr/>
        </p:nvSpPr>
        <p:spPr>
          <a:xfrm>
            <a:off x="7017400" y="4898375"/>
            <a:ext cx="475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Q(X</a:t>
            </a:r>
            <a:r>
              <a:rPr baseline="30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1/l ∑L</a:t>
            </a:r>
            <a:r>
              <a:rPr baseline="-25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(t</a:t>
            </a:r>
            <a:r>
              <a:rPr baseline="-25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baseline="-25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 - </a:t>
            </a:r>
            <a:r>
              <a:rPr lang="en-US" sz="16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показатель качества</a:t>
            </a:r>
            <a:endParaRPr sz="1200"/>
          </a:p>
        </p:txBody>
      </p:sp>
      <p:pic>
        <p:nvPicPr>
          <p:cNvPr id="594" name="Google Shape;5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675" y="5046076"/>
            <a:ext cx="4794019" cy="114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0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0"/>
          <p:cNvSpPr txBox="1"/>
          <p:nvPr/>
        </p:nvSpPr>
        <p:spPr>
          <a:xfrm>
            <a:off x="548645" y="621800"/>
            <a:ext cx="4986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Сеть — это не один нейрон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0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0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4" name="Google Shape;604;p20"/>
          <p:cNvCxnSpPr>
            <a:stCxn id="605" idx="6"/>
            <a:endCxn id="606" idx="2"/>
          </p:cNvCxnSpPr>
          <p:nvPr/>
        </p:nvCxnSpPr>
        <p:spPr>
          <a:xfrm>
            <a:off x="2267576" y="1906399"/>
            <a:ext cx="2254800" cy="2408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7" name="Google Shape;607;p20"/>
          <p:cNvCxnSpPr>
            <a:stCxn id="608" idx="6"/>
            <a:endCxn id="606" idx="2"/>
          </p:cNvCxnSpPr>
          <p:nvPr/>
        </p:nvCxnSpPr>
        <p:spPr>
          <a:xfrm>
            <a:off x="2267650" y="3019725"/>
            <a:ext cx="2254500" cy="1295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9" name="Google Shape;609;p20"/>
          <p:cNvCxnSpPr>
            <a:stCxn id="605" idx="6"/>
            <a:endCxn id="610" idx="2"/>
          </p:cNvCxnSpPr>
          <p:nvPr/>
        </p:nvCxnSpPr>
        <p:spPr>
          <a:xfrm flipH="1" rot="10800000">
            <a:off x="2267576" y="1804999"/>
            <a:ext cx="2254800" cy="101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20"/>
          <p:cNvCxnSpPr>
            <a:stCxn id="612" idx="6"/>
            <a:endCxn id="610" idx="2"/>
          </p:cNvCxnSpPr>
          <p:nvPr/>
        </p:nvCxnSpPr>
        <p:spPr>
          <a:xfrm flipH="1" rot="10800000">
            <a:off x="2192276" y="1805026"/>
            <a:ext cx="2330100" cy="2213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5" name="Google Shape;605;p20"/>
          <p:cNvSpPr/>
          <p:nvPr/>
        </p:nvSpPr>
        <p:spPr>
          <a:xfrm>
            <a:off x="1721876" y="1638949"/>
            <a:ext cx="5457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1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608" name="Google Shape;608;p20"/>
          <p:cNvSpPr/>
          <p:nvPr/>
        </p:nvSpPr>
        <p:spPr>
          <a:xfrm>
            <a:off x="1682650" y="2752275"/>
            <a:ext cx="5850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300">
                <a:solidFill>
                  <a:schemeClr val="dk1"/>
                </a:solidFill>
                <a:highlight>
                  <a:srgbClr val="F2F5FA"/>
                </a:highlight>
              </a:rPr>
              <a:t>2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12" name="Google Shape;612;p20"/>
          <p:cNvSpPr/>
          <p:nvPr/>
        </p:nvSpPr>
        <p:spPr>
          <a:xfrm>
            <a:off x="1653476" y="3767326"/>
            <a:ext cx="538800" cy="5028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3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10" name="Google Shape;610;p20"/>
          <p:cNvSpPr/>
          <p:nvPr/>
        </p:nvSpPr>
        <p:spPr>
          <a:xfrm>
            <a:off x="4522275" y="14232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4522275" y="3932925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 </a:t>
            </a:r>
            <a:endParaRPr sz="2900"/>
          </a:p>
        </p:txBody>
      </p:sp>
      <p:cxnSp>
        <p:nvCxnSpPr>
          <p:cNvPr id="613" name="Google Shape;613;p20"/>
          <p:cNvCxnSpPr>
            <a:stCxn id="612" idx="6"/>
            <a:endCxn id="606" idx="2"/>
          </p:cNvCxnSpPr>
          <p:nvPr/>
        </p:nvCxnSpPr>
        <p:spPr>
          <a:xfrm>
            <a:off x="2192276" y="4018726"/>
            <a:ext cx="2330100" cy="295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4" name="Google Shape;614;p20"/>
          <p:cNvCxnSpPr>
            <a:stCxn id="608" idx="6"/>
            <a:endCxn id="610" idx="2"/>
          </p:cNvCxnSpPr>
          <p:nvPr/>
        </p:nvCxnSpPr>
        <p:spPr>
          <a:xfrm flipH="1" rot="10800000">
            <a:off x="2267650" y="1805025"/>
            <a:ext cx="2254500" cy="1214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20"/>
          <p:cNvCxnSpPr>
            <a:stCxn id="610" idx="6"/>
            <a:endCxn id="616" idx="2"/>
          </p:cNvCxnSpPr>
          <p:nvPr/>
        </p:nvCxnSpPr>
        <p:spPr>
          <a:xfrm>
            <a:off x="5295975" y="1805013"/>
            <a:ext cx="1050000" cy="48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7" name="Google Shape;617;p20"/>
          <p:cNvCxnSpPr>
            <a:stCxn id="606" idx="6"/>
            <a:endCxn id="618" idx="2"/>
          </p:cNvCxnSpPr>
          <p:nvPr/>
        </p:nvCxnSpPr>
        <p:spPr>
          <a:xfrm flipH="1" rot="10800000">
            <a:off x="5295975" y="3667275"/>
            <a:ext cx="1050000" cy="647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9" name="Google Shape;619;p20"/>
          <p:cNvSpPr/>
          <p:nvPr/>
        </p:nvSpPr>
        <p:spPr>
          <a:xfrm>
            <a:off x="4522275" y="26379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</p:txBody>
      </p:sp>
      <p:cxnSp>
        <p:nvCxnSpPr>
          <p:cNvPr id="620" name="Google Shape;620;p20"/>
          <p:cNvCxnSpPr>
            <a:stCxn id="605" idx="6"/>
          </p:cNvCxnSpPr>
          <p:nvPr/>
        </p:nvCxnSpPr>
        <p:spPr>
          <a:xfrm>
            <a:off x="2267576" y="1906399"/>
            <a:ext cx="2254800" cy="11406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20"/>
          <p:cNvCxnSpPr>
            <a:stCxn id="612" idx="6"/>
            <a:endCxn id="619" idx="2"/>
          </p:cNvCxnSpPr>
          <p:nvPr/>
        </p:nvCxnSpPr>
        <p:spPr>
          <a:xfrm flipH="1" rot="10800000">
            <a:off x="2192276" y="3019726"/>
            <a:ext cx="2330100" cy="999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20"/>
          <p:cNvCxnSpPr>
            <a:stCxn id="616" idx="6"/>
          </p:cNvCxnSpPr>
          <p:nvPr/>
        </p:nvCxnSpPr>
        <p:spPr>
          <a:xfrm>
            <a:off x="7119625" y="2288138"/>
            <a:ext cx="1308300" cy="12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623" name="Google Shape;623;p20"/>
          <p:cNvSpPr txBox="1"/>
          <p:nvPr/>
        </p:nvSpPr>
        <p:spPr>
          <a:xfrm>
            <a:off x="7625375" y="19299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624" name="Google Shape;624;p20"/>
          <p:cNvCxnSpPr>
            <a:stCxn id="608" idx="6"/>
            <a:endCxn id="619" idx="2"/>
          </p:cNvCxnSpPr>
          <p:nvPr/>
        </p:nvCxnSpPr>
        <p:spPr>
          <a:xfrm>
            <a:off x="2267650" y="3019725"/>
            <a:ext cx="22545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p20"/>
          <p:cNvSpPr/>
          <p:nvPr/>
        </p:nvSpPr>
        <p:spPr>
          <a:xfrm>
            <a:off x="6345925" y="1906388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6345925" y="328551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cxnSp>
        <p:nvCxnSpPr>
          <p:cNvPr id="625" name="Google Shape;625;p20"/>
          <p:cNvCxnSpPr>
            <a:stCxn id="610" idx="6"/>
            <a:endCxn id="618" idx="2"/>
          </p:cNvCxnSpPr>
          <p:nvPr/>
        </p:nvCxnSpPr>
        <p:spPr>
          <a:xfrm>
            <a:off x="5295975" y="1805013"/>
            <a:ext cx="1050000" cy="1862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20"/>
          <p:cNvCxnSpPr>
            <a:stCxn id="619" idx="6"/>
            <a:endCxn id="616" idx="2"/>
          </p:cNvCxnSpPr>
          <p:nvPr/>
        </p:nvCxnSpPr>
        <p:spPr>
          <a:xfrm flipH="1" rot="10800000">
            <a:off x="5295975" y="2288013"/>
            <a:ext cx="1050000" cy="731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20"/>
          <p:cNvCxnSpPr>
            <a:endCxn id="618" idx="2"/>
          </p:cNvCxnSpPr>
          <p:nvPr/>
        </p:nvCxnSpPr>
        <p:spPr>
          <a:xfrm>
            <a:off x="5295925" y="3053763"/>
            <a:ext cx="1050000" cy="613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20"/>
          <p:cNvCxnSpPr/>
          <p:nvPr/>
        </p:nvCxnSpPr>
        <p:spPr>
          <a:xfrm>
            <a:off x="7119575" y="3663238"/>
            <a:ext cx="1206300" cy="11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629" name="Google Shape;629;p20"/>
          <p:cNvSpPr txBox="1"/>
          <p:nvPr/>
        </p:nvSpPr>
        <p:spPr>
          <a:xfrm>
            <a:off x="7579975" y="32443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630" name="Google Shape;630;p20"/>
          <p:cNvCxnSpPr>
            <a:stCxn id="606" idx="6"/>
            <a:endCxn id="616" idx="2"/>
          </p:cNvCxnSpPr>
          <p:nvPr/>
        </p:nvCxnSpPr>
        <p:spPr>
          <a:xfrm flipH="1" rot="10800000">
            <a:off x="5295975" y="2288175"/>
            <a:ext cx="1050000" cy="2026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1" name="Google Shape;631;p20"/>
          <p:cNvSpPr txBox="1"/>
          <p:nvPr/>
        </p:nvSpPr>
        <p:spPr>
          <a:xfrm>
            <a:off x="6345975" y="4203813"/>
            <a:ext cx="105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3333"/>
                </a:solidFill>
              </a:rPr>
              <a:t>σ</a:t>
            </a:r>
            <a:r>
              <a:rPr b="1" baseline="-25000" lang="en-US" sz="2000">
                <a:solidFill>
                  <a:srgbClr val="333333"/>
                </a:solidFill>
              </a:rPr>
              <a:t>2</a:t>
            </a:r>
            <a:r>
              <a:rPr lang="en-US" sz="1900">
                <a:solidFill>
                  <a:schemeClr val="dk1"/>
                </a:solidFill>
              </a:rPr>
              <a:t>(z)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632" name="Google Shape;632;p20"/>
          <p:cNvSpPr txBox="1"/>
          <p:nvPr/>
        </p:nvSpPr>
        <p:spPr>
          <a:xfrm>
            <a:off x="8325875" y="863750"/>
            <a:ext cx="1839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 [x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… 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3" name="Google Shape;633;p20"/>
          <p:cNvSpPr txBox="1"/>
          <p:nvPr/>
        </p:nvSpPr>
        <p:spPr>
          <a:xfrm>
            <a:off x="8518725" y="1423275"/>
            <a:ext cx="1957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 [y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… 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b="1" baseline="30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4" name="Google Shape;634;p20"/>
          <p:cNvSpPr txBox="1"/>
          <p:nvPr/>
        </p:nvSpPr>
        <p:spPr>
          <a:xfrm>
            <a:off x="8427925" y="2603750"/>
            <a:ext cx="1308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= f(x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ω)</a:t>
            </a:r>
            <a:endParaRPr i="1"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5" name="Google Shape;635;p20"/>
          <p:cNvSpPr txBox="1"/>
          <p:nvPr/>
        </p:nvSpPr>
        <p:spPr>
          <a:xfrm>
            <a:off x="8529200" y="3221250"/>
            <a:ext cx="2687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(t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,y</a:t>
            </a:r>
            <a:r>
              <a:rPr b="1" baseline="-25000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b="1" lang="en-US" sz="1700">
                <a:solidFill>
                  <a:srgbClr val="333333"/>
                </a:solidFill>
                <a:highlight>
                  <a:schemeClr val="lt1"/>
                </a:highlight>
              </a:rPr>
              <a:t> - </a:t>
            </a:r>
            <a:r>
              <a:rPr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функция потерь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6" name="Google Shape;636;p20"/>
          <p:cNvSpPr txBox="1"/>
          <p:nvPr/>
        </p:nvSpPr>
        <p:spPr>
          <a:xfrm>
            <a:off x="9374375" y="1912725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333333"/>
              </a:buClr>
              <a:buSzPts val="1100"/>
              <a:buNone/>
            </a:pPr>
            <a:r>
              <a:t/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7" name="Google Shape;6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1400" y="5053425"/>
            <a:ext cx="5104914" cy="12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20"/>
          <p:cNvSpPr txBox="1"/>
          <p:nvPr/>
        </p:nvSpPr>
        <p:spPr>
          <a:xfrm>
            <a:off x="7048825" y="5286825"/>
            <a:ext cx="2687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O(N</a:t>
            </a:r>
            <a:r>
              <a:rPr baseline="30000" i="1" lang="en-US" sz="16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16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     O(K N)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21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1"/>
          <p:cNvSpPr txBox="1"/>
          <p:nvPr/>
        </p:nvSpPr>
        <p:spPr>
          <a:xfrm>
            <a:off x="548645" y="621800"/>
            <a:ext cx="4986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Сеть — это не один нейрон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1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1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8" name="Google Shape;648;p21"/>
          <p:cNvCxnSpPr>
            <a:stCxn id="649" idx="6"/>
            <a:endCxn id="650" idx="2"/>
          </p:cNvCxnSpPr>
          <p:nvPr/>
        </p:nvCxnSpPr>
        <p:spPr>
          <a:xfrm>
            <a:off x="2081176" y="2454224"/>
            <a:ext cx="2441100" cy="18606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21"/>
          <p:cNvCxnSpPr>
            <a:stCxn id="652" idx="6"/>
            <a:endCxn id="650" idx="2"/>
          </p:cNvCxnSpPr>
          <p:nvPr/>
        </p:nvCxnSpPr>
        <p:spPr>
          <a:xfrm>
            <a:off x="2208775" y="3936550"/>
            <a:ext cx="2313600" cy="378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21"/>
          <p:cNvCxnSpPr>
            <a:stCxn id="649" idx="6"/>
            <a:endCxn id="654" idx="2"/>
          </p:cNvCxnSpPr>
          <p:nvPr/>
        </p:nvCxnSpPr>
        <p:spPr>
          <a:xfrm flipH="1" rot="10800000">
            <a:off x="2081176" y="1805024"/>
            <a:ext cx="2441100" cy="6492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9" name="Google Shape;649;p21"/>
          <p:cNvSpPr/>
          <p:nvPr/>
        </p:nvSpPr>
        <p:spPr>
          <a:xfrm>
            <a:off x="1535476" y="2186774"/>
            <a:ext cx="5457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1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652" name="Google Shape;652;p21"/>
          <p:cNvSpPr/>
          <p:nvPr/>
        </p:nvSpPr>
        <p:spPr>
          <a:xfrm>
            <a:off x="1623775" y="3669100"/>
            <a:ext cx="5850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300">
                <a:solidFill>
                  <a:schemeClr val="dk1"/>
                </a:solidFill>
                <a:highlight>
                  <a:srgbClr val="F2F5FA"/>
                </a:highlight>
              </a:rPr>
              <a:t>2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654" name="Google Shape;654;p21"/>
          <p:cNvSpPr/>
          <p:nvPr/>
        </p:nvSpPr>
        <p:spPr>
          <a:xfrm>
            <a:off x="4522275" y="14232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650" name="Google Shape;650;p21"/>
          <p:cNvSpPr/>
          <p:nvPr/>
        </p:nvSpPr>
        <p:spPr>
          <a:xfrm>
            <a:off x="4522275" y="3932925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 </a:t>
            </a:r>
            <a:endParaRPr sz="2900"/>
          </a:p>
        </p:txBody>
      </p:sp>
      <p:cxnSp>
        <p:nvCxnSpPr>
          <p:cNvPr id="655" name="Google Shape;655;p21"/>
          <p:cNvCxnSpPr>
            <a:stCxn id="652" idx="6"/>
            <a:endCxn id="654" idx="2"/>
          </p:cNvCxnSpPr>
          <p:nvPr/>
        </p:nvCxnSpPr>
        <p:spPr>
          <a:xfrm flipH="1" rot="10800000">
            <a:off x="2208775" y="1805050"/>
            <a:ext cx="2313600" cy="2131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21"/>
          <p:cNvCxnSpPr>
            <a:stCxn id="654" idx="6"/>
            <a:endCxn id="657" idx="2"/>
          </p:cNvCxnSpPr>
          <p:nvPr/>
        </p:nvCxnSpPr>
        <p:spPr>
          <a:xfrm>
            <a:off x="5295975" y="1805013"/>
            <a:ext cx="1050000" cy="48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8" name="Google Shape;658;p21"/>
          <p:cNvCxnSpPr>
            <a:stCxn id="650" idx="6"/>
            <a:endCxn id="659" idx="2"/>
          </p:cNvCxnSpPr>
          <p:nvPr/>
        </p:nvCxnSpPr>
        <p:spPr>
          <a:xfrm flipH="1" rot="10800000">
            <a:off x="5295975" y="3667275"/>
            <a:ext cx="1050000" cy="647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0" name="Google Shape;660;p21"/>
          <p:cNvSpPr/>
          <p:nvPr/>
        </p:nvSpPr>
        <p:spPr>
          <a:xfrm>
            <a:off x="4522275" y="26379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</p:txBody>
      </p:sp>
      <p:cxnSp>
        <p:nvCxnSpPr>
          <p:cNvPr id="661" name="Google Shape;661;p21"/>
          <p:cNvCxnSpPr>
            <a:stCxn id="649" idx="6"/>
            <a:endCxn id="660" idx="2"/>
          </p:cNvCxnSpPr>
          <p:nvPr/>
        </p:nvCxnSpPr>
        <p:spPr>
          <a:xfrm>
            <a:off x="2081176" y="2454224"/>
            <a:ext cx="2441100" cy="565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2" name="Google Shape;662;p21"/>
          <p:cNvSpPr txBox="1"/>
          <p:nvPr/>
        </p:nvSpPr>
        <p:spPr>
          <a:xfrm>
            <a:off x="7666350" y="19266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663" name="Google Shape;663;p21"/>
          <p:cNvCxnSpPr>
            <a:stCxn id="652" idx="6"/>
            <a:endCxn id="660" idx="2"/>
          </p:cNvCxnSpPr>
          <p:nvPr/>
        </p:nvCxnSpPr>
        <p:spPr>
          <a:xfrm flipH="1" rot="10800000">
            <a:off x="2208775" y="3019750"/>
            <a:ext cx="2313600" cy="916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7" name="Google Shape;657;p21"/>
          <p:cNvSpPr/>
          <p:nvPr/>
        </p:nvSpPr>
        <p:spPr>
          <a:xfrm>
            <a:off x="6345925" y="1906388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659" name="Google Shape;659;p21"/>
          <p:cNvSpPr/>
          <p:nvPr/>
        </p:nvSpPr>
        <p:spPr>
          <a:xfrm>
            <a:off x="6345925" y="328551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cxnSp>
        <p:nvCxnSpPr>
          <p:cNvPr id="664" name="Google Shape;664;p21"/>
          <p:cNvCxnSpPr>
            <a:stCxn id="654" idx="6"/>
            <a:endCxn id="659" idx="2"/>
          </p:cNvCxnSpPr>
          <p:nvPr/>
        </p:nvCxnSpPr>
        <p:spPr>
          <a:xfrm>
            <a:off x="5295975" y="1805013"/>
            <a:ext cx="1050000" cy="1862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5" name="Google Shape;665;p21"/>
          <p:cNvCxnSpPr>
            <a:stCxn id="660" idx="6"/>
            <a:endCxn id="657" idx="2"/>
          </p:cNvCxnSpPr>
          <p:nvPr/>
        </p:nvCxnSpPr>
        <p:spPr>
          <a:xfrm flipH="1" rot="10800000">
            <a:off x="5295975" y="2288013"/>
            <a:ext cx="1050000" cy="731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6" name="Google Shape;666;p21"/>
          <p:cNvCxnSpPr>
            <a:endCxn id="659" idx="2"/>
          </p:cNvCxnSpPr>
          <p:nvPr/>
        </p:nvCxnSpPr>
        <p:spPr>
          <a:xfrm>
            <a:off x="5295925" y="3053763"/>
            <a:ext cx="1050000" cy="613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7" name="Google Shape;667;p21"/>
          <p:cNvCxnSpPr>
            <a:stCxn id="657" idx="6"/>
          </p:cNvCxnSpPr>
          <p:nvPr/>
        </p:nvCxnSpPr>
        <p:spPr>
          <a:xfrm>
            <a:off x="7119625" y="2288138"/>
            <a:ext cx="1102200" cy="7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668" name="Google Shape;668;p21"/>
          <p:cNvCxnSpPr>
            <a:stCxn id="650" idx="6"/>
            <a:endCxn id="657" idx="2"/>
          </p:cNvCxnSpPr>
          <p:nvPr/>
        </p:nvCxnSpPr>
        <p:spPr>
          <a:xfrm flipH="1" rot="10800000">
            <a:off x="5295975" y="2288175"/>
            <a:ext cx="1050000" cy="2026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9" name="Google Shape;669;p21"/>
          <p:cNvSpPr txBox="1"/>
          <p:nvPr/>
        </p:nvSpPr>
        <p:spPr>
          <a:xfrm>
            <a:off x="8162725" y="951225"/>
            <a:ext cx="3858300" cy="3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00F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Вход:</a:t>
            </a:r>
            <a:r>
              <a:rPr lang="en-US" sz="135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обучающая выборка X</a:t>
            </a:r>
            <a:r>
              <a:rPr baseline="30000" lang="en-US" sz="135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135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; шаг обучения η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0000FF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Выход</a:t>
            </a:r>
            <a:r>
              <a:rPr lang="en-US" sz="135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 вектров весовых коэффициентов </a:t>
            </a:r>
            <a:r>
              <a:rPr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endParaRPr i="1" sz="1700">
              <a:solidFill>
                <a:srgbClr val="333333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130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инициализировать веса </a:t>
            </a:r>
            <a:r>
              <a:rPr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 </a:t>
            </a:r>
            <a:r>
              <a:rPr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 по ним вычислить </a:t>
            </a:r>
            <a:r>
              <a:rPr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Q()</a:t>
            </a:r>
            <a:endParaRPr i="1">
              <a:solidFill>
                <a:srgbClr val="333333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rgbClr val="0000F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Повторять:</a:t>
            </a:r>
            <a:endParaRPr>
              <a:solidFill>
                <a:srgbClr val="0000FF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AutoNum type="alphaLcPeriod"/>
            </a:pPr>
            <a:r>
              <a:rPr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выбрать случайный образ </a:t>
            </a:r>
            <a:r>
              <a:rPr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-25000"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из обучающей выборки </a:t>
            </a:r>
            <a:r>
              <a:rPr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aseline="30000"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i="1">
              <a:solidFill>
                <a:srgbClr val="333333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AutoNum type="alphaLcPeriod"/>
            </a:pPr>
            <a:r>
              <a:rPr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вычислить значение функции потерь </a:t>
            </a:r>
            <a:r>
              <a:rPr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baseline="-25000"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= L(xi)</a:t>
            </a:r>
            <a:endParaRPr i="1">
              <a:solidFill>
                <a:srgbClr val="333333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1" marL="9144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AutoNum type="alphaLcPeriod"/>
            </a:pPr>
            <a:r>
              <a:rPr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корректировка весов: </a:t>
            </a:r>
            <a:r>
              <a:rPr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ω=ω-</a:t>
            </a:r>
            <a:r>
              <a:rPr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η∇L</a:t>
            </a:r>
            <a:r>
              <a:rPr baseline="-25000"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(ω)</a:t>
            </a:r>
            <a:endParaRPr i="1">
              <a:solidFill>
                <a:srgbClr val="333333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Times New Roman"/>
              <a:buAutoNum type="arabicPeriod"/>
            </a:pPr>
            <a:r>
              <a:rPr lang="en-US">
                <a:solidFill>
                  <a:srgbClr val="0000FF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пока</a:t>
            </a:r>
            <a:r>
              <a:rPr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значение </a:t>
            </a:r>
            <a:r>
              <a:rPr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и/или веса </a:t>
            </a:r>
            <a:r>
              <a:rPr i="1"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lang="en-US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не стабилизируются</a:t>
            </a:r>
            <a:endParaRPr>
              <a:solidFill>
                <a:srgbClr val="333333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0" name="Google Shape;670;p21"/>
          <p:cNvSpPr txBox="1"/>
          <p:nvPr/>
        </p:nvSpPr>
        <p:spPr>
          <a:xfrm>
            <a:off x="3386100" y="1612575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671" name="Google Shape;671;p21"/>
          <p:cNvSpPr txBox="1"/>
          <p:nvPr/>
        </p:nvSpPr>
        <p:spPr>
          <a:xfrm>
            <a:off x="3355875" y="2104975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672" name="Google Shape;672;p21"/>
          <p:cNvSpPr txBox="1"/>
          <p:nvPr/>
        </p:nvSpPr>
        <p:spPr>
          <a:xfrm>
            <a:off x="3777075" y="2562363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673" name="Google Shape;673;p21"/>
          <p:cNvSpPr txBox="1"/>
          <p:nvPr/>
        </p:nvSpPr>
        <p:spPr>
          <a:xfrm>
            <a:off x="3386100" y="2951750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674" name="Google Shape;674;p21"/>
          <p:cNvSpPr txBox="1"/>
          <p:nvPr/>
        </p:nvSpPr>
        <p:spPr>
          <a:xfrm>
            <a:off x="4021275" y="3585225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675" name="Google Shape;675;p21"/>
          <p:cNvSpPr txBox="1"/>
          <p:nvPr/>
        </p:nvSpPr>
        <p:spPr>
          <a:xfrm>
            <a:off x="3596275" y="4290925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676" name="Google Shape;676;p21"/>
          <p:cNvSpPr txBox="1"/>
          <p:nvPr/>
        </p:nvSpPr>
        <p:spPr>
          <a:xfrm>
            <a:off x="5680525" y="1663588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677" name="Google Shape;677;p21"/>
          <p:cNvSpPr txBox="1"/>
          <p:nvPr/>
        </p:nvSpPr>
        <p:spPr>
          <a:xfrm>
            <a:off x="5598675" y="2104975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678" name="Google Shape;678;p21"/>
          <p:cNvSpPr txBox="1"/>
          <p:nvPr/>
        </p:nvSpPr>
        <p:spPr>
          <a:xfrm>
            <a:off x="6086375" y="2665438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679" name="Google Shape;679;p21"/>
          <p:cNvSpPr txBox="1"/>
          <p:nvPr/>
        </p:nvSpPr>
        <p:spPr>
          <a:xfrm>
            <a:off x="5834775" y="3936550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680" name="Google Shape;680;p21"/>
          <p:cNvSpPr txBox="1"/>
          <p:nvPr/>
        </p:nvSpPr>
        <p:spPr>
          <a:xfrm>
            <a:off x="5680525" y="3427775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681" name="Google Shape;681;p21"/>
          <p:cNvSpPr txBox="1"/>
          <p:nvPr/>
        </p:nvSpPr>
        <p:spPr>
          <a:xfrm>
            <a:off x="6086400" y="3053800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cxnSp>
        <p:nvCxnSpPr>
          <p:cNvPr id="682" name="Google Shape;682;p21"/>
          <p:cNvCxnSpPr>
            <a:stCxn id="659" idx="6"/>
          </p:cNvCxnSpPr>
          <p:nvPr/>
        </p:nvCxnSpPr>
        <p:spPr>
          <a:xfrm>
            <a:off x="7119625" y="3667263"/>
            <a:ext cx="1043100" cy="216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683" name="Google Shape;683;p21"/>
          <p:cNvSpPr txBox="1"/>
          <p:nvPr/>
        </p:nvSpPr>
        <p:spPr>
          <a:xfrm>
            <a:off x="7821900" y="4623650"/>
            <a:ext cx="475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Q(X</a:t>
            </a:r>
            <a:r>
              <a:rPr baseline="30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= 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1/l ∑L</a:t>
            </a:r>
            <a:r>
              <a:rPr baseline="-25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(x</a:t>
            </a:r>
            <a:r>
              <a:rPr baseline="-25000"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1700">
                <a:solidFill>
                  <a:srgbClr val="333333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ω</a:t>
            </a:r>
            <a:r>
              <a:rPr i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) → </a:t>
            </a:r>
            <a:r>
              <a:rPr b="1" lang="en-US" sz="1800">
                <a:solidFill>
                  <a:srgbClr val="333333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min</a:t>
            </a:r>
            <a:endParaRPr b="1" sz="1200"/>
          </a:p>
        </p:txBody>
      </p:sp>
      <p:sp>
        <p:nvSpPr>
          <p:cNvPr id="684" name="Google Shape;684;p21"/>
          <p:cNvSpPr txBox="1"/>
          <p:nvPr/>
        </p:nvSpPr>
        <p:spPr>
          <a:xfrm>
            <a:off x="7666350" y="3275150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2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ПОСТАНОВКА ЗАДАЧИ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2"/>
          <p:cNvSpPr txBox="1"/>
          <p:nvPr/>
        </p:nvSpPr>
        <p:spPr>
          <a:xfrm>
            <a:off x="548645" y="621800"/>
            <a:ext cx="49863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Обратное распространение</a:t>
            </a:r>
            <a:endParaRPr b="1" sz="3000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92" name="Google Shape;692;p22"/>
          <p:cNvSpPr txBox="1"/>
          <p:nvPr/>
        </p:nvSpPr>
        <p:spPr>
          <a:xfrm>
            <a:off x="11002975" y="6382512"/>
            <a:ext cx="822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4/25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2"/>
          <p:cNvSpPr txBox="1"/>
          <p:nvPr/>
        </p:nvSpPr>
        <p:spPr>
          <a:xfrm>
            <a:off x="548640" y="6382512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592B0"/>
                </a:solidFill>
                <a:latin typeface="Calibri"/>
                <a:ea typeface="Calibri"/>
                <a:cs typeface="Calibri"/>
                <a:sym typeface="Calibri"/>
              </a:rPr>
              <a:t>Тема 2 · Backprop и PyTorch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4" name="Google Shape;694;p22"/>
          <p:cNvCxnSpPr>
            <a:stCxn id="695" idx="6"/>
            <a:endCxn id="696" idx="2"/>
          </p:cNvCxnSpPr>
          <p:nvPr/>
        </p:nvCxnSpPr>
        <p:spPr>
          <a:xfrm>
            <a:off x="2081176" y="2454224"/>
            <a:ext cx="2441100" cy="18606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7" name="Google Shape;697;p22"/>
          <p:cNvCxnSpPr>
            <a:stCxn id="698" idx="6"/>
            <a:endCxn id="696" idx="2"/>
          </p:cNvCxnSpPr>
          <p:nvPr/>
        </p:nvCxnSpPr>
        <p:spPr>
          <a:xfrm>
            <a:off x="2208775" y="3936550"/>
            <a:ext cx="2313600" cy="378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22"/>
          <p:cNvCxnSpPr>
            <a:stCxn id="695" idx="6"/>
            <a:endCxn id="700" idx="2"/>
          </p:cNvCxnSpPr>
          <p:nvPr/>
        </p:nvCxnSpPr>
        <p:spPr>
          <a:xfrm flipH="1" rot="10800000">
            <a:off x="2081176" y="1805024"/>
            <a:ext cx="2441100" cy="6492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5" name="Google Shape;695;p22"/>
          <p:cNvSpPr/>
          <p:nvPr/>
        </p:nvSpPr>
        <p:spPr>
          <a:xfrm>
            <a:off x="1535476" y="2186774"/>
            <a:ext cx="5457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1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698" name="Google Shape;698;p22"/>
          <p:cNvSpPr/>
          <p:nvPr/>
        </p:nvSpPr>
        <p:spPr>
          <a:xfrm>
            <a:off x="1623775" y="3669100"/>
            <a:ext cx="5850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300">
                <a:solidFill>
                  <a:schemeClr val="dk1"/>
                </a:solidFill>
                <a:highlight>
                  <a:srgbClr val="F2F5FA"/>
                </a:highlight>
              </a:rPr>
              <a:t>j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00" name="Google Shape;700;p22"/>
          <p:cNvSpPr/>
          <p:nvPr/>
        </p:nvSpPr>
        <p:spPr>
          <a:xfrm>
            <a:off x="4522275" y="14232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696" name="Google Shape;696;p22"/>
          <p:cNvSpPr/>
          <p:nvPr/>
        </p:nvSpPr>
        <p:spPr>
          <a:xfrm>
            <a:off x="4522275" y="3932925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 </a:t>
            </a:r>
            <a:endParaRPr sz="2900"/>
          </a:p>
        </p:txBody>
      </p:sp>
      <p:cxnSp>
        <p:nvCxnSpPr>
          <p:cNvPr id="701" name="Google Shape;701;p22"/>
          <p:cNvCxnSpPr>
            <a:stCxn id="698" idx="6"/>
            <a:endCxn id="700" idx="2"/>
          </p:cNvCxnSpPr>
          <p:nvPr/>
        </p:nvCxnSpPr>
        <p:spPr>
          <a:xfrm flipH="1" rot="10800000">
            <a:off x="2208775" y="1805050"/>
            <a:ext cx="2313600" cy="2131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2" name="Google Shape;702;p22"/>
          <p:cNvCxnSpPr>
            <a:stCxn id="700" idx="6"/>
            <a:endCxn id="703" idx="2"/>
          </p:cNvCxnSpPr>
          <p:nvPr/>
        </p:nvCxnSpPr>
        <p:spPr>
          <a:xfrm>
            <a:off x="5295975" y="1805013"/>
            <a:ext cx="1050000" cy="48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4" name="Google Shape;704;p22"/>
          <p:cNvCxnSpPr>
            <a:stCxn id="696" idx="6"/>
            <a:endCxn id="705" idx="2"/>
          </p:cNvCxnSpPr>
          <p:nvPr/>
        </p:nvCxnSpPr>
        <p:spPr>
          <a:xfrm flipH="1" rot="10800000">
            <a:off x="5295975" y="3667275"/>
            <a:ext cx="1050000" cy="647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6" name="Google Shape;706;p22"/>
          <p:cNvSpPr/>
          <p:nvPr/>
        </p:nvSpPr>
        <p:spPr>
          <a:xfrm>
            <a:off x="4522275" y="263796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</p:txBody>
      </p:sp>
      <p:cxnSp>
        <p:nvCxnSpPr>
          <p:cNvPr id="707" name="Google Shape;707;p22"/>
          <p:cNvCxnSpPr>
            <a:stCxn id="695" idx="6"/>
            <a:endCxn id="706" idx="2"/>
          </p:cNvCxnSpPr>
          <p:nvPr/>
        </p:nvCxnSpPr>
        <p:spPr>
          <a:xfrm>
            <a:off x="2081176" y="2454224"/>
            <a:ext cx="2441100" cy="565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8" name="Google Shape;708;p22"/>
          <p:cNvSpPr txBox="1"/>
          <p:nvPr/>
        </p:nvSpPr>
        <p:spPr>
          <a:xfrm>
            <a:off x="7391625" y="1978138"/>
            <a:ext cx="38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cxnSp>
        <p:nvCxnSpPr>
          <p:cNvPr id="709" name="Google Shape;709;p22"/>
          <p:cNvCxnSpPr>
            <a:stCxn id="698" idx="6"/>
            <a:endCxn id="706" idx="2"/>
          </p:cNvCxnSpPr>
          <p:nvPr/>
        </p:nvCxnSpPr>
        <p:spPr>
          <a:xfrm flipH="1" rot="10800000">
            <a:off x="2208775" y="3019750"/>
            <a:ext cx="2313600" cy="916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3" name="Google Shape;703;p22"/>
          <p:cNvSpPr/>
          <p:nvPr/>
        </p:nvSpPr>
        <p:spPr>
          <a:xfrm>
            <a:off x="6345925" y="1906388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705" name="Google Shape;705;p22"/>
          <p:cNvSpPr/>
          <p:nvPr/>
        </p:nvSpPr>
        <p:spPr>
          <a:xfrm>
            <a:off x="6345925" y="3285513"/>
            <a:ext cx="773700" cy="763500"/>
          </a:xfrm>
          <a:prstGeom prst="ellipse">
            <a:avLst/>
          </a:prstGeom>
          <a:solidFill>
            <a:srgbClr val="F2A93B"/>
          </a:solidFill>
          <a:ln cap="flat" cmpd="sng" w="22225">
            <a:solidFill>
              <a:srgbClr val="C77E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cxnSp>
        <p:nvCxnSpPr>
          <p:cNvPr id="710" name="Google Shape;710;p22"/>
          <p:cNvCxnSpPr>
            <a:stCxn id="700" idx="6"/>
            <a:endCxn id="705" idx="2"/>
          </p:cNvCxnSpPr>
          <p:nvPr/>
        </p:nvCxnSpPr>
        <p:spPr>
          <a:xfrm>
            <a:off x="5295975" y="1805013"/>
            <a:ext cx="1050000" cy="18624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22"/>
          <p:cNvCxnSpPr>
            <a:stCxn id="706" idx="6"/>
            <a:endCxn id="703" idx="2"/>
          </p:cNvCxnSpPr>
          <p:nvPr/>
        </p:nvCxnSpPr>
        <p:spPr>
          <a:xfrm flipH="1" rot="10800000">
            <a:off x="5295975" y="2288013"/>
            <a:ext cx="1050000" cy="7317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2" name="Google Shape;712;p22"/>
          <p:cNvCxnSpPr>
            <a:endCxn id="705" idx="2"/>
          </p:cNvCxnSpPr>
          <p:nvPr/>
        </p:nvCxnSpPr>
        <p:spPr>
          <a:xfrm>
            <a:off x="5295925" y="3053763"/>
            <a:ext cx="1050000" cy="613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3" name="Google Shape;713;p22"/>
          <p:cNvCxnSpPr/>
          <p:nvPr/>
        </p:nvCxnSpPr>
        <p:spPr>
          <a:xfrm>
            <a:off x="6677025" y="2293513"/>
            <a:ext cx="1102200" cy="78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14" name="Google Shape;714;p22"/>
          <p:cNvCxnSpPr>
            <a:stCxn id="696" idx="6"/>
            <a:endCxn id="703" idx="2"/>
          </p:cNvCxnSpPr>
          <p:nvPr/>
        </p:nvCxnSpPr>
        <p:spPr>
          <a:xfrm flipH="1" rot="10800000">
            <a:off x="5295975" y="2288175"/>
            <a:ext cx="1050000" cy="2026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5" name="Google Shape;715;p22"/>
          <p:cNvSpPr txBox="1"/>
          <p:nvPr/>
        </p:nvSpPr>
        <p:spPr>
          <a:xfrm>
            <a:off x="3386100" y="1612575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716" name="Google Shape;716;p22"/>
          <p:cNvSpPr txBox="1"/>
          <p:nvPr/>
        </p:nvSpPr>
        <p:spPr>
          <a:xfrm>
            <a:off x="3355875" y="2104975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j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717" name="Google Shape;717;p22"/>
          <p:cNvSpPr txBox="1"/>
          <p:nvPr/>
        </p:nvSpPr>
        <p:spPr>
          <a:xfrm>
            <a:off x="3777075" y="2562363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1h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718" name="Google Shape;718;p22"/>
          <p:cNvSpPr txBox="1"/>
          <p:nvPr/>
        </p:nvSpPr>
        <p:spPr>
          <a:xfrm>
            <a:off x="3386100" y="2951750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jh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719" name="Google Shape;719;p22"/>
          <p:cNvSpPr txBox="1"/>
          <p:nvPr/>
        </p:nvSpPr>
        <p:spPr>
          <a:xfrm>
            <a:off x="4021275" y="3585225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1H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720" name="Google Shape;720;p22"/>
          <p:cNvSpPr txBox="1"/>
          <p:nvPr/>
        </p:nvSpPr>
        <p:spPr>
          <a:xfrm>
            <a:off x="3596275" y="4290925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jH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721" name="Google Shape;721;p22"/>
          <p:cNvSpPr txBox="1"/>
          <p:nvPr/>
        </p:nvSpPr>
        <p:spPr>
          <a:xfrm>
            <a:off x="5680525" y="1663588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722" name="Google Shape;722;p22"/>
          <p:cNvSpPr txBox="1"/>
          <p:nvPr/>
        </p:nvSpPr>
        <p:spPr>
          <a:xfrm>
            <a:off x="5101450" y="2150788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1m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723" name="Google Shape;723;p22"/>
          <p:cNvSpPr txBox="1"/>
          <p:nvPr/>
        </p:nvSpPr>
        <p:spPr>
          <a:xfrm>
            <a:off x="6086375" y="2665438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H1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724" name="Google Shape;724;p22"/>
          <p:cNvSpPr txBox="1"/>
          <p:nvPr/>
        </p:nvSpPr>
        <p:spPr>
          <a:xfrm>
            <a:off x="5834775" y="3936550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Hm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725" name="Google Shape;725;p22"/>
          <p:cNvSpPr txBox="1"/>
          <p:nvPr/>
        </p:nvSpPr>
        <p:spPr>
          <a:xfrm>
            <a:off x="5680525" y="3427775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hm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sp>
        <p:nvSpPr>
          <p:cNvPr id="726" name="Google Shape;726;p22"/>
          <p:cNvSpPr txBox="1"/>
          <p:nvPr/>
        </p:nvSpPr>
        <p:spPr>
          <a:xfrm>
            <a:off x="6086400" y="3053800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 ω</a:t>
            </a:r>
            <a:r>
              <a:rPr b="1" baseline="30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2</a:t>
            </a:r>
            <a:r>
              <a:rPr b="1" baseline="-25000" lang="en-US" sz="1300">
                <a:solidFill>
                  <a:srgbClr val="333333"/>
                </a:solidFill>
                <a:highlight>
                  <a:srgbClr val="FFFFFF"/>
                </a:highlight>
              </a:rPr>
              <a:t>1m</a:t>
            </a:r>
            <a:r>
              <a:rPr b="1" lang="en-US" sz="1200">
                <a:solidFill>
                  <a:schemeClr val="dk1"/>
                </a:solidFill>
              </a:rPr>
              <a:t> </a:t>
            </a:r>
            <a:endParaRPr b="1" sz="1500"/>
          </a:p>
        </p:txBody>
      </p:sp>
      <p:cxnSp>
        <p:nvCxnSpPr>
          <p:cNvPr id="727" name="Google Shape;727;p22"/>
          <p:cNvCxnSpPr/>
          <p:nvPr/>
        </p:nvCxnSpPr>
        <p:spPr>
          <a:xfrm>
            <a:off x="6805650" y="3667288"/>
            <a:ext cx="1043100" cy="216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28" name="Google Shape;728;p22"/>
          <p:cNvSpPr txBox="1"/>
          <p:nvPr/>
        </p:nvSpPr>
        <p:spPr>
          <a:xfrm>
            <a:off x="7391625" y="3293500"/>
            <a:ext cx="38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3333"/>
                </a:solidFill>
                <a:highlight>
                  <a:srgbClr val="FFFFFF"/>
                </a:highlight>
              </a:rPr>
              <a:t> </a:t>
            </a: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y</a:t>
            </a:r>
            <a:r>
              <a:rPr b="1" baseline="-25000" lang="en-US" sz="1200">
                <a:solidFill>
                  <a:srgbClr val="333333"/>
                </a:solidFill>
                <a:highlight>
                  <a:srgbClr val="FFFFFF"/>
                </a:highlight>
              </a:rPr>
              <a:t>m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729" name="Google Shape;729;p22"/>
          <p:cNvSpPr txBox="1"/>
          <p:nvPr/>
        </p:nvSpPr>
        <p:spPr>
          <a:xfrm>
            <a:off x="1623775" y="3136650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…</a:t>
            </a:r>
            <a:endParaRPr b="1" sz="1500"/>
          </a:p>
        </p:txBody>
      </p:sp>
      <p:sp>
        <p:nvSpPr>
          <p:cNvPr id="730" name="Google Shape;730;p22"/>
          <p:cNvSpPr txBox="1"/>
          <p:nvPr/>
        </p:nvSpPr>
        <p:spPr>
          <a:xfrm>
            <a:off x="4727825" y="2219925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…</a:t>
            </a:r>
            <a:endParaRPr b="1" sz="1500"/>
          </a:p>
        </p:txBody>
      </p:sp>
      <p:sp>
        <p:nvSpPr>
          <p:cNvPr id="731" name="Google Shape;731;p22"/>
          <p:cNvSpPr txBox="1"/>
          <p:nvPr/>
        </p:nvSpPr>
        <p:spPr>
          <a:xfrm>
            <a:off x="4727825" y="3474750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…</a:t>
            </a:r>
            <a:endParaRPr b="1" sz="1500"/>
          </a:p>
        </p:txBody>
      </p:sp>
      <p:sp>
        <p:nvSpPr>
          <p:cNvPr id="732" name="Google Shape;732;p22"/>
          <p:cNvSpPr txBox="1"/>
          <p:nvPr/>
        </p:nvSpPr>
        <p:spPr>
          <a:xfrm>
            <a:off x="6500175" y="2785263"/>
            <a:ext cx="665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33"/>
                </a:solidFill>
                <a:highlight>
                  <a:srgbClr val="FFFFFF"/>
                </a:highlight>
              </a:rPr>
              <a:t>…</a:t>
            </a:r>
            <a:endParaRPr b="1" sz="1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3"/>
          <p:cNvSpPr txBox="1"/>
          <p:nvPr/>
        </p:nvSpPr>
        <p:spPr>
          <a:xfrm>
            <a:off x="548640" y="292608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A93B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2A93B"/>
                </a:solidFill>
                <a:latin typeface="Calibri"/>
                <a:ea typeface="Calibri"/>
                <a:cs typeface="Calibri"/>
                <a:sym typeface="Calibri"/>
              </a:rPr>
              <a:t>Функции потерь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3"/>
          <p:cNvSpPr/>
          <p:nvPr/>
        </p:nvSpPr>
        <p:spPr>
          <a:xfrm>
            <a:off x="1535376" y="1896249"/>
            <a:ext cx="5457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x</a:t>
            </a:r>
            <a:r>
              <a:rPr b="1" baseline="-25000" lang="en-US" sz="1600">
                <a:solidFill>
                  <a:schemeClr val="dk1"/>
                </a:solidFill>
                <a:highlight>
                  <a:srgbClr val="F2F5FA"/>
                </a:highlight>
              </a:rPr>
              <a:t>1</a:t>
            </a:r>
            <a:r>
              <a:rPr lang="en-US" sz="1600">
                <a:solidFill>
                  <a:schemeClr val="dk1"/>
                </a:solidFill>
              </a:rPr>
              <a:t> </a:t>
            </a:r>
            <a:endParaRPr sz="1600"/>
          </a:p>
        </p:txBody>
      </p:sp>
      <p:sp>
        <p:nvSpPr>
          <p:cNvPr id="740" name="Google Shape;740;p23"/>
          <p:cNvSpPr/>
          <p:nvPr/>
        </p:nvSpPr>
        <p:spPr>
          <a:xfrm>
            <a:off x="1623775" y="3669100"/>
            <a:ext cx="585000" cy="534900"/>
          </a:xfrm>
          <a:prstGeom prst="ellipse">
            <a:avLst/>
          </a:prstGeom>
          <a:solidFill>
            <a:srgbClr val="EEF3FD"/>
          </a:solidFill>
          <a:ln cap="flat" cmpd="sng" w="222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x</a:t>
            </a:r>
            <a:r>
              <a:rPr b="1" baseline="-25000" lang="en-US" sz="1300">
                <a:solidFill>
                  <a:schemeClr val="dk1"/>
                </a:solidFill>
                <a:highlight>
                  <a:srgbClr val="F2F5FA"/>
                </a:highlight>
              </a:rPr>
              <a:t>2</a:t>
            </a:r>
            <a:r>
              <a:rPr b="1" lang="en-US" sz="1600">
                <a:solidFill>
                  <a:schemeClr val="dk1"/>
                </a:solidFill>
              </a:rPr>
              <a:t> 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41" name="Google Shape;741;p23"/>
          <p:cNvSpPr/>
          <p:nvPr/>
        </p:nvSpPr>
        <p:spPr>
          <a:xfrm>
            <a:off x="3747875" y="1785625"/>
            <a:ext cx="2276100" cy="873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= (x + y)</a:t>
            </a:r>
            <a:endParaRPr/>
          </a:p>
        </p:txBody>
      </p:sp>
      <p:sp>
        <p:nvSpPr>
          <p:cNvPr id="742" name="Google Shape;742;p23"/>
          <p:cNvSpPr/>
          <p:nvPr/>
        </p:nvSpPr>
        <p:spPr>
          <a:xfrm>
            <a:off x="3684450" y="3499900"/>
            <a:ext cx="2276100" cy="873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 = 2xy</a:t>
            </a:r>
            <a:endParaRPr/>
          </a:p>
        </p:txBody>
      </p:sp>
      <p:sp>
        <p:nvSpPr>
          <p:cNvPr id="743" name="Google Shape;743;p23"/>
          <p:cNvSpPr/>
          <p:nvPr/>
        </p:nvSpPr>
        <p:spPr>
          <a:xfrm>
            <a:off x="6936650" y="1785625"/>
            <a:ext cx="862800" cy="873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</a:t>
            </a:r>
            <a:r>
              <a:rPr baseline="30000" lang="en-US"/>
              <a:t>2</a:t>
            </a:r>
            <a:endParaRPr baseline="30000"/>
          </a:p>
        </p:txBody>
      </p:sp>
      <p:sp>
        <p:nvSpPr>
          <p:cNvPr id="744" name="Google Shape;744;p23"/>
          <p:cNvSpPr/>
          <p:nvPr/>
        </p:nvSpPr>
        <p:spPr>
          <a:xfrm>
            <a:off x="8712125" y="2642800"/>
            <a:ext cx="862800" cy="873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+</a:t>
            </a:r>
            <a:endParaRPr/>
          </a:p>
        </p:txBody>
      </p:sp>
      <p:cxnSp>
        <p:nvCxnSpPr>
          <p:cNvPr id="745" name="Google Shape;745;p23"/>
          <p:cNvCxnSpPr>
            <a:stCxn id="739" idx="6"/>
            <a:endCxn id="741" idx="2"/>
          </p:cNvCxnSpPr>
          <p:nvPr/>
        </p:nvCxnSpPr>
        <p:spPr>
          <a:xfrm>
            <a:off x="2081076" y="2163699"/>
            <a:ext cx="1666800" cy="585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6" name="Google Shape;746;p23"/>
          <p:cNvCxnSpPr>
            <a:stCxn id="740" idx="6"/>
            <a:endCxn id="742" idx="2"/>
          </p:cNvCxnSpPr>
          <p:nvPr/>
        </p:nvCxnSpPr>
        <p:spPr>
          <a:xfrm>
            <a:off x="2208775" y="3936550"/>
            <a:ext cx="14757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p23"/>
          <p:cNvCxnSpPr>
            <a:stCxn id="740" idx="6"/>
            <a:endCxn id="741" idx="2"/>
          </p:cNvCxnSpPr>
          <p:nvPr/>
        </p:nvCxnSpPr>
        <p:spPr>
          <a:xfrm flipH="1" rot="10800000">
            <a:off x="2208775" y="2222350"/>
            <a:ext cx="1539000" cy="17142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p23"/>
          <p:cNvCxnSpPr>
            <a:stCxn id="739" idx="6"/>
            <a:endCxn id="742" idx="2"/>
          </p:cNvCxnSpPr>
          <p:nvPr/>
        </p:nvCxnSpPr>
        <p:spPr>
          <a:xfrm>
            <a:off x="2081076" y="2163699"/>
            <a:ext cx="1603500" cy="1773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p23"/>
          <p:cNvCxnSpPr>
            <a:stCxn id="741" idx="6"/>
            <a:endCxn id="743" idx="2"/>
          </p:cNvCxnSpPr>
          <p:nvPr/>
        </p:nvCxnSpPr>
        <p:spPr>
          <a:xfrm>
            <a:off x="6023975" y="2222275"/>
            <a:ext cx="912600" cy="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p23"/>
          <p:cNvCxnSpPr>
            <a:stCxn id="742" idx="6"/>
            <a:endCxn id="744" idx="2"/>
          </p:cNvCxnSpPr>
          <p:nvPr/>
        </p:nvCxnSpPr>
        <p:spPr>
          <a:xfrm flipH="1" rot="10800000">
            <a:off x="5960550" y="3079450"/>
            <a:ext cx="2751600" cy="857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23"/>
          <p:cNvCxnSpPr>
            <a:stCxn id="743" idx="6"/>
            <a:endCxn id="744" idx="2"/>
          </p:cNvCxnSpPr>
          <p:nvPr/>
        </p:nvCxnSpPr>
        <p:spPr>
          <a:xfrm>
            <a:off x="7799450" y="2222275"/>
            <a:ext cx="912600" cy="8571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p23"/>
          <p:cNvCxnSpPr>
            <a:stCxn id="744" idx="6"/>
          </p:cNvCxnSpPr>
          <p:nvPr/>
        </p:nvCxnSpPr>
        <p:spPr>
          <a:xfrm>
            <a:off x="9574925" y="3079450"/>
            <a:ext cx="981900" cy="21000"/>
          </a:xfrm>
          <a:prstGeom prst="straightConnector1">
            <a:avLst/>
          </a:prstGeom>
          <a:noFill/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753" name="Google Shape;753;p23"/>
          <p:cNvSpPr txBox="1"/>
          <p:nvPr/>
        </p:nvSpPr>
        <p:spPr>
          <a:xfrm>
            <a:off x="9781725" y="2642800"/>
            <a:ext cx="86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f(x, y)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4" name="Google Shape;754;p23"/>
          <p:cNvSpPr txBox="1"/>
          <p:nvPr/>
        </p:nvSpPr>
        <p:spPr>
          <a:xfrm>
            <a:off x="1623775" y="989600"/>
            <a:ext cx="3001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f(x, y) = (x + y)</a:t>
            </a:r>
            <a:r>
              <a:rPr baseline="30000"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 + 2xy</a:t>
            </a:r>
            <a:endParaRPr i="1"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